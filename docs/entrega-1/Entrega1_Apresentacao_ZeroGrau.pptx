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[Christian]
Boa noite. Somos Vitor Custodio, João Vitor, Caio, Vitor e Christian, e vamos apresentar o Plano de Trabalho do nosso trabalho final: o Zero Grau, um sistema web de pedidos para uma distribuidora de bebidas de Fortaleza, que vende tanto para quem consome quanto para quem revende.
Seguimos a ordem do enunciado da Etapa 1: primeiro o planejamento do projeto (escopo, casos de uso, requisitos, telas, banco de dados e cronograma) e depois a divisão da equipe, as funcionalidades básicas e a arquitetura adotada.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[Christian]
A apresentação segue a ordem do enunciado da Etapa 1. Na primeira parte, o planejamento do projeto: escopo, com funcionalidade principal, público-alvo e tecnologias; casos de uso com os principais fluxos; requisitos funcionais e não funcionais; o protótipo das telas; o diagrama ER do banco; e o cronograma. Na segunda, o que o enunciado pede para a apresentação: a divisão da equipe, as funcionalidades básicas do desenvolvimento inicial e a arquitetura adotada.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[Christian]
O enunciado pede um sistema que resolva um problema real. O nosso é o da Zero Grau, uma distribuidora de bebidas de Fortaleza que vende para dois públicos com necessidades opostas: o consumidor, que quer uma unidade gelada entregue rápido, e o revendedor, que quer caixa fechada com preço de atacado. Os dois disputam o mesmo estoque.
Hoje o pedido chega pelo WhatsApp, na mensagem que o nosso protótipo monta, mas nada fica registrado: não há histórico, o estoque não baixa com a venda e as contas dos clientes só existem no navegador.
O sistema resolve isso guardando clientes, catálogo e pedidos num banco de dados, mantendo o WhatsApp que a loja já usa e dando ao dono um painel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[Caio]
A funcionalidade principal é o pedido de bebidas pela web, em duas vitrines sobre o mesmo estoque. O documento de cadastro decide a vitrine: com CPF o cliente compra no varejo, por unidade; com CNPJ, no atacado, por caixa fechada.
O caminho tem seis passos: cadastro, catálogo com busca e filtro, carrinho, entrega calculada pelo CEP, pagamento por Pix no site ou na entrega e, no fim, o pedido gravado no banco e enviado ao WhatsApp da loja.
Por trás disso fica o painel do dono. Deixamos fora desta versão o rastreamento da entrega, o pagamento com cartão pelo site e a nota fiscal.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[Vitor (diagramas)]
São três públicos. O consumidor final, maior de 18 anos e dentro da área de entrega, que compra por unidade e quase sempre pelo celular; por isso o layout é pensado primeiro para o celular.
O revendedor, identificado pelo CNPJ, que compra por caixa fechada, com desconto de revenda e um pedido mínimo próprio. Para ele a tela é uma tabela mais sóbria.
E o administrador, o dono da distribuidora, que precisa mudar preço, estoque e promoção sem depender de programador.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[Caio] (front-end) e [Vitor Custodio] (back-end e banco)
A tabela compara o que o enunciado pede com o que escolhemos. No front-end, o enunciado pede HTML, JavaScript, Bootstrap e React, e usamos os quatro: React porque as duas lojas e o painel repetem componentes, como o card do produto e o carrinho, e Bootstrap pela grade responsiva.
No back-end, Node.js com Express, a mesma linguagem do front. A senha é guardada com bcrypt e a sessão usa token JWT.
No banco, MySQL, porque os dados são relacionais: pedido tem itens e itens apontam para produtos, e precisamos de transação para não vender o que não existe no estoque.
ViaCEP, WhatsApp e Pix já funcionam no protótipo. O front vai para a Vercel, que o enunciado cita na Etapa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[Vitor (diagramas)]
Na loja o ator é o Cliente, que se especializa em Consumidor, com CPF, e Revendedor, com CNPJ.
São seis casos principais: criar conta, entrar, consultar catálogo, montar carrinho, finalizar pedido e consultar meus pedidos.
Finalizar pedido sempre inclui calcular a entrega pelo CEP, que consulta o ViaCEP, registrar o pedido e enviar ao WhatsApp. Pagar com Pix é uma extensão opcional. Comprar por caixa fechada estende o carrinho, e é o que muda para o revendedor.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[Vitor (diagramas)]
No painel o ator é o administrador. Ele entra com perfil de administrador e tem cinco casos principais: gerenciar produtos, com envio de foto; configurar as regras de venda do varejo e do atacado, incluindo cupom e faixas por volume; configurar os dados da loja, como chave Pix e horário; e gerenciar pedidos.
Ao gerenciar pedidos ele muda o status, de recebido até entregue, e o estoque é atualizado.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[João Vitor]
O enunciado pede os casos de uso com os principais fluxos. São seis, e cada cartão mostra o caminho principal e um fluxo alternativo.
Criar conta e entrar: o cliente confirma a maioridade, informa o documento e entra na loja certa. Comprar no varejo: carrinho, entrega pelo CEP e pedido no WhatsApp; se o CEP fica fora do raio, vira retirada no balcão. Comprar no atacado: caixas, desconto por volume e mínimo do atacado. Pedir de novo: um pedido antigo volta ao carrinho.
No painel, manter o catálogo e gerenciar pedidos, do recebido até o entregue. O passo a passo completo está na seção 3 do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[João Vitor]
São 21 requisitos funcionais, cada um com identificador, prioridade e a entrega em que fica pronto. 10 entram no MVP da Entrega 2, em 3 de novembro: aviso de maioridade, cadastro, direcionamento pela loja do documento, catálogo lido do banco, carrinho, entrega pelo CEP, finalizar pedido, envio ao WhatsApp, CRUD de produtos e lista de pedidos.
Os outros, como login com token, busca, atacado e Pix, ficam para a versão final, na Entrega 3, como pede o enunciado da Etapa 3. A descrição completa está na seção 4 do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[João Vitor]
São 11 requisitos não funcionais, cada um com categoria. Destaco três. Integridade: o preço, o frete e o total são sempre recalculados no servidor, porque não se confia no valor que vem do navegador, e o pedido e a baixa de estoque acontecem na mesma transação. Segurança: senha guardada só como hash e tráfego só por HTTPS. E o legal: bebida alcoólica só para maiores de 18, como exige o ECA.
Os demais cobrem usabilidade no celular, acessibilidade, LGPD, desempenho, compatibilidade, manutenção e hospedagem na nuvem. O detalhamento está na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[Vitor (diagramas)]
Estas telas são do protótipo que já está no ar e servem de wireframe de alta fidelidade. Primeiro vem o aviso de maioridade; depois o login só com e-mail e senha. O CPF ou CNPJ é pedido uma vez, em Criar conta, e é ele que decide a loja. O varejo abre na tela de início, que mostra se a loja está aberta, a taxa de entrega e o pedido mínimo. No catálogo, cada aba filtra uma categoria.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[Vitor (diagramas)]
A busca filtra por marca ou nome enquanto o cliente digita. As abas Como pedir, Cupom e Entrega explicam o pedido, divulgam o cupom e mostram raio, taxas e horário. O carrinho mostra subtotal, cupom e total, e no fechamento o CEP preenche a rua pelo ViaCEP e o sistema calcula 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[Caio]
O cliente escolhe como paga: na entrega, com Pix, cartão ou dinheiro com troco, ou pelo site, com QR code e copia e cola no valor exato. Se o CEP fica fora do raio, a entrega vira retirada no balcão. Depois de enviado, o pedido vai para o WhatsApp da loja, e com o carrinho vazio o cliente pode pedir de novo um pedido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[Caio]
O atacado é uma tabela mais sóbria, pensada para quem compra por caixa fechada. O revendedor escolhe a quantidade de caixas, e o resumo ao lado aplica o desconto de revenda e o desconto extra por volume e confere o pedido mínimo. A tabela também filtra por categoria.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[Caio]
O painel é onde o dono mexe na loja sem programar. Na aba Produtos ele muda preço e promoção direto na tabela, e o campo alterado fica destacado. Antes de publicar, a loja aberta no mesmo navegador mostra o rascunho com um aviso de prévia. As outras abas cuidam das regras do varejo e do atacado, dos dados da loja, como Pix e horário, e da publicação.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[Vitor (diagramas)]
O protótipo foi pensado primeiro para o celular, que é onde o consumidor compra. A navegação desce para uma barra fixa ao alcance do polegar, o catálogo vira duas colunas e todo botão tem no mínimo 44 pixels de altura. O carrinho ocupa a tela inteira e avisa quanto falta para o pedido mínimo, e o atacado mostra um produto por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[João Vitor]
O banco é MySQL, com doze entidades. O núcleo é usuário, pedido, item do pedido e produto. Cada pedido tem pelo menos um item, e o item guarda o preço do momento da compra, para que mudar o preço depois não altere pedidos antigos.
Pagamento é um para um com o pedido. O endereço é opcional no pedido, porque retirada no balcão não tem endereço.
Embaixo fica a configuração da loja: horário, regras de venda do varejo e do atacado e as faixas de desconto por volume. Tudo isso é editado pelo painel. O dicionário de dados está na seção 7 do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[Christian]
O cronograma segue o calendário da disciplina e tem seis sprints, cada uma com atividades, responsáveis e marco. A Sprint 0, de 2 a 25 de setembro, começou logo depois da definição das equipes e já está concluída: é o protótipo que mostramos. A Sprint 1 é este planejamento, que fecha hoje, 29 de setembro, na Entrega 1.
As Sprints 2 e 3, de 30 de setembro a 3 de novembro, constroem o MVP: primeiro a base do back-end com MySQL e CRUD, com Vitor Custodio e João Vitor; depois a interface em React integrada à API, com Caio e Vitor. Elas fecham na Entrega 2, em 3 de novembro. A Sprint 4 traz as funcionalidades avançadas e a Sprint 5 a hospedagem, os testes e o relatório final, que fecham na Entrega 3, em 26 de novembro.
Cada requisito vira uma issue no GitHub, para acompanhar o andamento de cada sprint.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[Christian]
Somos cinco, em três frentes. No back-end, Vitor Custodio e João Vitor: servidor Node com Express, banco MySQL, autenticação e as regras de preço, frete e estoque. No front-end, Caio e Vitor: a interface em React com Bootstrap e a ligação com a API; o Vitor também faz os diagramas e os wireframes. Eu, Christian, cuido da documentação: o plano, os relatórios das próximas entregas e o registro do andamento de cada sprint.
Embaixo está como cobrimos as quatro funções que o enunciado sugere: front-end com Caio e Vitor, back-end com Vitor Custodio e João Vitor, design com o Vitor, e a gerência do cronograma comigo, com a integração entre front e back feita pelas duas frentes juntas.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[Caio]
Para o desenvolvimento inicial, o MVP da Entrega 2, escolhemos o que o enunciado pede nessa etapa: interface responsiva e CRUD integrado ao banco.
São sete funcionalidades: aviso de maioridade e cadastro, catálogo lido do banco, carrinho, entrega pelo CEP, finalizar pedido gravando no banco e enviando ao WhatsApp, CRUD de produtos no painel e a lista de pedidos com status.
Seis já existem no protótipo; o que muda é que passam a gravar no MySQL pela API. A lista de pedidos é nova. Login com token, busca, atacado e Pix ficam para a Entrega 3, como pede o enunciado da Etapa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[Vitor Custodio]
A arquitetura tem três camadas. O front-end em React roda no navegador e só conversa com a API. A API em Node e Express concentra as regras de negócio e é a única que acessa o MySQL. A comunicação é REST com JSON, e depois do login cada chamada leva o token JWT.
Embaixo, um pedido de ponta a ponta: o React envia o pedido para a API com o token; o Express confere o login e recalcula preço e frete, sem confiar no valor do navegador; o MySQL grava o pedido e os itens e baixa o estoque numa transação só; e a resposta volta, com o resumo seguindo para o WhatsApp da loja.
ViaCEP e WhatsApp são chamados pelo navegador. O front vai para a Vercel; o provedor da API e do banco escolhemos na Sprint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[Christian]
Esse é o nosso plano. Os próximos passos são o MVP, em 3 de novembro, com React, API e banco MySQL funcionando juntos, e o sistema completo, hospedado e com relatório, em 26 de novembro. O protótipo está no ar no endereço do slide e todo o código está no repositório. Obrigado, ficamos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D0D21"/>
          </a:solidFill>
          <a:ln w="15875">
            <a:solidFill>
              <a:srgbClr val="FF307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892040" y="0"/>
            <a:ext cx="4251960" cy="5143500"/>
          </a:xfrm>
          <a:prstGeom prst="rect">
            <a:avLst/>
          </a:prstGeom>
          <a:solidFill>
            <a:srgbClr val="14142C"/>
          </a:solidFill>
          <a:ln w="12700">
            <a:solidFill>
              <a:srgbClr val="1414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0" y="4160520"/>
            <a:ext cx="3977640" cy="365760"/>
          </a:xfrm>
          <a:prstGeom prst="ellipse">
            <a:avLst/>
          </a:prstGeom>
          <a:solidFill>
            <a:srgbClr val="22224A"/>
          </a:solidFill>
          <a:ln w="12700">
            <a:solidFill>
              <a:srgbClr val="22224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5209" y="2412187"/>
            <a:ext cx="589020" cy="1931213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229" y="2492654"/>
            <a:ext cx="643134" cy="1850746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363" y="3297326"/>
            <a:ext cx="423660" cy="1046074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1023" y="2452421"/>
            <a:ext cx="723300" cy="1890979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4322" y="3458261"/>
            <a:ext cx="358481" cy="885139"/>
          </a:xfrm>
          <a:prstGeom prst="rect">
            <a:avLst/>
          </a:prstGeom>
        </p:spPr>
      </p:pic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2804" y="2452421"/>
            <a:ext cx="728027" cy="1890979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D0D21"/>
          </a:solidFill>
          <a:ln w="15875">
            <a:solidFill>
              <a:srgbClr val="FF307A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15" name="Text 7"/>
          <p:cNvSpPr txBox="1"/>
          <p:nvPr/>
        </p:nvSpPr>
        <p:spPr>
          <a:xfrm>
            <a:off x="457200" y="1005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3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FINAL · ENTREGA 1</a:t>
            </a:r>
            <a:endParaRPr lang="en-US" sz="1200" dirty="0"/>
          </a:p>
        </p:txBody>
      </p:sp>
      <p:sp>
        <p:nvSpPr>
          <p:cNvPr id="16" name="Text 8"/>
          <p:cNvSpPr txBox="1"/>
          <p:nvPr/>
        </p:nvSpPr>
        <p:spPr>
          <a:xfrm>
            <a:off x="457200" y="13258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Trabalho</a:t>
            </a:r>
            <a:endParaRPr lang="en-US" sz="3600" dirty="0"/>
          </a:p>
        </p:txBody>
      </p:sp>
      <p:sp>
        <p:nvSpPr>
          <p:cNvPr id="17" name="Text 9"/>
          <p:cNvSpPr txBox="1"/>
          <p:nvPr/>
        </p:nvSpPr>
        <p:spPr>
          <a:xfrm>
            <a:off x="457200" y="21488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00E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GRAU</a:t>
            </a:r>
            <a:endParaRPr lang="en-US" sz="2200" dirty="0"/>
          </a:p>
        </p:txBody>
      </p:sp>
      <p:sp>
        <p:nvSpPr>
          <p:cNvPr id="18" name="Text 10"/>
          <p:cNvSpPr txBox="1"/>
          <p:nvPr/>
        </p:nvSpPr>
        <p:spPr>
          <a:xfrm>
            <a:off x="457200" y="2606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web de pedidos para distribuidora de bebidas — varejo e atacado</a:t>
            </a:r>
            <a:endParaRPr lang="en-US" sz="1500" dirty="0"/>
          </a:p>
        </p:txBody>
      </p:sp>
      <p:sp>
        <p:nvSpPr>
          <p:cNvPr id="19" name="Text 11"/>
          <p:cNvSpPr txBox="1"/>
          <p:nvPr/>
        </p:nvSpPr>
        <p:spPr>
          <a:xfrm>
            <a:off x="457200" y="347472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Disciplina: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 de Plataformas Web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da Computação · Unifor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Professor: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Francisco Estevão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Vitor Custodio, João Vitor, Caio, Vitor e Christian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29/09/2026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051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48132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do sistema: funcionalidade principal, público-alvo e tecnologias utilizadas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4813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3–6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99339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Diagramas de Caso de Uso (Principais Fluxos)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199339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7–9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505456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Funcionais e Não Funcionais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50545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10–11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0175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e protótipos das telas principais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301752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12–17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2958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dados: diagrama 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04164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de execução das atividades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40416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0" y="914400"/>
            <a:ext cx="3200400" cy="3749040"/>
          </a:xfrm>
          <a:prstGeom prst="roundRect">
            <a:avLst>
              <a:gd name="adj" fmla="val 2286"/>
            </a:avLst>
          </a:prstGeom>
          <a:solidFill>
            <a:srgbClr val="FFE9F1"/>
          </a:solidFill>
          <a:ln w="12700">
            <a:solidFill>
              <a:srgbClr val="FFE9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15000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Apresentação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14813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Divisão da equipe escolhida para o desenvolvimento inicial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14813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715000" y="199339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básicas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199339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25054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Breve explicação da arquitetura adotada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250545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73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ordem da Etapa 1 do enunciado (Plano de Trabalho: Projeto Inicial)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— o problema real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Escopo do sistema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86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enunciado pede um problema real: o nosso é o de uma distribuidora de bebidas de Fortaleza.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4447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públicos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1920240"/>
            <a:ext cx="384048" cy="384048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972" y="2012412"/>
            <a:ext cx="199705" cy="1997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188720" y="189280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Consumidor quer a unidade, gelada, entregue rápido em casa.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" y="2788920"/>
            <a:ext cx="384048" cy="384048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2" y="2881092"/>
            <a:ext cx="199705" cy="19970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88720" y="27614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Revendedor quer caixa fechada, preço de atacado e pedido mínimo próprio.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64408" y="128016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93008" y="14447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é hoje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3493008" y="1920240"/>
            <a:ext cx="384048" cy="384048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180" y="2012412"/>
            <a:ext cx="199705" cy="19970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995928" y="189280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pedido chega pelo WhatsApp, na mensagem que o protótipo monta.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3493008" y="2788920"/>
            <a:ext cx="384048" cy="384048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5180" y="2881092"/>
            <a:ext cx="199705" cy="19970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3995928" y="27614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fica registrado: sem histórico de pedidos.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493008" y="3657600"/>
            <a:ext cx="384048" cy="384048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5180" y="3749772"/>
            <a:ext cx="199705" cy="1997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3995928" y="363016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estoque não baixa com a venda, e as contas só existem no navegador.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071616" y="128016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FFE9F1"/>
          </a:solidFill>
          <a:ln w="12700">
            <a:solidFill>
              <a:srgbClr val="FFE9F1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300216" y="14447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sistema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6300216" y="192024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2388" y="2012412"/>
            <a:ext cx="199705" cy="1997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03136" y="189280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Clientes, catálogo e pedidos guardados num banco de dados.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6300216" y="27889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2388" y="2881092"/>
            <a:ext cx="199705" cy="1997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6803136" y="276148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WhatsApp da loja continua recebendo o pedido.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6300216" y="365760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2388" y="3749772"/>
            <a:ext cx="199705" cy="1997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6803136" y="3630168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painel para mudar preço, estoque e regras e acompanhar pedidos.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— funcionalidade principal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Escopo do sistema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 de bebidas pela web em duas vitrines sobre o mesmo estoque: quem se cadastra com CPF compra no varejo, por unidade; com CNPJ, no atacado, por caixa fechada.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43000" y="2468880"/>
            <a:ext cx="6858000" cy="0"/>
          </a:xfrm>
          <a:prstGeom prst="line">
            <a:avLst/>
          </a:prstGeom>
          <a:noFill/>
          <a:ln w="25400">
            <a:solidFill>
              <a:srgbClr val="D5D5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48840"/>
            <a:ext cx="640080" cy="64008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" y="2880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154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CPF ou CNPJ decide a loja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194560" y="2148840"/>
            <a:ext cx="640080" cy="64008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179" y="230245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74520" y="2880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874520" y="3154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 e filtro por categoria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566160" y="2148840"/>
            <a:ext cx="640080" cy="64008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9779" y="230245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246120" y="2880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246120" y="3154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unidade ou por caixa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937760" y="2148840"/>
            <a:ext cx="640080" cy="64008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137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617720" y="2880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4617720" y="3154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calculada pelo CEP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309360" y="2148840"/>
            <a:ext cx="640080" cy="64008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79" y="2302459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989320" y="2880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989320" y="3154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 no site ou na entrega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680960" y="2148840"/>
            <a:ext cx="640080" cy="6400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579" y="2302459"/>
            <a:ext cx="332842" cy="33284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360920" y="2880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7360920" y="3154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gravado e enviado ao WhatsApp</a:t>
            </a:r>
            <a:endParaRPr lang="en-US" sz="1050" dirty="0"/>
          </a:p>
        </p:txBody>
      </p:sp>
      <p:sp>
        <p:nvSpPr>
          <p:cNvPr id="33" name="Shape 25"/>
          <p:cNvSpPr/>
          <p:nvPr/>
        </p:nvSpPr>
        <p:spPr>
          <a:xfrm>
            <a:off x="457200" y="384048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621792" y="3995928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105656"/>
            <a:ext cx="237744" cy="23774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207008" y="3931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do dono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de produtos, regras de venda, dados da loja e pedidos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4663440" y="384048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4846320" y="39319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 do escopo desta versão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Rastreamento da entrega, cartão pelo site e nota fiscal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— público-alvo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Escopo do sistema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429000"/>
          </a:xfrm>
          <a:prstGeom prst="roundRect">
            <a:avLst>
              <a:gd name="adj" fmla="val 2807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80160"/>
            <a:ext cx="640080" cy="6400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39" y="143377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Consumidor final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CPF · loja de varejo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880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de 18 anos, na área de entrega. Compra por unidade, quase sempre pelo celular.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264408" y="1051560"/>
            <a:ext cx="2606040" cy="3429000"/>
          </a:xfrm>
          <a:prstGeom prst="roundRect">
            <a:avLst>
              <a:gd name="adj" fmla="val 2807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38728" y="1280160"/>
            <a:ext cx="640080" cy="6400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347" y="143377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538728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Revendedor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538728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· balcão de atacado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538728" y="2880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Comércio que revende bebidas. Caixa fechada, desconto de revenda e pedido mínimo próprio.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071616" y="1051560"/>
            <a:ext cx="2606040" cy="3429000"/>
          </a:xfrm>
          <a:prstGeom prst="roundRect">
            <a:avLst>
              <a:gd name="adj" fmla="val 2807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45936" y="1280160"/>
            <a:ext cx="640080" cy="64008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555" y="143377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345936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345936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ou equipe da loja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6345936" y="2880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Mantém catálogo, preços, estoque, regras, horário e Pix, e acompanha os pedidos.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— tecnologias utilizadas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Escopo do sistema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148840"/>
                <a:gridCol w="2240280"/>
                <a:gridCol w="2606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Camada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enunciado pede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Nossa escolha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quê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Front-end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HTML, JavaScript, Bootstrap e React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79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 React (Vite) + Bootstrap 5, sobre HTML e JavaScript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Componentes reaproveitados nas duas lojas e no painel; grade responsiva pronta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Back-end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Node.js, Express ou tecnologia compatível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79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 Node.js + Express, com bcrypt e JWT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Mesma linguagem do front; API REST com login por token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Banco de dados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MySQL, MongoDB ou outro, à escolha do grupo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79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 MySQL 8 + Sequelize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→ itens → produto é relacional; transação ao baixar estoque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118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36118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ViaCEP · WhatsApp · Pix BR Code    </a:t>
            </a:r>
            <a:pPr indent="0" marL="0">
              <a:buNone/>
            </a:pPr>
            <a:r>
              <a:rPr lang="en-US" sz="1100" b="1" dirty="0">
                <a:solidFill>
                  <a:srgbClr val="00E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· Playwright    </a:t>
            </a:r>
            <a:pPr indent="0" marL="0">
              <a:buNone/>
            </a:pPr>
            <a:r>
              <a:rPr lang="en-US" sz="1100" b="1" dirty="0">
                <a:solidFill>
                  <a:srgbClr val="00E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Hospedagem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uso — loja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Diagramas de Caso de Uso (Principais Fluxos)</a:t>
            </a:r>
            <a:endParaRPr lang="en-US" sz="850" dirty="0"/>
          </a:p>
        </p:txBody>
      </p:sp>
      <p:pic>
        <p:nvPicPr>
          <p:cNvPr id="7" name="Image 0" descr="/home/user/Site-Zero-Grau/docs/entrega-1/imagens/uc-loj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68680"/>
            <a:ext cx="5719313" cy="3886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59393" y="1097280"/>
            <a:ext cx="2418847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Atores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Cliente, especializado em Consumidor (CPF) e Revendedor (CNPJ)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externos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ViaCEP e WhatsApp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casos principais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 a UC06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«include»</a:t>
            </a:r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sempre executa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«extend»</a:t>
            </a:r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opcional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uso — painel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Diagramas de Caso de Uso (Principais Fluxos)</a:t>
            </a:r>
            <a:endParaRPr lang="en-US" sz="850" dirty="0"/>
          </a:p>
        </p:txBody>
      </p:sp>
      <p:pic>
        <p:nvPicPr>
          <p:cNvPr id="7" name="Image 0" descr="/home/user/Site-Zero-Grau/docs/entrega-1/imagens/uc-pai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5760720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0" y="109728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 (dono da loja)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casos principais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UC07 a UC11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do pedido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recebido → confirmado → em preparo → saiu → entregue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Estoque atualizado a cada pedido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fluxos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Diagramas de Caso de Uso (Principais Fluxos)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06040" cy="1810512"/>
          </a:xfrm>
          <a:prstGeom prst="roundRect">
            <a:avLst>
              <a:gd name="adj" fmla="val 404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conta e entrar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813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UC01, UC02 · Cliente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71907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Confirma ter 18 anos ou mais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Informa CPF/CNPJ, e-mail e senha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Entra na loja do seu documento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E-mail já usado: oferece entrar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64408" y="914400"/>
            <a:ext cx="2606040" cy="1810512"/>
          </a:xfrm>
          <a:prstGeom prst="roundRect">
            <a:avLst>
              <a:gd name="adj" fmla="val 404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7288" y="10332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2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Comprar no varejo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4813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 a UC05 · Consumidor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71907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Monta o carrinho no catálogo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 CEP calcula a entrega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Paga e o pedido vai ao WhatsApp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447288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Fora do raio: vira retirada no balcão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71616" y="914400"/>
            <a:ext cx="2606040" cy="1810512"/>
          </a:xfrm>
          <a:prstGeom prst="roundRect">
            <a:avLst>
              <a:gd name="adj" fmla="val 404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10332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3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254496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Comprar no atacado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54496" y="14813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 a UC05 · Revendedor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254496" y="171907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Escolhe caixas na tabela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Ganha desconto por volume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Fecha acima do mínimo do atacado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254496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Acima do estoque: limita ao disponível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2852928"/>
            <a:ext cx="2606040" cy="1810512"/>
          </a:xfrm>
          <a:prstGeom prst="roundRect">
            <a:avLst>
              <a:gd name="adj" fmla="val 404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29718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4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154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Pedir de novo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41985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 · Cliente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365760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Abre "Meus pedidos"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Toca em "Pedir de novo"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Os itens voltam ao carrinho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4334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Item esgotado fica de fora, com aviso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64408" y="2852928"/>
            <a:ext cx="2606040" cy="1810512"/>
          </a:xfrm>
          <a:prstGeom prst="roundRect">
            <a:avLst>
              <a:gd name="adj" fmla="val 404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47288" y="29718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5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447288" y="3154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o catálogo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447288" y="341985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UC07 a UC10 · Administrador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3447288" y="365760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 no painel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Edita produtos, regras, Pix e horário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As lojas mostram os novos valores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447288" y="4334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Campo inválido: aponta o erro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071616" y="2852928"/>
            <a:ext cx="2606040" cy="1810512"/>
          </a:xfrm>
          <a:prstGeom prst="roundRect">
            <a:avLst>
              <a:gd name="adj" fmla="val 404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54496" y="29718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6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254496" y="3154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Gerenciar pedidos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254496" y="341985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UC11 · Administrador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254496" y="365760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Vê os pedidos por status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Confere itens e pagamento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Avança até "entregue"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54496" y="4334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Cancelado: o estoque volta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funcionais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Requisitos Funcionais e Não Funcionais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40233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331720"/>
                <a:gridCol w="548640"/>
                <a:gridCol w="64008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 de maioridade (18+)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Cadastro com CPF/CNPJ, e-mail e senha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Login com e-mail e senha (JWT)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Loja pelo documento: CPF → varejo, CNPJ → atacado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Catálogo lido do banco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Busca e filtro por categoria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Carrinho respeitando o estoque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 pelo CEP, raio e retirada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mínimo, frete grátis e cupom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Finalizar pedido e gravar no banco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Pix copia e cola e QR code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14400"/>
          <a:ext cx="40233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331720"/>
                <a:gridCol w="548640"/>
                <a:gridCol w="64008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3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Resumo do pedido no WhatsApp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Atacado por caixa, com desconto por volume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Histórico e pedir de novo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Horário da loja e pedido agendado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Painel: CRUD de produtos e foto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Painel: regras do varejo e do atacado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Painel: contato, Pix e horário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Painel: pedidos e status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Baixa e devolução de estoque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218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Painel só para administrador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A5A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663440" y="43159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requisitos · </a:t>
            </a:r>
            <a:pPr indent="0" marL="0">
              <a:buNone/>
            </a:pPr>
            <a:r>
              <a:rPr lang="en-US" sz="1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no MVP (Entrega 2, 03/11)</a:t>
            </a:r>
            <a:pPr indent="0" marL="0">
              <a:buNone/>
            </a:pPr>
            <a:r>
              <a:rPr lang="en-US" sz="10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os demais na versão final (Entrega 3, 26/11)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não funcionais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Requisitos Funcionais e Não Funcionais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RNF01 · Usabilidade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29844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Responsivo de 320 px ao desktop; toque de no mínimo 44 px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0241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RNF02 · Acessibilidade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29844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Contraste 4,5:1 (WCAG AA), rótulos e uso por teclado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0241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RNF03 · Segurança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129844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 em bcrypt, token JWT com validade, só HTTPS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66560" y="9144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10241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RNF04 · Integridade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29844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Preço, frete e total recalculados no servidor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1945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RNF05 · Integridade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57860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 e baixa de estoque na mesma transação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60320" y="21945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7480" y="230428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RNF06 · Legal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57860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 só a maiores de 18 (ECA, art. 243)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1945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00600" y="230428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RNF07 · Privacidade (LGPD)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57860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os dados necessários; estatística com consentimento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766560" y="219456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03720" y="230428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RNF08 · Desempenho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57860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em WebP; início em menos de 3 s no 4G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47472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RNF09 · Compatibilidade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385876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Navegadores atuais; instalável como app (PWA)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347472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9748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RNF10 · Manutenibilidade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2697480" y="385876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no GitHub, API documentada, testes a cada push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663440" y="347472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0060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RNF11 · Disponibilidade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800600" y="385876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Publicado na nuvem (Vercel)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766560" y="347472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03720" y="35661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200" dirty="0"/>
          </a:p>
        </p:txBody>
      </p:sp>
      <p:sp>
        <p:nvSpPr>
          <p:cNvPr id="42" name="Text 40"/>
          <p:cNvSpPr txBox="1"/>
          <p:nvPr/>
        </p:nvSpPr>
        <p:spPr>
          <a:xfrm>
            <a:off x="6903720" y="41330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não funcionais, em 9 categorias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— varejo (1/3)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Wireframes e protótipos das telas principais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8920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8" name="Image 0" descr="/home/user/Site-Zero-Grau/docs/entrega-1/imagens/v01-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14400"/>
            <a:ext cx="2560320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de maioridade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7812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1" name="Image 1" descr="/home/user/Site-Zero-Grau/docs/entrega-1/imagens/t1-log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914400"/>
            <a:ext cx="2560320" cy="1600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6704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4" name="Image 2" descr="/home/user/Site-Zero-Grau/docs/entrega-1/imagens/t2-criar-con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914400"/>
            <a:ext cx="2560320" cy="1600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conta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8920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7" name="Image 3" descr="/home/user/Site-Zero-Grau/docs/entrega-1/imagens/t3-inic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52928"/>
            <a:ext cx="2560320" cy="1600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292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327812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0" name="Image 4" descr="/home/user/Site-Zero-Grau/docs/entrega-1/imagens/t4-cata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2852928"/>
            <a:ext cx="2560320" cy="1600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329184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06704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3" name="Image 5" descr="/home/user/Site-Zero-Grau/docs/entrega-1/imagens/v02-categori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2852928"/>
            <a:ext cx="2560320" cy="1600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08076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por categoria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— varejo (2/3)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Wireframes e protótipos das telas principais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8920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8" name="Image 0" descr="/home/user/Site-Zero-Grau/docs/entrega-1/imagens/v03-bus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14400"/>
            <a:ext cx="2560320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7812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1" name="Image 1" descr="/home/user/Site-Zero-Grau/docs/entrega-1/imagens/v04-como-pedi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914400"/>
            <a:ext cx="2560320" cy="1600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pedir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6704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4" name="Image 2" descr="/home/user/Site-Zero-Grau/docs/entrega-1/imagens/v05-cup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914400"/>
            <a:ext cx="2560320" cy="1600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Cupom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8920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7" name="Image 3" descr="/home/user/Site-Zero-Grau/docs/entrega-1/imagens/v06-entreg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52928"/>
            <a:ext cx="2560320" cy="1600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292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de entrega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327812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0" name="Image 4" descr="/home/user/Site-Zero-Grau/docs/entrega-1/imagens/t5-carrinh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2852928"/>
            <a:ext cx="2560320" cy="1600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329184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06704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3" name="Image 5" descr="/home/user/Site-Zero-Grau/docs/entrega-1/imagens/t6-fechament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2852928"/>
            <a:ext cx="2560320" cy="1600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08076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e pagamento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— varejo (3/3)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Wireframes e protótipos das telas principais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8920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8" name="Image 0" descr="/home/user/Site-Zero-Grau/docs/entrega-1/imagens/v07-pagamento-entreg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14400"/>
            <a:ext cx="2560320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Pagar na entrega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7812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1" name="Image 1" descr="/home/user/Site-Zero-Grau/docs/entrega-1/imagens/t7-p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914400"/>
            <a:ext cx="2560320" cy="1600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Pagar com Pix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6704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4" name="Image 2" descr="/home/user/Site-Zero-Grau/docs/entrega-1/imagens/v10-retirad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914400"/>
            <a:ext cx="2560320" cy="1600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 da área: retirada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188366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7" name="Image 3" descr="/home/user/Site-Zero-Grau/docs/entrega-1/imagens/v08-pedido-envia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7380" y="2852928"/>
            <a:ext cx="2560320" cy="1600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89738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 enviado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67258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0" name="Image 4" descr="/home/user/Site-Zero-Grau/docs/entrega-1/imagens/v09-pedir-de-nov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2852928"/>
            <a:ext cx="2560320" cy="1600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68630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Pedir de novo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— atacado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Wireframes e protótipos das telas principais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8912" y="1078992"/>
            <a:ext cx="2642616" cy="1665351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8" name="Image 0" descr="/home/user/Site-Zero-Grau/docs/entrega-1/imagens/t8-atac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06040" cy="162877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9064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Balcão por caixa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256407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sóbria com preço por unidade e por caixa, estoque em caixas e resumo do pedido com mínimo e prazo.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46120" y="1078992"/>
            <a:ext cx="2642616" cy="1665351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2" name="Image 1" descr="/home/user/Site-Zero-Grau/docs/entrega-1/imagens/a01-atacado-ped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097280"/>
            <a:ext cx="2606040" cy="16287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264408" y="289064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 montado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264408" y="3256407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Somar as caixas escolhidas, aplicar o desconto por volume e mostrar total, frete e pedido mínimo.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53328" y="1078992"/>
            <a:ext cx="2642616" cy="1665351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6" name="Image 2" descr="/home/user/Site-Zero-Grau/docs/entrega-1/imagens/a02-atacado-categor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1097280"/>
            <a:ext cx="2606040" cy="162877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071616" y="289064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por categoria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071616" y="3256407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Filtrar a tabela por categoria, como no varejo.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— painel de administração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Wireframes e protótipos das telas principais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8920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8" name="Image 0" descr="/home/user/Site-Zero-Grau/docs/entrega-1/imagens/p01-painel-edi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14400"/>
            <a:ext cx="2560320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Editar produto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7812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1" name="Image 1" descr="/home/user/Site-Zero-Grau/docs/entrega-1/imagens/p06-previa-loj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914400"/>
            <a:ext cx="2560320" cy="1600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Prévia na loja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067044" y="900684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4" name="Image 2" descr="/home/user/Site-Zero-Grau/docs/entrega-1/imagens/p02-painel-varej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914400"/>
            <a:ext cx="2560320" cy="1600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2560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do varejo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8920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7" name="Image 3" descr="/home/user/Site-Zero-Grau/docs/entrega-1/imagens/p03-painel-ataca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52928"/>
            <a:ext cx="2560320" cy="1600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292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do atacado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327812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0" name="Image 4" descr="/home/user/Site-Zero-Grau/docs/entrega-1/imagens/p04-painel-loj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2852928"/>
            <a:ext cx="2560320" cy="1600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329184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da loja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067044" y="2839212"/>
            <a:ext cx="2587752" cy="1627632"/>
          </a:xfrm>
          <a:prstGeom prst="rect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3" name="Image 5" descr="/home/user/Site-Zero-Grau/docs/entrega-1/imagens/p05-painel-publicaca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2852928"/>
            <a:ext cx="2560320" cy="1600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080760" y="4498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Publicação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— no celular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Wireframes e protótipos das telas principais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04608" y="859536"/>
            <a:ext cx="1673092" cy="3493008"/>
          </a:xfrm>
          <a:prstGeom prst="roundRect">
            <a:avLst>
              <a:gd name="adj" fmla="val 6558"/>
            </a:avLst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8" name="Image 0" descr="/home/user/Site-Zero-Grau/docs/entrega-1/imagens/m01-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72" y="914400"/>
            <a:ext cx="1563364" cy="3383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76592" y="4425696"/>
            <a:ext cx="19291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25172" y="859536"/>
            <a:ext cx="1673092" cy="3493008"/>
          </a:xfrm>
          <a:prstGeom prst="roundRect">
            <a:avLst>
              <a:gd name="adj" fmla="val 6558"/>
            </a:avLst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1" name="Image 1" descr="/home/user/Site-Zero-Grau/docs/entrega-1/imagens/m02-cata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036" y="914400"/>
            <a:ext cx="1563364" cy="33832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597156" y="4425696"/>
            <a:ext cx="19291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745736" y="859536"/>
            <a:ext cx="1673092" cy="3493008"/>
          </a:xfrm>
          <a:prstGeom prst="roundRect">
            <a:avLst>
              <a:gd name="adj" fmla="val 6558"/>
            </a:avLst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4" name="Image 2" descr="/home/user/Site-Zero-Grau/docs/entrega-1/imagens/m03-carrinh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914400"/>
            <a:ext cx="1563364" cy="33832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17720" y="4425696"/>
            <a:ext cx="19291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66300" y="859536"/>
            <a:ext cx="1673092" cy="3493008"/>
          </a:xfrm>
          <a:prstGeom prst="roundRect">
            <a:avLst>
              <a:gd name="adj" fmla="val 6558"/>
            </a:avLst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7" name="Image 3" descr="/home/user/Site-Zero-Grau/docs/entrega-1/imagens/m04-ataca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164" y="914400"/>
            <a:ext cx="1563364" cy="3383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38284" y="4425696"/>
            <a:ext cx="19291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Atacado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 — diagrama ER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Estrutura do banco de dados (diagrama ER)</a:t>
            </a:r>
            <a:endParaRPr lang="en-US" sz="850" dirty="0"/>
          </a:p>
        </p:txBody>
      </p:sp>
      <p:pic>
        <p:nvPicPr>
          <p:cNvPr id="7" name="Image 0" descr="/home/user/Site-Zero-Grau/docs/entrega-1/imagens/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96112"/>
            <a:ext cx="4454957" cy="3840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186477" y="9144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6192317" y="1143000"/>
            <a:ext cx="24944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 · MySQL 8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186477" y="1783080"/>
            <a:ext cx="3546043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 → itens → produto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1:1 com o pedido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Endereço nulo = retirada no balcão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 guarda o preço do momento da compra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horário e faixas de atacado no banco, editáveis pelo painel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Chaves primárias, estrangeiras e cardinalidades no diagrama; dicionário de dados na seção 7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de execução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PLANEJAMENTO DO PROJETO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Cronograma de execução das atividades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8229600" cy="0"/>
          </a:xfrm>
          <a:prstGeom prst="line">
            <a:avLst/>
          </a:prstGeom>
          <a:noFill/>
          <a:ln w="25400">
            <a:solidFill>
              <a:srgbClr val="1B1B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914400"/>
            <a:ext cx="1307592" cy="2103120"/>
          </a:xfrm>
          <a:prstGeom prst="roundRect">
            <a:avLst>
              <a:gd name="adj" fmla="val 5594"/>
            </a:avLst>
          </a:prstGeom>
          <a:solidFill>
            <a:srgbClr val="E6F5F2"/>
          </a:solidFill>
          <a:ln w="12700">
            <a:solidFill>
              <a:srgbClr val="E6F5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05840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0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243584"/>
            <a:ext cx="1124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664208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02/09 a 25/09/2026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901952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navegável, fotos, Pix, CEP, WhatsApp e testes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70048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28700" y="3118104"/>
            <a:ext cx="164592" cy="164592"/>
          </a:xfrm>
          <a:prstGeom prst="ellipse">
            <a:avLst/>
          </a:prstGeom>
          <a:solidFill>
            <a:srgbClr val="1B1B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45643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37944" y="914400"/>
            <a:ext cx="1307592" cy="2103120"/>
          </a:xfrm>
          <a:prstGeom prst="roundRect">
            <a:avLst>
              <a:gd name="adj" fmla="val 5594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29384" y="1005840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929384" y="1243584"/>
            <a:ext cx="1124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929384" y="1664208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26/09 a 29/09/2026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929384" y="1901952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Escopo, casos de uso, requisitos, telas, ER e cronograma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929384" y="2670048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· Christian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409444" y="3118104"/>
            <a:ext cx="164592" cy="164592"/>
          </a:xfrm>
          <a:prstGeom prst="ellipse">
            <a:avLst/>
          </a:prstGeom>
          <a:solidFill>
            <a:srgbClr val="C218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83664" y="3401568"/>
            <a:ext cx="1216152" cy="384048"/>
          </a:xfrm>
          <a:prstGeom prst="roundRect">
            <a:avLst>
              <a:gd name="adj" fmla="val 19048"/>
            </a:avLst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883664" y="3401568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1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837944" y="3813048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29/09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18688" y="914400"/>
            <a:ext cx="1307592" cy="2103120"/>
          </a:xfrm>
          <a:prstGeom prst="roundRect">
            <a:avLst>
              <a:gd name="adj" fmla="val 5594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10128" y="1005840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310128" y="1243584"/>
            <a:ext cx="1124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do back-end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310128" y="1664208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30/09 a 15/10/2026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310128" y="1901952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Express, MySQL, CRUD de produtos e cadastro de usuário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310128" y="2670048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Vitor Custodio, João Vitor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790188" y="3118104"/>
            <a:ext cx="164592" cy="164592"/>
          </a:xfrm>
          <a:prstGeom prst="ellipse">
            <a:avLst/>
          </a:prstGeom>
          <a:solidFill>
            <a:srgbClr val="1B1B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99432" y="914400"/>
            <a:ext cx="1307592" cy="2103120"/>
          </a:xfrm>
          <a:prstGeom prst="roundRect">
            <a:avLst>
              <a:gd name="adj" fmla="val 5594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90872" y="1005840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4690872" y="1243584"/>
            <a:ext cx="1124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e MVP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690872" y="1664208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16/10 a 03/11/2026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4690872" y="1901952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Bootstrap, pedido no banco e painel de pedidos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690872" y="2670048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Caio, Vitor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70932" y="3118104"/>
            <a:ext cx="164592" cy="164592"/>
          </a:xfrm>
          <a:prstGeom prst="ellipse">
            <a:avLst/>
          </a:prstGeom>
          <a:solidFill>
            <a:srgbClr val="C218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45152" y="3401568"/>
            <a:ext cx="1216152" cy="384048"/>
          </a:xfrm>
          <a:prstGeom prst="roundRect">
            <a:avLst>
              <a:gd name="adj" fmla="val 19048"/>
            </a:avLst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645152" y="3401568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2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4599432" y="3813048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· 03/11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980176" y="914400"/>
            <a:ext cx="1307592" cy="2103120"/>
          </a:xfrm>
          <a:prstGeom prst="roundRect">
            <a:avLst>
              <a:gd name="adj" fmla="val 5594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071616" y="1005840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071616" y="1243584"/>
            <a:ext cx="1124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avançadas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071616" y="1664208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04/11 a 17/11/2026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071616" y="1901952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JWT, busca, atacado, Pix e baixa de estoque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071616" y="2670048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e Front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551676" y="3118104"/>
            <a:ext cx="164592" cy="164592"/>
          </a:xfrm>
          <a:prstGeom prst="ellipse">
            <a:avLst/>
          </a:prstGeom>
          <a:solidFill>
            <a:srgbClr val="1B1B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360920" y="914400"/>
            <a:ext cx="1307592" cy="2103120"/>
          </a:xfrm>
          <a:prstGeom prst="roundRect">
            <a:avLst>
              <a:gd name="adj" fmla="val 5594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452360" y="1005840"/>
            <a:ext cx="1124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5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7452360" y="1243584"/>
            <a:ext cx="1124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entrega final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7452360" y="1664208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18/11 a 26/11/2026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7452360" y="1901952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Hospedagem, testes, usabilidade e relatório final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7452360" y="2670048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0079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· Christian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932420" y="3118104"/>
            <a:ext cx="164592" cy="164592"/>
          </a:xfrm>
          <a:prstGeom prst="ellipse">
            <a:avLst/>
          </a:prstGeom>
          <a:solidFill>
            <a:srgbClr val="C218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406640" y="3401568"/>
            <a:ext cx="1216152" cy="384048"/>
          </a:xfrm>
          <a:prstGeom prst="roundRect">
            <a:avLst>
              <a:gd name="adj" fmla="val 19048"/>
            </a:avLst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406640" y="3401568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3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7360920" y="3813048"/>
            <a:ext cx="1307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· 26/11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008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Calendário da disciplina  </a:t>
            </a:r>
            <a:pPr indent="0" marL="0">
              <a:buNone/>
            </a:pPr>
            <a:r>
              <a:rPr lang="en-US" sz="95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01/09 temas e equipes · 03/09 Prova 1 · 24/09 Prova 2 · 03/12 2ª chamada · 08/12 último dia de aula · uma issue no GitHub por requisito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Divisão da equipe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APRESENTAÇÃO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Divisão da equipe escolhida para o desenvolvimento inicial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078992"/>
            <a:ext cx="502920" cy="50292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199693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25880" y="1143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Back-end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1737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Vitor Custodio e João Vitor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402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+ Express, MySQL, API, login e regras de preço, frete e estoque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64408" y="9144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93008" y="1078992"/>
            <a:ext cx="502920" cy="50292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709" y="1199693"/>
            <a:ext cx="261518" cy="26151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1143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93008" y="1737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Caio e Vitor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22402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Bootstrap, telas e consumo da API · Vitor também nos diagramas e wireframes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071616" y="91440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00216" y="1078992"/>
            <a:ext cx="502920" cy="50292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917" y="1199693"/>
            <a:ext cx="261518" cy="26151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40296" y="1143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Documentação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6300216" y="1737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Christian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6300216" y="22402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Trabalho, relatórios, checklist e andamento das sprints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3383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 sugeridas no enunciado → quem cobre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57200" y="3675888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FFE9F1"/>
          </a:solidFill>
          <a:ln w="12700">
            <a:solidFill>
              <a:srgbClr val="FFE9F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94360" y="37673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Desenvolvedor Front-end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594360" y="40233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Caio e Vitor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2560320" y="3675888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FFE9F1"/>
          </a:solidFill>
          <a:ln w="12700">
            <a:solidFill>
              <a:srgbClr val="FFE9F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697480" y="37673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Desenvolvedor Back-end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2697480" y="40233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Vitor Custodio e João Vitor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663440" y="3675888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FFE9F1"/>
          </a:solidFill>
          <a:ln w="12700">
            <a:solidFill>
              <a:srgbClr val="FFE9F1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800600" y="37673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 UX/UI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4800600" y="40233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Vitor: wireframes e diagramas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766560" y="3675888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FFE9F1"/>
          </a:solidFill>
          <a:ln w="12700">
            <a:solidFill>
              <a:srgbClr val="FFE9F1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903720" y="37673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de Projeto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6903720" y="40233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Christian: cronograma e relatórios; integração pelas duas frentes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básicas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APRESENTAÇÃO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Funcionalidades básicas do desenvolvimento inicial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886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da Entrega 2 (03/11): interface responsiva e CRUD integrado ao banco, como pede a Etapa 2.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417320"/>
            <a:ext cx="457200" cy="45720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2704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3444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18+ e cadastro CPF/CNPJ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1682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protótipo ✓ · RF01, RF02, RF04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130552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" y="2267712"/>
            <a:ext cx="457200" cy="45720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234440" y="2221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lido do banco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1234440" y="25328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protótipo ✓ · RF05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57200" y="2980944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1792" y="3118104"/>
            <a:ext cx="457200" cy="45720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27832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34440" y="307238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1234440" y="33832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protótipo ✓ · RF07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57200" y="3831336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21792" y="3968496"/>
            <a:ext cx="457200" cy="45720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78224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234440" y="3922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pelo CEP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1234440" y="42336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protótipo ✓ · RF08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663440" y="128016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032" y="1417320"/>
            <a:ext cx="457200" cy="45720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527048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44068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Finalizar pedido e enviar ao WhatsApp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5440680" y="1682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protótipo ✓ · RF10, RF12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663440" y="2130552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828032" y="2267712"/>
            <a:ext cx="457200" cy="45720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377440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440680" y="2221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Painel: CRUD de produtos</a:t>
            </a:r>
            <a:endParaRPr lang="en-US" sz="1250" dirty="0"/>
          </a:p>
        </p:txBody>
      </p:sp>
      <p:sp>
        <p:nvSpPr>
          <p:cNvPr id="37" name="Text 29"/>
          <p:cNvSpPr txBox="1"/>
          <p:nvPr/>
        </p:nvSpPr>
        <p:spPr>
          <a:xfrm>
            <a:off x="5440680" y="25328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protótipo ✓ · RF16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4663440" y="2980944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828032" y="3118104"/>
            <a:ext cx="457200" cy="457200"/>
          </a:xfrm>
          <a:prstGeom prst="ellipse">
            <a:avLst/>
          </a:prstGeom>
          <a:solidFill>
            <a:srgbClr val="1B1B3A"/>
          </a:solidFill>
          <a:ln w="12700">
            <a:solidFill>
              <a:srgbClr val="1B1B3A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3227832"/>
            <a:ext cx="237744" cy="23774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40680" y="307238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Painel: lista de pedidos e status</a:t>
            </a:r>
            <a:endParaRPr lang="en-US" sz="1250" dirty="0"/>
          </a:p>
        </p:txBody>
      </p:sp>
      <p:sp>
        <p:nvSpPr>
          <p:cNvPr id="42" name="Text 33"/>
          <p:cNvSpPr txBox="1"/>
          <p:nvPr/>
        </p:nvSpPr>
        <p:spPr>
          <a:xfrm>
            <a:off x="5440680" y="33832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 · RF19</a:t>
            </a:r>
            <a:endParaRPr lang="en-US" sz="1050" dirty="0"/>
          </a:p>
        </p:txBody>
      </p:sp>
      <p:sp>
        <p:nvSpPr>
          <p:cNvPr id="43" name="Text 34"/>
          <p:cNvSpPr txBox="1"/>
          <p:nvPr/>
        </p:nvSpPr>
        <p:spPr>
          <a:xfrm>
            <a:off x="4663440" y="39319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MVP (Entrega 3): login com token, busca e filtro, atacado, Pix, cupom e histórico.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B1B3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adotada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1888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APRESENTAÇÃO</a:t>
            </a:r>
            <a:pPr indent="0" marL="0">
              <a:buNone/>
            </a:pPr>
            <a:r>
              <a:rPr lang="en-US" sz="850" spc="50" kern="0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›  Breve explicação da arquitetura adotada</a:t>
            </a:r>
            <a:endParaRPr lang="en-US" sz="850" dirty="0"/>
          </a:p>
        </p:txBody>
      </p:sp>
      <p:pic>
        <p:nvPicPr>
          <p:cNvPr id="7" name="Image 0" descr="/home/user/Site-Zero-Grau/docs/entrega-1/imagens/ar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394" y="868680"/>
            <a:ext cx="6875212" cy="28163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3794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pedido, de ponta a ponta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406908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4160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1239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envia POST /api/pedidos com o token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331720" y="4233672"/>
            <a:ext cx="242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74036" y="406908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83764" y="4160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2985516" y="41239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confere o login e recalcula preço e frete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448556" y="4233672"/>
            <a:ext cx="242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690872" y="406908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FE9F1"/>
          </a:solidFill>
          <a:ln w="12700">
            <a:solidFill>
              <a:srgbClr val="FFE9F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00600" y="4160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5102352" y="41239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grava pedido e itens e baixa o estoque, numa transação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565392" y="4233672"/>
            <a:ext cx="2423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807708" y="406908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4F4F8"/>
          </a:solidFill>
          <a:ln w="12700">
            <a:solidFill>
              <a:srgbClr val="F4F4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17436" y="4160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7219188" y="41239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volta e o resumo segue para o WhatsApp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0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292608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D0D21"/>
          </a:solidFill>
          <a:ln w="15875">
            <a:solidFill>
              <a:srgbClr val="FF307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75320" y="292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0E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1C1C3A"/>
          </a:solidFill>
          <a:ln w="12700">
            <a:solidFill>
              <a:srgbClr val="2E2E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420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3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2 · 03/11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MVP: React + API + MySQL, com CRUD e o pedido gravado no banco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1C1C3A"/>
          </a:solidFill>
          <a:ln w="12700">
            <a:solidFill>
              <a:srgbClr val="2E2E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25420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3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3 · 26/11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completo, hospedado na nuvem, com relatório final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11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3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Protótipo 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https://costamaiavitor.github.io/Site-Zero-Grau/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3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https://github.com/costamaiavitor/Site-Zero-Grau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B9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Equipe: Vitor Custodio, João Vitor, Caio, Vitor e Christian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Grau — Entrega 1: Plano de Trabalho</dc:title>
  <dc:subject>PptxGenJS Presentation</dc:subject>
  <dc:creator>PptxGenJS</dc:creator>
  <cp:lastModifiedBy>PptxGenJS</cp:lastModifiedBy>
  <cp:revision>1</cp:revision>
  <dcterms:created xsi:type="dcterms:W3CDTF">2026-09-29T13:36:56Z</dcterms:created>
  <dcterms:modified xsi:type="dcterms:W3CDTF">2026-09-29T13:36:56Z</dcterms:modified>
</cp:coreProperties>
</file>
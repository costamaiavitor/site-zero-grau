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
Boa noite. Somos Vitor Custodio, João Vitor, Caio, Vitor e Christian, e vamos apresentar o Plano de Trabalho do nosso trabalho final: o Zero Grau, um sistema web de pedidos para uma distribuidora de bebidas de Fortaleza, que vende tanto para quem consome quanto para quem revende.
Na apresentação passamos por escopo, casos de uso, requisitos, telas, banco de dados, arquitetura, equipe e cronograma. A imagem ao lado é o protótipo que já está no 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
O problema real: a distribuidora atende dois públicos com necessidades opostas. O consumidor quer uma unidade gelada entregue rápido; o revendedor quer caixa fechada com preço de atacado. Os dois disputam o mesmo estoque.
Sem sistema, preço, estoque e taxa de entrega são informados à mão e os pedidos não ficam registrados.
A funcionalidade principal é o pedido online em duas vitrines: quem se cadastra com CPF compra no varejo; com CNPJ, no atacado. O fluxo vai do cadastro ao pedido gravado no banco e enviado ao WhatsApp da loja, e o dono mantém tudo por um painel.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[Vitor (diagramas)]
São três públicos. O consumidor final, maior de 18 anos e dentro da área de entrega, que compra por unidade e quase sempre pelo celular; por isso o layout é pensado primeiro para o celular.
O revendedor, identificado pelo CNPJ, que compra por caixa fechada, com desconto de revenda e um pedido mínimo próprio. Para ele a tela é uma tabela mais sóbria.
E o administrador, o dono da distribuidora, que precisa mudar preço, estoque e promoção sem depender de programador.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[Caio] (front-end) e [Vitor Custodio] (back-end e banco)
Front-end: HTML, JavaScript, React e Bootstrap, exatamente o que o enunciado pede. React porque as duas lojas e o painel repetem componentes, como o card do produto e o carrinho; Bootstrap pela grade responsiva.
Back-end: Node.js com Express, a mesma linguagem do front. A senha é guardada com bcrypt e a sessão usa token JWT.
Banco: MySQL. Os dados são relacionais, pedido tem itens e itens apontam para produtos, e precisamos de transação para não vender o que não existe no estoque.
As integrações com ViaCEP, WhatsApp e Pix já funcionam no protótipo. Front-end hospedado na Vercel, como sugere o enunciado.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[Vitor (diagramas)]
Na loja o ator é o Cliente, que se especializa em Consumidor, com CPF, e Revendedor, com CNPJ.
São seis casos principais: criar conta, entrar, consultar catálogo, montar carrinho, finalizar pedido e consultar meus pedidos.
Finalizar pedido sempre inclui calcular a entrega pelo CEP, que consulta o ViaCEP, registrar o pedido e enviar ao WhatsApp. Pagar com Pix é uma extensão opcional. Comprar por caixa fechada estende o carrinho, e é o que muda para o revendedor.
O documento descreve os seis fluxos passo a passo, com fluxos alternativos, como CEP fora do raio e loja fechada.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[Vitor (diagramas)]
No painel o ator é o administrador. Ele entra com perfil de administrador e tem cinco casos principais: gerenciar produtos, com envio de foto; configurar as regras de venda do varejo e do atacado, incluindo cupom e faixas por volume; configurar os dados da loja, como chave Pix e horário; e gerenciar pedidos.
Ao gerenciar pedidos ele muda o status, de recebido até entregue, e o estoque é atualizado.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[João Vitor]
Levantamos 21 requisitos funcionais e 11 não funcionais; a tabela completa está nas seções 4 e 5 do documento, com prioridade, caso de uso e em qual entrega cada um fica pronto.
Dez entram no MVP da Entrega 2: aviso de maioridade, cadastro, direcionamento pela loja do documento, catálogo lido do banco, carrinho, entrega pelo CEP, finalizar pedido, envio ao WhatsApp, CRUD de produtos e lista de pedidos.
Nos não funcionais destaco dois: o total é sempre recalculado no servidor, porque não se confia no preço que vem do navegador, e a venda de bebida alcoólica só para maiores de 18, exigência do ECA.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[Caio]
Estas são telas do protótipo navegável que já está no ar, que serve de wireframe de alta fidelidade. A porta pede primeiro a confirmação de maioridade e depois só e-mail e senha; o CPF ou CNPJ é pedido uma vez, em Criar conta, e decide a loja. A tela de início mostra se a loja está aberta, a taxa de entrega e o pedido mínimo antes do catálogo.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[Caio]
No catálogo o cliente busca, filtra por categoria e adiciona ao carrinho. O carrinho mostra subtotal, cupom e total. No fechamento o CEP preenche a rua pelo ViaCEP, o sistema calcula a entrega e o cliente escolhe entre pagar pelo site ou enviar o pedido pelo WhatsApp e pagar na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[Caio]
O Pix gera QR code e copia e cola com o valor exato do pedido. O atacado é uma tabela por caixa fechada, com preço por unidade e por caixa. E o painel edita produtos, fotos e as regras das duas lojas. Na Etapa 2 essas telas são refeitas em React com Bootstrap, com a mesma estrutura.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[João Vitor]
O banco é MySQL, com doze entidades. O núcleo é usuário, pedido, item do pedido e produto. Cada pedido tem pelo menos um item, e o item guarda o preço do momento da compra, para que mudar o preço depois não altere pedidos antigos.
Pagamento é um para um com o pedido. O endereço é opcional no pedido, porque retirada no balcão não tem endereço.
Embaixo fica a configuração da loja: horário, regras de venda do varejo e do atacado e as faixas de desconto por volume. Tudo isso é editado pelo painel. O dicionário de dados está na seção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[Vitor Custodio]
A arquitetura tem três camadas. O front-end em React roda no navegador e só conversa com a API. A API em Node e Express concentra as regras de negócio e é a única que acessa o MySQL. A comunicação é REST com JSON, e depois do login cada chamada leva o token JWT.
Duas decisões importantes: o preço e o frete são recalculados no servidor, e o pedido e a baixa de estoque acontecem na mesma transação.
ViaCEP e WhatsApp são chamados pelo navegador. O front vai para a Vercel; o provedor da API e do banco escolhemos na Sprint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
Somos cinco, em três frentes. No back-end, Vitor Custodio e João Vitor: servidor Node com Express, banco MySQL, autenticação e as regras de preço, frete e estoque. No front-end, Caio e Vitor: a interface em React com Bootstrap e a ligação com a API; o Vitor também faz os diagramas e os wireframes. Eu, Christian, cuido da documentação: o plano, os relatórios das próximas entregas e o registro do andamento de cada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[Caio]
Para o desenvolvimento inicial, o MVP da Entrega 2, escolhemos o que o enunciado pede nessa etapa: interface responsiva e CRUD integrado ao banco.
São sete funcionalidades: aviso de maioridade e cadastro, catálogo lido do banco, carrinho, entrega pelo CEP, finalizar pedido gravando no banco e enviando ao WhatsApp, CRUD de produtos no painel e a lista de pedidos com status.
Seis já existem no protótipo; o que muda é que passam a gravar no MySQL pela API. A lista de pedidos é nova. Login com token, busca, atacado e Pix ficam para a Entrega 3, como pede o enunciado da Etapa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
O cronograma segue o calendário da disciplina e tem seis sprints. A Sprint 0, de 2 a 25 de setembro, começou logo depois da definição das equipes e já está concluída: é o protótipo que mostramos. A Sprint 1 é este planejamento, que fecha hoje, 29 de setembro, na Entrega 1.
As Sprints 2 e 3, de 30 de setembro a 3 de novembro, constroem o MVP: primeiro a base do back-end com MySQL e CRUD, depois a interface em React integrada à API. Elas fecham na Entrega 2, em 3 de novembro. A Sprint 4 traz as funcionalidades avançadas e a Sprint 5 a hospedagem, os testes e o relatório final, que fecham na Entrega 3, em 26 de novembro.
Cada requisito vira uma issue no GitHub, para acompanhar o andamento de cada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[Christian]
Esse é o nosso plano. O protótipo está no ar no endereço do slide e todo o código está no repositório. Obrigado, ficamos à disposição para perguntas.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21"/>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0D0D21"/>
          </a:solidFill>
          <a:ln w="15875">
            <a:solidFill>
              <a:srgbClr val="FF307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8A8AA0"/>
                </a:solidFill>
                <a:latin typeface="Arial" pitchFamily="34" charset="0"/>
                <a:ea typeface="Arial" pitchFamily="34" charset="-122"/>
                <a:cs typeface="Arial" pitchFamily="34" charset="-120"/>
              </a:rPr>
              <a:t>1</a:t>
            </a:r>
            <a:endParaRPr lang="en-US" sz="900" dirty="0"/>
          </a:p>
        </p:txBody>
      </p:sp>
      <p:sp>
        <p:nvSpPr>
          <p:cNvPr id="5" name="Shape 3"/>
          <p:cNvSpPr/>
          <p:nvPr/>
        </p:nvSpPr>
        <p:spPr>
          <a:xfrm>
            <a:off x="4892040" y="0"/>
            <a:ext cx="4251960" cy="5143500"/>
          </a:xfrm>
          <a:prstGeom prst="rect">
            <a:avLst/>
          </a:prstGeom>
          <a:solidFill>
            <a:srgbClr val="14142C"/>
          </a:solidFill>
          <a:ln w="12700">
            <a:solidFill>
              <a:srgbClr val="14142C"/>
            </a:solidFill>
            <a:prstDash val="solid"/>
          </a:ln>
        </p:spPr>
      </p:sp>
      <p:sp>
        <p:nvSpPr>
          <p:cNvPr id="6" name="Shape 4"/>
          <p:cNvSpPr/>
          <p:nvPr/>
        </p:nvSpPr>
        <p:spPr>
          <a:xfrm>
            <a:off x="5029200" y="4160520"/>
            <a:ext cx="3977640" cy="365760"/>
          </a:xfrm>
          <a:prstGeom prst="ellipse">
            <a:avLst/>
          </a:prstGeom>
          <a:solidFill>
            <a:srgbClr val="22224A"/>
          </a:solidFill>
          <a:ln w="12700">
            <a:solidFill>
              <a:srgbClr val="22224A"/>
            </a:solidFill>
            <a:prstDash val="solid"/>
          </a:ln>
        </p:spPr>
      </p:sp>
      <p:pic>
        <p:nvPicPr>
          <p:cNvPr id="7" name="Image 0" descr="preencoded.png">    </p:cNvPr>
          <p:cNvPicPr>
            <a:picLocks noChangeAspect="1"/>
          </p:cNvPicPr>
          <p:nvPr/>
        </p:nvPicPr>
        <p:blipFill>
          <a:blip r:embed="rId1"/>
          <a:stretch>
            <a:fillRect/>
          </a:stretch>
        </p:blipFill>
        <p:spPr>
          <a:xfrm>
            <a:off x="5285209" y="2412187"/>
            <a:ext cx="589020" cy="1931213"/>
          </a:xfrm>
          <a:prstGeom prst="rect">
            <a:avLst/>
          </a:prstGeom>
        </p:spPr>
      </p:pic>
      <p:pic>
        <p:nvPicPr>
          <p:cNvPr id="8" name="Image 1" descr="preencoded.png">    </p:cNvPr>
          <p:cNvPicPr>
            <a:picLocks noChangeAspect="1"/>
          </p:cNvPicPr>
          <p:nvPr/>
        </p:nvPicPr>
        <p:blipFill>
          <a:blip r:embed="rId2"/>
          <a:stretch>
            <a:fillRect/>
          </a:stretch>
        </p:blipFill>
        <p:spPr>
          <a:xfrm>
            <a:off x="5874229" y="2492654"/>
            <a:ext cx="643134" cy="1850746"/>
          </a:xfrm>
          <a:prstGeom prst="rect">
            <a:avLst/>
          </a:prstGeom>
        </p:spPr>
      </p:pic>
      <p:pic>
        <p:nvPicPr>
          <p:cNvPr id="9" name="Image 2" descr="preencoded.png">    </p:cNvPr>
          <p:cNvPicPr>
            <a:picLocks noChangeAspect="1"/>
          </p:cNvPicPr>
          <p:nvPr/>
        </p:nvPicPr>
        <p:blipFill>
          <a:blip r:embed="rId3"/>
          <a:stretch>
            <a:fillRect/>
          </a:stretch>
        </p:blipFill>
        <p:spPr>
          <a:xfrm>
            <a:off x="6517363" y="3297326"/>
            <a:ext cx="423660" cy="1046074"/>
          </a:xfrm>
          <a:prstGeom prst="rect">
            <a:avLst/>
          </a:prstGeom>
        </p:spPr>
      </p:pic>
      <p:pic>
        <p:nvPicPr>
          <p:cNvPr id="10" name="Image 3" descr="preencoded.png">    </p:cNvPr>
          <p:cNvPicPr>
            <a:picLocks noChangeAspect="1"/>
          </p:cNvPicPr>
          <p:nvPr/>
        </p:nvPicPr>
        <p:blipFill>
          <a:blip r:embed="rId4"/>
          <a:stretch>
            <a:fillRect/>
          </a:stretch>
        </p:blipFill>
        <p:spPr>
          <a:xfrm>
            <a:off x="6941023" y="2452421"/>
            <a:ext cx="723300" cy="1890979"/>
          </a:xfrm>
          <a:prstGeom prst="rect">
            <a:avLst/>
          </a:prstGeom>
        </p:spPr>
      </p:pic>
      <p:pic>
        <p:nvPicPr>
          <p:cNvPr id="11" name="Image 4" descr="preencoded.png">    </p:cNvPr>
          <p:cNvPicPr>
            <a:picLocks noChangeAspect="1"/>
          </p:cNvPicPr>
          <p:nvPr/>
        </p:nvPicPr>
        <p:blipFill>
          <a:blip r:embed="rId5"/>
          <a:stretch>
            <a:fillRect/>
          </a:stretch>
        </p:blipFill>
        <p:spPr>
          <a:xfrm>
            <a:off x="7664322" y="3458261"/>
            <a:ext cx="358481" cy="885139"/>
          </a:xfrm>
          <a:prstGeom prst="rect">
            <a:avLst/>
          </a:prstGeom>
        </p:spPr>
      </p:pic>
      <p:pic>
        <p:nvPicPr>
          <p:cNvPr id="12" name="Image 5" descr="preencoded.png">    </p:cNvPr>
          <p:cNvPicPr>
            <a:picLocks noChangeAspect="1"/>
          </p:cNvPicPr>
          <p:nvPr/>
        </p:nvPicPr>
        <p:blipFill>
          <a:blip r:embed="rId6"/>
          <a:stretch>
            <a:fillRect/>
          </a:stretch>
        </p:blipFill>
        <p:spPr>
          <a:xfrm>
            <a:off x="8022804" y="2452421"/>
            <a:ext cx="728027" cy="1890979"/>
          </a:xfrm>
          <a:prstGeom prst="rect">
            <a:avLst/>
          </a:prstGeom>
        </p:spPr>
      </p:pic>
      <p:sp>
        <p:nvSpPr>
          <p:cNvPr id="13" name="Shape 5"/>
          <p:cNvSpPr/>
          <p:nvPr/>
        </p:nvSpPr>
        <p:spPr>
          <a:xfrm>
            <a:off x="8275320" y="292608"/>
            <a:ext cx="411480" cy="411480"/>
          </a:xfrm>
          <a:prstGeom prst="roundRect">
            <a:avLst>
              <a:gd name="adj" fmla="val 13333"/>
            </a:avLst>
          </a:prstGeom>
          <a:solidFill>
            <a:srgbClr val="0D0D21"/>
          </a:solidFill>
          <a:ln w="15875">
            <a:solidFill>
              <a:srgbClr val="FF307A"/>
            </a:solidFill>
            <a:prstDash val="solid"/>
          </a:ln>
        </p:spPr>
      </p:sp>
      <p:sp>
        <p:nvSpPr>
          <p:cNvPr id="14" name="Text 6"/>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a:t>
            </a:r>
            <a:endParaRPr lang="en-US" sz="1300" dirty="0"/>
          </a:p>
        </p:txBody>
      </p:sp>
      <p:sp>
        <p:nvSpPr>
          <p:cNvPr id="15" name="Text 7"/>
          <p:cNvSpPr txBox="1"/>
          <p:nvPr/>
        </p:nvSpPr>
        <p:spPr>
          <a:xfrm>
            <a:off x="457200" y="1005840"/>
            <a:ext cx="4206240" cy="274320"/>
          </a:xfrm>
          <a:prstGeom prst="rect">
            <a:avLst/>
          </a:prstGeom>
          <a:noFill/>
          <a:ln/>
        </p:spPr>
        <p:txBody>
          <a:bodyPr wrap="square" lIns="0" tIns="0" rIns="0" bIns="0" rtlCol="0" anchor="t"/>
          <a:lstStyle/>
          <a:p>
            <a:pPr indent="0" marL="0">
              <a:buNone/>
            </a:pPr>
            <a:r>
              <a:rPr lang="en-US" sz="1200" b="1" spc="300" kern="0" dirty="0">
                <a:solidFill>
                  <a:srgbClr val="FF307A"/>
                </a:solidFill>
                <a:latin typeface="Arial" pitchFamily="34" charset="0"/>
                <a:ea typeface="Arial" pitchFamily="34" charset="-122"/>
                <a:cs typeface="Arial" pitchFamily="34" charset="-120"/>
              </a:rPr>
              <a:t>TRABALHO FINAL · ENTREGA 1</a:t>
            </a:r>
            <a:endParaRPr lang="en-US" sz="1200" dirty="0"/>
          </a:p>
        </p:txBody>
      </p:sp>
      <p:sp>
        <p:nvSpPr>
          <p:cNvPr id="16" name="Text 8"/>
          <p:cNvSpPr txBox="1"/>
          <p:nvPr/>
        </p:nvSpPr>
        <p:spPr>
          <a:xfrm>
            <a:off x="457200" y="1325880"/>
            <a:ext cx="4206240" cy="73152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Plano de Trabalho</a:t>
            </a:r>
            <a:endParaRPr lang="en-US" sz="3600" dirty="0"/>
          </a:p>
        </p:txBody>
      </p:sp>
      <p:sp>
        <p:nvSpPr>
          <p:cNvPr id="17" name="Text 9"/>
          <p:cNvSpPr txBox="1"/>
          <p:nvPr/>
        </p:nvSpPr>
        <p:spPr>
          <a:xfrm>
            <a:off x="457200" y="2148840"/>
            <a:ext cx="4206240" cy="411480"/>
          </a:xfrm>
          <a:prstGeom prst="rect">
            <a:avLst/>
          </a:prstGeom>
          <a:noFill/>
          <a:ln/>
        </p:spPr>
        <p:txBody>
          <a:bodyPr wrap="square" lIns="0" tIns="0" rIns="0" bIns="0" rtlCol="0" anchor="t"/>
          <a:lstStyle/>
          <a:p>
            <a:pPr indent="0" marL="0">
              <a:buNone/>
            </a:pPr>
            <a:r>
              <a:rPr lang="en-US" sz="2200" b="1" spc="200" kern="0" dirty="0">
                <a:solidFill>
                  <a:srgbClr val="00E5D0"/>
                </a:solidFill>
                <a:latin typeface="Arial" pitchFamily="34" charset="0"/>
                <a:ea typeface="Arial" pitchFamily="34" charset="-122"/>
                <a:cs typeface="Arial" pitchFamily="34" charset="-120"/>
              </a:rPr>
              <a:t>ZERO GRAU</a:t>
            </a:r>
            <a:endParaRPr lang="en-US" sz="2200" dirty="0"/>
          </a:p>
        </p:txBody>
      </p:sp>
      <p:sp>
        <p:nvSpPr>
          <p:cNvPr id="18" name="Text 10"/>
          <p:cNvSpPr txBox="1"/>
          <p:nvPr/>
        </p:nvSpPr>
        <p:spPr>
          <a:xfrm>
            <a:off x="457200" y="2606040"/>
            <a:ext cx="4023360" cy="640080"/>
          </a:xfrm>
          <a:prstGeom prst="rect">
            <a:avLst/>
          </a:prstGeom>
          <a:noFill/>
          <a:ln/>
        </p:spPr>
        <p:txBody>
          <a:bodyPr wrap="square" lIns="0" tIns="0" rIns="0" bIns="0" rtlCol="0" anchor="t"/>
          <a:lstStyle/>
          <a:p>
            <a:pPr indent="0" marL="0">
              <a:buNone/>
            </a:pPr>
            <a:r>
              <a:rPr lang="en-US" sz="1500" dirty="0">
                <a:solidFill>
                  <a:srgbClr val="DFE0EE"/>
                </a:solidFill>
                <a:latin typeface="Arial" pitchFamily="34" charset="0"/>
                <a:ea typeface="Arial" pitchFamily="34" charset="-122"/>
                <a:cs typeface="Arial" pitchFamily="34" charset="-120"/>
              </a:rPr>
              <a:t>Sistema web de pedidos para distribuidora de bebidas — varejo e atacado</a:t>
            </a:r>
            <a:endParaRPr lang="en-US" sz="1500" dirty="0"/>
          </a:p>
        </p:txBody>
      </p:sp>
      <p:sp>
        <p:nvSpPr>
          <p:cNvPr id="19" name="Text 11"/>
          <p:cNvSpPr txBox="1"/>
          <p:nvPr/>
        </p:nvSpPr>
        <p:spPr>
          <a:xfrm>
            <a:off x="457200" y="3474720"/>
            <a:ext cx="4206240" cy="1234440"/>
          </a:xfrm>
          <a:prstGeom prst="rect">
            <a:avLst/>
          </a:prstGeom>
          <a:noFill/>
          <a:ln/>
        </p:spPr>
        <p:txBody>
          <a:bodyPr wrap="square" lIns="0" tIns="0" rIns="0" bIns="0" rtlCol="0" anchor="t"/>
          <a:lstStyle/>
          <a:p>
            <a:pPr indent="0" marL="0">
              <a:spcAft>
                <a:spcPts val="300"/>
              </a:spcAft>
              <a:buNone/>
            </a:pPr>
            <a:r>
              <a:rPr lang="en-US" sz="1100" b="1" dirty="0">
                <a:solidFill>
                  <a:srgbClr val="B8B9CC"/>
                </a:solidFill>
                <a:latin typeface="Arial" pitchFamily="34" charset="0"/>
                <a:ea typeface="Arial" pitchFamily="34" charset="-122"/>
                <a:cs typeface="Arial" pitchFamily="34" charset="-120"/>
              </a:rPr>
              <a:t>Disciplina: </a:t>
            </a:r>
            <a:pPr indent="0" marL="0">
              <a:spcAft>
                <a:spcPts val="300"/>
              </a:spcAft>
              <a:buNone/>
            </a:pPr>
            <a:r>
              <a:rPr lang="en-US" sz="1100" dirty="0">
                <a:solidFill>
                  <a:srgbClr val="B8B9CC"/>
                </a:solidFill>
                <a:latin typeface="Arial" pitchFamily="34" charset="0"/>
                <a:ea typeface="Arial" pitchFamily="34" charset="-122"/>
                <a:cs typeface="Arial" pitchFamily="34" charset="-120"/>
              </a:rPr>
              <a:t>Desenvolvimento de Plataformas Web</a:t>
            </a:r>
            <a:endParaRPr lang="en-US" sz="1100" dirty="0"/>
          </a:p>
          <a:p>
            <a:pPr indent="0" marL="0">
              <a:spcAft>
                <a:spcPts val="300"/>
              </a:spcAft>
              <a:buNone/>
            </a:pPr>
            <a:r>
              <a:rPr lang="en-US" sz="1100" b="1" dirty="0">
                <a:solidFill>
                  <a:srgbClr val="B8B9CC"/>
                </a:solidFill>
                <a:latin typeface="Arial" pitchFamily="34" charset="0"/>
                <a:ea typeface="Arial" pitchFamily="34" charset="-122"/>
                <a:cs typeface="Arial" pitchFamily="34" charset="-120"/>
              </a:rPr>
              <a:t>Curso: </a:t>
            </a:r>
            <a:pPr indent="0" marL="0">
              <a:spcAft>
                <a:spcPts val="300"/>
              </a:spcAft>
              <a:buNone/>
            </a:pPr>
            <a:r>
              <a:rPr lang="en-US" sz="1100" dirty="0">
                <a:solidFill>
                  <a:srgbClr val="B8B9CC"/>
                </a:solidFill>
                <a:latin typeface="Arial" pitchFamily="34" charset="0"/>
                <a:ea typeface="Arial" pitchFamily="34" charset="-122"/>
                <a:cs typeface="Arial" pitchFamily="34" charset="-120"/>
              </a:rPr>
              <a:t>Ciência da Computação · Unifor</a:t>
            </a:r>
            <a:endParaRPr lang="en-US" sz="1100" dirty="0"/>
          </a:p>
          <a:p>
            <a:pPr indent="0" marL="0">
              <a:spcAft>
                <a:spcPts val="300"/>
              </a:spcAft>
              <a:buNone/>
            </a:pPr>
            <a:r>
              <a:rPr lang="en-US" sz="1100" b="1" dirty="0">
                <a:solidFill>
                  <a:srgbClr val="B8B9CC"/>
                </a:solidFill>
                <a:latin typeface="Arial" pitchFamily="34" charset="0"/>
                <a:ea typeface="Arial" pitchFamily="34" charset="-122"/>
                <a:cs typeface="Arial" pitchFamily="34" charset="-120"/>
              </a:rPr>
              <a:t>Professor: </a:t>
            </a:r>
            <a:pPr indent="0" marL="0">
              <a:spcAft>
                <a:spcPts val="300"/>
              </a:spcAft>
              <a:buNone/>
            </a:pPr>
            <a:r>
              <a:rPr lang="en-US" sz="1100" dirty="0">
                <a:solidFill>
                  <a:srgbClr val="B8B9CC"/>
                </a:solidFill>
                <a:latin typeface="Arial" pitchFamily="34" charset="0"/>
                <a:ea typeface="Arial" pitchFamily="34" charset="-122"/>
                <a:cs typeface="Arial" pitchFamily="34" charset="-120"/>
              </a:rPr>
              <a:t>Francisco Estevão</a:t>
            </a:r>
            <a:endParaRPr lang="en-US" sz="1100" dirty="0"/>
          </a:p>
          <a:p>
            <a:pPr indent="0" marL="0">
              <a:spcAft>
                <a:spcPts val="300"/>
              </a:spcAft>
              <a:buNone/>
            </a:pPr>
            <a:r>
              <a:rPr lang="en-US" sz="1100" b="1" dirty="0">
                <a:solidFill>
                  <a:srgbClr val="B8B9CC"/>
                </a:solidFill>
                <a:latin typeface="Arial" pitchFamily="34" charset="0"/>
                <a:ea typeface="Arial" pitchFamily="34" charset="-122"/>
                <a:cs typeface="Arial" pitchFamily="34" charset="-120"/>
              </a:rPr>
              <a:t>Equipe: </a:t>
            </a:r>
            <a:pPr indent="0" marL="0">
              <a:spcAft>
                <a:spcPts val="300"/>
              </a:spcAft>
              <a:buNone/>
            </a:pPr>
            <a:r>
              <a:rPr lang="en-US" sz="1100" dirty="0">
                <a:solidFill>
                  <a:srgbClr val="B8B9CC"/>
                </a:solidFill>
                <a:latin typeface="Arial" pitchFamily="34" charset="0"/>
                <a:ea typeface="Arial" pitchFamily="34" charset="-122"/>
                <a:cs typeface="Arial" pitchFamily="34" charset="-120"/>
              </a:rPr>
              <a:t>Vitor Custodio, João Vitor, Caio, Vitor e Christian</a:t>
            </a:r>
            <a:endParaRPr lang="en-US" sz="1100" dirty="0"/>
          </a:p>
          <a:p>
            <a:pPr indent="0" marL="0">
              <a:spcAft>
                <a:spcPts val="300"/>
              </a:spcAft>
              <a:buNone/>
            </a:pPr>
            <a:r>
              <a:rPr lang="en-US" sz="1100" b="1" dirty="0">
                <a:solidFill>
                  <a:srgbClr val="B8B9CC"/>
                </a:solidFill>
                <a:latin typeface="Arial" pitchFamily="34" charset="0"/>
                <a:ea typeface="Arial" pitchFamily="34" charset="-122"/>
                <a:cs typeface="Arial" pitchFamily="34" charset="-120"/>
              </a:rPr>
              <a:t>Data: </a:t>
            </a:r>
            <a:pPr indent="0" marL="0">
              <a:spcAft>
                <a:spcPts val="300"/>
              </a:spcAft>
              <a:buNone/>
            </a:pPr>
            <a:r>
              <a:rPr lang="en-US" sz="1100" dirty="0">
                <a:solidFill>
                  <a:srgbClr val="B8B9CC"/>
                </a:solidFill>
                <a:latin typeface="Arial" pitchFamily="34" charset="0"/>
                <a:ea typeface="Arial" pitchFamily="34" charset="-122"/>
                <a:cs typeface="Arial" pitchFamily="34" charset="-120"/>
              </a:rPr>
              <a:t>29/09/2026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2</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Problema e escopo</a:t>
            </a:r>
            <a:endParaRPr lang="en-US" sz="2800" dirty="0"/>
          </a:p>
        </p:txBody>
      </p:sp>
      <p:sp>
        <p:nvSpPr>
          <p:cNvPr id="6" name="Text 4"/>
          <p:cNvSpPr txBox="1"/>
          <p:nvPr/>
        </p:nvSpPr>
        <p:spPr>
          <a:xfrm>
            <a:off x="457200" y="1005840"/>
            <a:ext cx="3931920" cy="457200"/>
          </a:xfrm>
          <a:prstGeom prst="rect">
            <a:avLst/>
          </a:prstGeom>
          <a:noFill/>
          <a:ln/>
        </p:spPr>
        <p:txBody>
          <a:bodyPr wrap="square" lIns="0" tIns="0" rIns="0" bIns="0" rtlCol="0" anchor="t"/>
          <a:lstStyle/>
          <a:p>
            <a:pPr indent="0" marL="0">
              <a:buNone/>
            </a:pPr>
            <a:r>
              <a:rPr lang="en-US" sz="2000" b="1" dirty="0">
                <a:solidFill>
                  <a:srgbClr val="C2185B"/>
                </a:solidFill>
                <a:latin typeface="Arial" pitchFamily="34" charset="0"/>
                <a:ea typeface="Arial" pitchFamily="34" charset="-122"/>
                <a:cs typeface="Arial" pitchFamily="34" charset="-120"/>
              </a:rPr>
              <a:t>Dois públicos, um só estoque</a:t>
            </a:r>
            <a:endParaRPr lang="en-US" sz="2000" dirty="0"/>
          </a:p>
        </p:txBody>
      </p:sp>
      <p:sp>
        <p:nvSpPr>
          <p:cNvPr id="7" name="Text 5"/>
          <p:cNvSpPr txBox="1"/>
          <p:nvPr/>
        </p:nvSpPr>
        <p:spPr>
          <a:xfrm>
            <a:off x="457200" y="1554480"/>
            <a:ext cx="384048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1B3A"/>
                </a:solidFill>
                <a:latin typeface="Arial" pitchFamily="34" charset="0"/>
                <a:ea typeface="Arial" pitchFamily="34" charset="-122"/>
                <a:cs typeface="Arial" pitchFamily="34" charset="-120"/>
              </a:rPr>
              <a:t>Consumidor quer a unidade, gelada, entregue rápido.</a:t>
            </a:r>
            <a:endParaRPr lang="en-US" sz="1400" dirty="0"/>
          </a:p>
          <a:p>
            <a:pPr marL="342900" indent="-342900">
              <a:spcAft>
                <a:spcPts val="800"/>
              </a:spcAft>
              <a:buSzPct val="100000"/>
              <a:buChar char="•"/>
            </a:pPr>
            <a:r>
              <a:rPr lang="en-US" sz="1400" dirty="0">
                <a:solidFill>
                  <a:srgbClr val="1B1B3A"/>
                </a:solidFill>
                <a:latin typeface="Arial" pitchFamily="34" charset="0"/>
                <a:ea typeface="Arial" pitchFamily="34" charset="-122"/>
                <a:cs typeface="Arial" pitchFamily="34" charset="-120"/>
              </a:rPr>
              <a:t>Revendedor quer caixa fechada e preço de atacado.</a:t>
            </a:r>
            <a:endParaRPr lang="en-US" sz="1400" dirty="0"/>
          </a:p>
          <a:p>
            <a:pPr marL="342900" indent="-342900">
              <a:spcAft>
                <a:spcPts val="800"/>
              </a:spcAft>
              <a:buSzPct val="100000"/>
              <a:buChar char="•"/>
            </a:pPr>
            <a:r>
              <a:rPr lang="en-US" sz="1400" dirty="0">
                <a:solidFill>
                  <a:srgbClr val="1B1B3A"/>
                </a:solidFill>
                <a:latin typeface="Arial" pitchFamily="34" charset="0"/>
                <a:ea typeface="Arial" pitchFamily="34" charset="-122"/>
                <a:cs typeface="Arial" pitchFamily="34" charset="-120"/>
              </a:rPr>
              <a:t>Sem sistema: preço, estoque e frete informados à mão e nenhum registro dos pedidos.</a:t>
            </a:r>
            <a:endParaRPr lang="en-US" sz="1400" dirty="0"/>
          </a:p>
        </p:txBody>
      </p:sp>
      <p:sp>
        <p:nvSpPr>
          <p:cNvPr id="8" name="Shape 6"/>
          <p:cNvSpPr/>
          <p:nvPr/>
        </p:nvSpPr>
        <p:spPr>
          <a:xfrm>
            <a:off x="4663440" y="1005840"/>
            <a:ext cx="4023360" cy="3657600"/>
          </a:xfrm>
          <a:prstGeom prst="roundRect">
            <a:avLst>
              <a:gd name="adj" fmla="val 2000"/>
            </a:avLst>
          </a:prstGeom>
          <a:solidFill>
            <a:srgbClr val="F4F4F8"/>
          </a:solidFill>
          <a:ln w="12700">
            <a:solidFill>
              <a:srgbClr val="F4F4F8"/>
            </a:solidFill>
            <a:prstDash val="solid"/>
          </a:ln>
        </p:spPr>
      </p:sp>
      <p:sp>
        <p:nvSpPr>
          <p:cNvPr id="9" name="Text 7"/>
          <p:cNvSpPr txBox="1"/>
          <p:nvPr/>
        </p:nvSpPr>
        <p:spPr>
          <a:xfrm>
            <a:off x="4937760" y="1188720"/>
            <a:ext cx="3566160" cy="274320"/>
          </a:xfrm>
          <a:prstGeom prst="rect">
            <a:avLst/>
          </a:prstGeom>
          <a:noFill/>
          <a:ln/>
        </p:spPr>
        <p:txBody>
          <a:bodyPr wrap="square" lIns="0" tIns="0" rIns="0" bIns="0" rtlCol="0" anchor="t"/>
          <a:lstStyle/>
          <a:p>
            <a:pPr indent="0" marL="0">
              <a:buNone/>
            </a:pPr>
            <a:r>
              <a:rPr lang="en-US" sz="1100" b="1" spc="200" kern="0" dirty="0">
                <a:solidFill>
                  <a:srgbClr val="C2185B"/>
                </a:solidFill>
                <a:latin typeface="Arial" pitchFamily="34" charset="0"/>
                <a:ea typeface="Arial" pitchFamily="34" charset="-122"/>
                <a:cs typeface="Arial" pitchFamily="34" charset="-120"/>
              </a:rPr>
              <a:t>FUNCIONALIDADE PRINCIPAL</a:t>
            </a:r>
            <a:endParaRPr lang="en-US" sz="1100" dirty="0"/>
          </a:p>
        </p:txBody>
      </p:sp>
      <p:sp>
        <p:nvSpPr>
          <p:cNvPr id="10" name="Text 8"/>
          <p:cNvSpPr txBox="1"/>
          <p:nvPr/>
        </p:nvSpPr>
        <p:spPr>
          <a:xfrm>
            <a:off x="4937760" y="1508760"/>
            <a:ext cx="3566160" cy="640080"/>
          </a:xfrm>
          <a:prstGeom prst="rect">
            <a:avLst/>
          </a:prstGeom>
          <a:noFill/>
          <a:ln/>
        </p:spPr>
        <p:txBody>
          <a:bodyPr wrap="square" lIns="0" tIns="0" rIns="0" bIns="0" rtlCol="0" anchor="t"/>
          <a:lstStyle/>
          <a:p>
            <a:pPr indent="0" marL="0">
              <a:buNone/>
            </a:pPr>
            <a:r>
              <a:rPr lang="en-US" sz="1500" b="1" dirty="0">
                <a:solidFill>
                  <a:srgbClr val="1B1B3A"/>
                </a:solidFill>
                <a:latin typeface="Arial" pitchFamily="34" charset="0"/>
                <a:ea typeface="Arial" pitchFamily="34" charset="-122"/>
                <a:cs typeface="Arial" pitchFamily="34" charset="-120"/>
              </a:rPr>
              <a:t>Pedido online em duas vitrines: CPF compra no varejo, CNPJ compra no atacado.</a:t>
            </a:r>
            <a:endParaRPr lang="en-US" sz="1500" dirty="0"/>
          </a:p>
        </p:txBody>
      </p:sp>
      <p:sp>
        <p:nvSpPr>
          <p:cNvPr id="11" name="Shape 9"/>
          <p:cNvSpPr/>
          <p:nvPr/>
        </p:nvSpPr>
        <p:spPr>
          <a:xfrm>
            <a:off x="4937760" y="2286000"/>
            <a:ext cx="292608" cy="292608"/>
          </a:xfrm>
          <a:prstGeom prst="ellipse">
            <a:avLst/>
          </a:prstGeom>
          <a:solidFill>
            <a:srgbClr val="C2185B"/>
          </a:solidFill>
          <a:ln w="12700">
            <a:solidFill>
              <a:srgbClr val="C2185B"/>
            </a:solidFill>
            <a:prstDash val="solid"/>
          </a:ln>
        </p:spPr>
      </p:sp>
      <p:pic>
        <p:nvPicPr>
          <p:cNvPr id="12" name="Image 0" descr="preencoded.png">    </p:cNvPr>
          <p:cNvPicPr>
            <a:picLocks noChangeAspect="1"/>
          </p:cNvPicPr>
          <p:nvPr/>
        </p:nvPicPr>
        <p:blipFill>
          <a:blip r:embed="rId1"/>
          <a:stretch>
            <a:fillRect/>
          </a:stretch>
        </p:blipFill>
        <p:spPr>
          <a:xfrm>
            <a:off x="5007986" y="2356226"/>
            <a:ext cx="152156" cy="152156"/>
          </a:xfrm>
          <a:prstGeom prst="rect">
            <a:avLst/>
          </a:prstGeom>
        </p:spPr>
      </p:pic>
      <p:sp>
        <p:nvSpPr>
          <p:cNvPr id="13" name="Text 10"/>
          <p:cNvSpPr txBox="1"/>
          <p:nvPr/>
        </p:nvSpPr>
        <p:spPr>
          <a:xfrm>
            <a:off x="5349240" y="2304288"/>
            <a:ext cx="3200400" cy="274320"/>
          </a:xfrm>
          <a:prstGeom prst="rect">
            <a:avLst/>
          </a:prstGeom>
          <a:noFill/>
          <a:ln/>
        </p:spPr>
        <p:txBody>
          <a:bodyPr wrap="square" lIns="0" tIns="0" rIns="0" bIns="0" rtlCol="0" anchor="ctr"/>
          <a:lstStyle/>
          <a:p>
            <a:pPr indent="0" marL="0">
              <a:buNone/>
            </a:pPr>
            <a:r>
              <a:rPr lang="en-US" sz="1200" dirty="0">
                <a:solidFill>
                  <a:srgbClr val="1B1B3A"/>
                </a:solidFill>
                <a:latin typeface="Arial" pitchFamily="34" charset="0"/>
                <a:ea typeface="Arial" pitchFamily="34" charset="-122"/>
                <a:cs typeface="Arial" pitchFamily="34" charset="-120"/>
              </a:rPr>
              <a:t>Cadastro com CPF ou CNPJ</a:t>
            </a:r>
            <a:endParaRPr lang="en-US" sz="1200" dirty="0"/>
          </a:p>
        </p:txBody>
      </p:sp>
      <p:sp>
        <p:nvSpPr>
          <p:cNvPr id="14" name="Shape 11"/>
          <p:cNvSpPr/>
          <p:nvPr/>
        </p:nvSpPr>
        <p:spPr>
          <a:xfrm>
            <a:off x="4937760" y="2670048"/>
            <a:ext cx="292608" cy="292608"/>
          </a:xfrm>
          <a:prstGeom prst="ellipse">
            <a:avLst/>
          </a:prstGeom>
          <a:solidFill>
            <a:srgbClr val="C2185B"/>
          </a:solidFill>
          <a:ln w="12700">
            <a:solidFill>
              <a:srgbClr val="C2185B"/>
            </a:solidFill>
            <a:prstDash val="solid"/>
          </a:ln>
        </p:spPr>
      </p:sp>
      <p:pic>
        <p:nvPicPr>
          <p:cNvPr id="15" name="Image 1" descr="preencoded.png">    </p:cNvPr>
          <p:cNvPicPr>
            <a:picLocks noChangeAspect="1"/>
          </p:cNvPicPr>
          <p:nvPr/>
        </p:nvPicPr>
        <p:blipFill>
          <a:blip r:embed="rId2"/>
          <a:stretch>
            <a:fillRect/>
          </a:stretch>
        </p:blipFill>
        <p:spPr>
          <a:xfrm>
            <a:off x="5007986" y="2740274"/>
            <a:ext cx="152156" cy="152156"/>
          </a:xfrm>
          <a:prstGeom prst="rect">
            <a:avLst/>
          </a:prstGeom>
        </p:spPr>
      </p:pic>
      <p:sp>
        <p:nvSpPr>
          <p:cNvPr id="16" name="Text 12"/>
          <p:cNvSpPr txBox="1"/>
          <p:nvPr/>
        </p:nvSpPr>
        <p:spPr>
          <a:xfrm>
            <a:off x="5349240" y="2688336"/>
            <a:ext cx="3200400" cy="274320"/>
          </a:xfrm>
          <a:prstGeom prst="rect">
            <a:avLst/>
          </a:prstGeom>
          <a:noFill/>
          <a:ln/>
        </p:spPr>
        <p:txBody>
          <a:bodyPr wrap="square" lIns="0" tIns="0" rIns="0" bIns="0" rtlCol="0" anchor="ctr"/>
          <a:lstStyle/>
          <a:p>
            <a:pPr indent="0" marL="0">
              <a:buNone/>
            </a:pPr>
            <a:r>
              <a:rPr lang="en-US" sz="1200" dirty="0">
                <a:solidFill>
                  <a:srgbClr val="1B1B3A"/>
                </a:solidFill>
                <a:latin typeface="Arial" pitchFamily="34" charset="0"/>
                <a:ea typeface="Arial" pitchFamily="34" charset="-122"/>
                <a:cs typeface="Arial" pitchFamily="34" charset="-120"/>
              </a:rPr>
              <a:t>Catálogo e carrinho</a:t>
            </a:r>
            <a:endParaRPr lang="en-US" sz="1200" dirty="0"/>
          </a:p>
        </p:txBody>
      </p:sp>
      <p:sp>
        <p:nvSpPr>
          <p:cNvPr id="17" name="Shape 13"/>
          <p:cNvSpPr/>
          <p:nvPr/>
        </p:nvSpPr>
        <p:spPr>
          <a:xfrm>
            <a:off x="4937760" y="3054096"/>
            <a:ext cx="292608" cy="292608"/>
          </a:xfrm>
          <a:prstGeom prst="ellipse">
            <a:avLst/>
          </a:prstGeom>
          <a:solidFill>
            <a:srgbClr val="C2185B"/>
          </a:solidFill>
          <a:ln w="12700">
            <a:solidFill>
              <a:srgbClr val="C2185B"/>
            </a:solidFill>
            <a:prstDash val="solid"/>
          </a:ln>
        </p:spPr>
      </p:sp>
      <p:pic>
        <p:nvPicPr>
          <p:cNvPr id="18" name="Image 2" descr="preencoded.png">    </p:cNvPr>
          <p:cNvPicPr>
            <a:picLocks noChangeAspect="1"/>
          </p:cNvPicPr>
          <p:nvPr/>
        </p:nvPicPr>
        <p:blipFill>
          <a:blip r:embed="rId3"/>
          <a:stretch>
            <a:fillRect/>
          </a:stretch>
        </p:blipFill>
        <p:spPr>
          <a:xfrm>
            <a:off x="5007986" y="3124322"/>
            <a:ext cx="152156" cy="152156"/>
          </a:xfrm>
          <a:prstGeom prst="rect">
            <a:avLst/>
          </a:prstGeom>
        </p:spPr>
      </p:pic>
      <p:sp>
        <p:nvSpPr>
          <p:cNvPr id="19" name="Text 14"/>
          <p:cNvSpPr txBox="1"/>
          <p:nvPr/>
        </p:nvSpPr>
        <p:spPr>
          <a:xfrm>
            <a:off x="5349240" y="3072384"/>
            <a:ext cx="3200400" cy="274320"/>
          </a:xfrm>
          <a:prstGeom prst="rect">
            <a:avLst/>
          </a:prstGeom>
          <a:noFill/>
          <a:ln/>
        </p:spPr>
        <p:txBody>
          <a:bodyPr wrap="square" lIns="0" tIns="0" rIns="0" bIns="0" rtlCol="0" anchor="ctr"/>
          <a:lstStyle/>
          <a:p>
            <a:pPr indent="0" marL="0">
              <a:buNone/>
            </a:pPr>
            <a:r>
              <a:rPr lang="en-US" sz="1200" dirty="0">
                <a:solidFill>
                  <a:srgbClr val="1B1B3A"/>
                </a:solidFill>
                <a:latin typeface="Arial" pitchFamily="34" charset="0"/>
                <a:ea typeface="Arial" pitchFamily="34" charset="-122"/>
                <a:cs typeface="Arial" pitchFamily="34" charset="-120"/>
              </a:rPr>
              <a:t>Entrega calculada pelo CEP</a:t>
            </a:r>
            <a:endParaRPr lang="en-US" sz="1200" dirty="0"/>
          </a:p>
        </p:txBody>
      </p:sp>
      <p:sp>
        <p:nvSpPr>
          <p:cNvPr id="20" name="Shape 15"/>
          <p:cNvSpPr/>
          <p:nvPr/>
        </p:nvSpPr>
        <p:spPr>
          <a:xfrm>
            <a:off x="4937760" y="3438144"/>
            <a:ext cx="292608" cy="292608"/>
          </a:xfrm>
          <a:prstGeom prst="ellipse">
            <a:avLst/>
          </a:prstGeom>
          <a:solidFill>
            <a:srgbClr val="C2185B"/>
          </a:solidFill>
          <a:ln w="12700">
            <a:solidFill>
              <a:srgbClr val="C2185B"/>
            </a:solidFill>
            <a:prstDash val="solid"/>
          </a:ln>
        </p:spPr>
      </p:sp>
      <p:pic>
        <p:nvPicPr>
          <p:cNvPr id="21" name="Image 3" descr="preencoded.png">    </p:cNvPr>
          <p:cNvPicPr>
            <a:picLocks noChangeAspect="1"/>
          </p:cNvPicPr>
          <p:nvPr/>
        </p:nvPicPr>
        <p:blipFill>
          <a:blip r:embed="rId4"/>
          <a:stretch>
            <a:fillRect/>
          </a:stretch>
        </p:blipFill>
        <p:spPr>
          <a:xfrm>
            <a:off x="5007986" y="3508370"/>
            <a:ext cx="152156" cy="152156"/>
          </a:xfrm>
          <a:prstGeom prst="rect">
            <a:avLst/>
          </a:prstGeom>
        </p:spPr>
      </p:pic>
      <p:sp>
        <p:nvSpPr>
          <p:cNvPr id="22" name="Text 16"/>
          <p:cNvSpPr txBox="1"/>
          <p:nvPr/>
        </p:nvSpPr>
        <p:spPr>
          <a:xfrm>
            <a:off x="5349240" y="3456432"/>
            <a:ext cx="3200400" cy="274320"/>
          </a:xfrm>
          <a:prstGeom prst="rect">
            <a:avLst/>
          </a:prstGeom>
          <a:noFill/>
          <a:ln/>
        </p:spPr>
        <p:txBody>
          <a:bodyPr wrap="square" lIns="0" tIns="0" rIns="0" bIns="0" rtlCol="0" anchor="ctr"/>
          <a:lstStyle/>
          <a:p>
            <a:pPr indent="0" marL="0">
              <a:buNone/>
            </a:pPr>
            <a:r>
              <a:rPr lang="en-US" sz="1200" dirty="0">
                <a:solidFill>
                  <a:srgbClr val="1B1B3A"/>
                </a:solidFill>
                <a:latin typeface="Arial" pitchFamily="34" charset="0"/>
                <a:ea typeface="Arial" pitchFamily="34" charset="-122"/>
                <a:cs typeface="Arial" pitchFamily="34" charset="-120"/>
              </a:rPr>
              <a:t>Pix no site ou pagamento na entrega</a:t>
            </a:r>
            <a:endParaRPr lang="en-US" sz="1200" dirty="0"/>
          </a:p>
        </p:txBody>
      </p:sp>
      <p:sp>
        <p:nvSpPr>
          <p:cNvPr id="23" name="Shape 17"/>
          <p:cNvSpPr/>
          <p:nvPr/>
        </p:nvSpPr>
        <p:spPr>
          <a:xfrm>
            <a:off x="4937760" y="3822192"/>
            <a:ext cx="292608" cy="292608"/>
          </a:xfrm>
          <a:prstGeom prst="ellipse">
            <a:avLst/>
          </a:prstGeom>
          <a:solidFill>
            <a:srgbClr val="C2185B"/>
          </a:solidFill>
          <a:ln w="12700">
            <a:solidFill>
              <a:srgbClr val="C2185B"/>
            </a:solidFill>
            <a:prstDash val="solid"/>
          </a:ln>
        </p:spPr>
      </p:sp>
      <p:pic>
        <p:nvPicPr>
          <p:cNvPr id="24" name="Image 4" descr="preencoded.png">    </p:cNvPr>
          <p:cNvPicPr>
            <a:picLocks noChangeAspect="1"/>
          </p:cNvPicPr>
          <p:nvPr/>
        </p:nvPicPr>
        <p:blipFill>
          <a:blip r:embed="rId5"/>
          <a:stretch>
            <a:fillRect/>
          </a:stretch>
        </p:blipFill>
        <p:spPr>
          <a:xfrm>
            <a:off x="5007986" y="3892418"/>
            <a:ext cx="152156" cy="152156"/>
          </a:xfrm>
          <a:prstGeom prst="rect">
            <a:avLst/>
          </a:prstGeom>
        </p:spPr>
      </p:pic>
      <p:sp>
        <p:nvSpPr>
          <p:cNvPr id="25" name="Text 18"/>
          <p:cNvSpPr txBox="1"/>
          <p:nvPr/>
        </p:nvSpPr>
        <p:spPr>
          <a:xfrm>
            <a:off x="5349240" y="3840480"/>
            <a:ext cx="3200400" cy="274320"/>
          </a:xfrm>
          <a:prstGeom prst="rect">
            <a:avLst/>
          </a:prstGeom>
          <a:noFill/>
          <a:ln/>
        </p:spPr>
        <p:txBody>
          <a:bodyPr wrap="square" lIns="0" tIns="0" rIns="0" bIns="0" rtlCol="0" anchor="ctr"/>
          <a:lstStyle/>
          <a:p>
            <a:pPr indent="0" marL="0">
              <a:buNone/>
            </a:pPr>
            <a:r>
              <a:rPr lang="en-US" sz="1200" dirty="0">
                <a:solidFill>
                  <a:srgbClr val="1B1B3A"/>
                </a:solidFill>
                <a:latin typeface="Arial" pitchFamily="34" charset="0"/>
                <a:ea typeface="Arial" pitchFamily="34" charset="-122"/>
                <a:cs typeface="Arial" pitchFamily="34" charset="-120"/>
              </a:rPr>
              <a:t>Pedido gravado e enviado ao WhatsApp</a:t>
            </a:r>
            <a:endParaRPr lang="en-US" sz="1200" dirty="0"/>
          </a:p>
        </p:txBody>
      </p:sp>
      <p:sp>
        <p:nvSpPr>
          <p:cNvPr id="26" name="Shape 19"/>
          <p:cNvSpPr/>
          <p:nvPr/>
        </p:nvSpPr>
        <p:spPr>
          <a:xfrm>
            <a:off x="4937760" y="4206240"/>
            <a:ext cx="292608" cy="292608"/>
          </a:xfrm>
          <a:prstGeom prst="ellipse">
            <a:avLst/>
          </a:prstGeom>
          <a:solidFill>
            <a:srgbClr val="C2185B"/>
          </a:solidFill>
          <a:ln w="12700">
            <a:solidFill>
              <a:srgbClr val="C2185B"/>
            </a:solidFill>
            <a:prstDash val="solid"/>
          </a:ln>
        </p:spPr>
      </p:sp>
      <p:pic>
        <p:nvPicPr>
          <p:cNvPr id="27" name="Image 5" descr="preencoded.png">    </p:cNvPr>
          <p:cNvPicPr>
            <a:picLocks noChangeAspect="1"/>
          </p:cNvPicPr>
          <p:nvPr/>
        </p:nvPicPr>
        <p:blipFill>
          <a:blip r:embed="rId6"/>
          <a:stretch>
            <a:fillRect/>
          </a:stretch>
        </p:blipFill>
        <p:spPr>
          <a:xfrm>
            <a:off x="5007986" y="4276466"/>
            <a:ext cx="152156" cy="152156"/>
          </a:xfrm>
          <a:prstGeom prst="rect">
            <a:avLst/>
          </a:prstGeom>
        </p:spPr>
      </p:pic>
      <p:sp>
        <p:nvSpPr>
          <p:cNvPr id="28" name="Text 20"/>
          <p:cNvSpPr txBox="1"/>
          <p:nvPr/>
        </p:nvSpPr>
        <p:spPr>
          <a:xfrm>
            <a:off x="5349240" y="4224528"/>
            <a:ext cx="3200400" cy="274320"/>
          </a:xfrm>
          <a:prstGeom prst="rect">
            <a:avLst/>
          </a:prstGeom>
          <a:noFill/>
          <a:ln/>
        </p:spPr>
        <p:txBody>
          <a:bodyPr wrap="square" lIns="0" tIns="0" rIns="0" bIns="0" rtlCol="0" anchor="ctr"/>
          <a:lstStyle/>
          <a:p>
            <a:pPr indent="0" marL="0">
              <a:buNone/>
            </a:pPr>
            <a:r>
              <a:rPr lang="en-US" sz="1200" dirty="0">
                <a:solidFill>
                  <a:srgbClr val="1B1B3A"/>
                </a:solidFill>
                <a:latin typeface="Arial" pitchFamily="34" charset="0"/>
                <a:ea typeface="Arial" pitchFamily="34" charset="-122"/>
                <a:cs typeface="Arial" pitchFamily="34" charset="-120"/>
              </a:rPr>
              <a:t>Painel: produtos, regras e pedidos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3</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Público-alvo</a:t>
            </a:r>
            <a:endParaRPr lang="en-US" sz="2800" dirty="0"/>
          </a:p>
        </p:txBody>
      </p:sp>
      <p:sp>
        <p:nvSpPr>
          <p:cNvPr id="6" name="Shape 4"/>
          <p:cNvSpPr/>
          <p:nvPr/>
        </p:nvSpPr>
        <p:spPr>
          <a:xfrm>
            <a:off x="457200" y="1143000"/>
            <a:ext cx="2606040" cy="3291840"/>
          </a:xfrm>
          <a:prstGeom prst="roundRect">
            <a:avLst>
              <a:gd name="adj" fmla="val 2807"/>
            </a:avLst>
          </a:prstGeom>
          <a:solidFill>
            <a:srgbClr val="F4F4F8"/>
          </a:solidFill>
          <a:ln w="12700">
            <a:solidFill>
              <a:srgbClr val="F4F4F8"/>
            </a:solidFill>
            <a:prstDash val="solid"/>
          </a:ln>
        </p:spPr>
      </p:sp>
      <p:sp>
        <p:nvSpPr>
          <p:cNvPr id="7" name="Shape 5"/>
          <p:cNvSpPr/>
          <p:nvPr/>
        </p:nvSpPr>
        <p:spPr>
          <a:xfrm>
            <a:off x="731520" y="1371600"/>
            <a:ext cx="640080" cy="640080"/>
          </a:xfrm>
          <a:prstGeom prst="ellipse">
            <a:avLst/>
          </a:prstGeom>
          <a:solidFill>
            <a:srgbClr val="C2185B"/>
          </a:solidFill>
          <a:ln w="12700">
            <a:solidFill>
              <a:srgbClr val="C2185B"/>
            </a:solidFill>
            <a:prstDash val="solid"/>
          </a:ln>
        </p:spPr>
      </p:sp>
      <p:pic>
        <p:nvPicPr>
          <p:cNvPr id="8" name="Image 0" descr="preencoded.png">    </p:cNvPr>
          <p:cNvPicPr>
            <a:picLocks noChangeAspect="1"/>
          </p:cNvPicPr>
          <p:nvPr/>
        </p:nvPicPr>
        <p:blipFill>
          <a:blip r:embed="rId1"/>
          <a:stretch>
            <a:fillRect/>
          </a:stretch>
        </p:blipFill>
        <p:spPr>
          <a:xfrm>
            <a:off x="885139" y="1525219"/>
            <a:ext cx="332842" cy="332842"/>
          </a:xfrm>
          <a:prstGeom prst="rect">
            <a:avLst/>
          </a:prstGeom>
        </p:spPr>
      </p:pic>
      <p:sp>
        <p:nvSpPr>
          <p:cNvPr id="9" name="Text 6"/>
          <p:cNvSpPr txBox="1"/>
          <p:nvPr/>
        </p:nvSpPr>
        <p:spPr>
          <a:xfrm>
            <a:off x="731520" y="2194560"/>
            <a:ext cx="2103120" cy="365760"/>
          </a:xfrm>
          <a:prstGeom prst="rect">
            <a:avLst/>
          </a:prstGeom>
          <a:noFill/>
          <a:ln/>
        </p:spPr>
        <p:txBody>
          <a:bodyPr wrap="square" lIns="0" tIns="0" rIns="0" bIns="0" rtlCol="0" anchor="t"/>
          <a:lstStyle/>
          <a:p>
            <a:pPr indent="0" marL="0">
              <a:buNone/>
            </a:pPr>
            <a:r>
              <a:rPr lang="en-US" sz="1800" b="1" dirty="0">
                <a:solidFill>
                  <a:srgbClr val="1B1B3A"/>
                </a:solidFill>
                <a:latin typeface="Arial" pitchFamily="34" charset="0"/>
                <a:ea typeface="Arial" pitchFamily="34" charset="-122"/>
                <a:cs typeface="Arial" pitchFamily="34" charset="-120"/>
              </a:rPr>
              <a:t>Consumidor final</a:t>
            </a:r>
            <a:endParaRPr lang="en-US" sz="1800" dirty="0"/>
          </a:p>
        </p:txBody>
      </p:sp>
      <p:sp>
        <p:nvSpPr>
          <p:cNvPr id="10" name="Text 7"/>
          <p:cNvSpPr txBox="1"/>
          <p:nvPr/>
        </p:nvSpPr>
        <p:spPr>
          <a:xfrm>
            <a:off x="731520" y="2578608"/>
            <a:ext cx="2103120" cy="274320"/>
          </a:xfrm>
          <a:prstGeom prst="rect">
            <a:avLst/>
          </a:prstGeom>
          <a:noFill/>
          <a:ln/>
        </p:spPr>
        <p:txBody>
          <a:bodyPr wrap="square" lIns="0" tIns="0" rIns="0" bIns="0" rtlCol="0" anchor="t"/>
          <a:lstStyle/>
          <a:p>
            <a:pPr indent="0" marL="0">
              <a:buNone/>
            </a:pPr>
            <a:r>
              <a:rPr lang="en-US" sz="1200" b="1" dirty="0">
                <a:solidFill>
                  <a:srgbClr val="C2185B"/>
                </a:solidFill>
                <a:latin typeface="Arial" pitchFamily="34" charset="0"/>
                <a:ea typeface="Arial" pitchFamily="34" charset="-122"/>
                <a:cs typeface="Arial" pitchFamily="34" charset="-120"/>
              </a:rPr>
              <a:t>CPF · loja de varejo</a:t>
            </a:r>
            <a:endParaRPr lang="en-US" sz="1200" dirty="0"/>
          </a:p>
        </p:txBody>
      </p:sp>
      <p:sp>
        <p:nvSpPr>
          <p:cNvPr id="11" name="Text 8"/>
          <p:cNvSpPr txBox="1"/>
          <p:nvPr/>
        </p:nvSpPr>
        <p:spPr>
          <a:xfrm>
            <a:off x="731520" y="2971800"/>
            <a:ext cx="2103120" cy="1280160"/>
          </a:xfrm>
          <a:prstGeom prst="rect">
            <a:avLst/>
          </a:prstGeom>
          <a:noFill/>
          <a:ln/>
        </p:spPr>
        <p:txBody>
          <a:bodyPr wrap="square" lIns="0" tIns="0" rIns="0" bIns="0" rtlCol="0" anchor="t"/>
          <a:lstStyle/>
          <a:p>
            <a:pPr indent="0" marL="0">
              <a:buNone/>
            </a:pPr>
            <a:r>
              <a:rPr lang="en-US" sz="1250" dirty="0">
                <a:solidFill>
                  <a:srgbClr val="5A5A70"/>
                </a:solidFill>
                <a:latin typeface="Arial" pitchFamily="34" charset="0"/>
                <a:ea typeface="Arial" pitchFamily="34" charset="-122"/>
                <a:cs typeface="Arial" pitchFamily="34" charset="-120"/>
              </a:rPr>
              <a:t>Maior de 18 anos, na área de entrega. Compra por unidade, quase sempre pelo celular.</a:t>
            </a:r>
            <a:endParaRPr lang="en-US" sz="1250" dirty="0"/>
          </a:p>
        </p:txBody>
      </p:sp>
      <p:sp>
        <p:nvSpPr>
          <p:cNvPr id="12" name="Shape 9"/>
          <p:cNvSpPr/>
          <p:nvPr/>
        </p:nvSpPr>
        <p:spPr>
          <a:xfrm>
            <a:off x="3264408" y="1143000"/>
            <a:ext cx="2606040" cy="3291840"/>
          </a:xfrm>
          <a:prstGeom prst="roundRect">
            <a:avLst>
              <a:gd name="adj" fmla="val 2807"/>
            </a:avLst>
          </a:prstGeom>
          <a:solidFill>
            <a:srgbClr val="F4F4F8"/>
          </a:solidFill>
          <a:ln w="12700">
            <a:solidFill>
              <a:srgbClr val="F4F4F8"/>
            </a:solidFill>
            <a:prstDash val="solid"/>
          </a:ln>
        </p:spPr>
      </p:sp>
      <p:sp>
        <p:nvSpPr>
          <p:cNvPr id="13" name="Shape 10"/>
          <p:cNvSpPr/>
          <p:nvPr/>
        </p:nvSpPr>
        <p:spPr>
          <a:xfrm>
            <a:off x="3538728" y="1371600"/>
            <a:ext cx="640080" cy="640080"/>
          </a:xfrm>
          <a:prstGeom prst="ellipse">
            <a:avLst/>
          </a:prstGeom>
          <a:solidFill>
            <a:srgbClr val="C2185B"/>
          </a:solidFill>
          <a:ln w="12700">
            <a:solidFill>
              <a:srgbClr val="C2185B"/>
            </a:solidFill>
            <a:prstDash val="solid"/>
          </a:ln>
        </p:spPr>
      </p:sp>
      <p:pic>
        <p:nvPicPr>
          <p:cNvPr id="14" name="Image 1" descr="preencoded.png">    </p:cNvPr>
          <p:cNvPicPr>
            <a:picLocks noChangeAspect="1"/>
          </p:cNvPicPr>
          <p:nvPr/>
        </p:nvPicPr>
        <p:blipFill>
          <a:blip r:embed="rId2"/>
          <a:stretch>
            <a:fillRect/>
          </a:stretch>
        </p:blipFill>
        <p:spPr>
          <a:xfrm>
            <a:off x="3692347" y="1525219"/>
            <a:ext cx="332842" cy="332842"/>
          </a:xfrm>
          <a:prstGeom prst="rect">
            <a:avLst/>
          </a:prstGeom>
        </p:spPr>
      </p:pic>
      <p:sp>
        <p:nvSpPr>
          <p:cNvPr id="15" name="Text 11"/>
          <p:cNvSpPr txBox="1"/>
          <p:nvPr/>
        </p:nvSpPr>
        <p:spPr>
          <a:xfrm>
            <a:off x="3538728" y="2194560"/>
            <a:ext cx="2103120" cy="365760"/>
          </a:xfrm>
          <a:prstGeom prst="rect">
            <a:avLst/>
          </a:prstGeom>
          <a:noFill/>
          <a:ln/>
        </p:spPr>
        <p:txBody>
          <a:bodyPr wrap="square" lIns="0" tIns="0" rIns="0" bIns="0" rtlCol="0" anchor="t"/>
          <a:lstStyle/>
          <a:p>
            <a:pPr indent="0" marL="0">
              <a:buNone/>
            </a:pPr>
            <a:r>
              <a:rPr lang="en-US" sz="1800" b="1" dirty="0">
                <a:solidFill>
                  <a:srgbClr val="1B1B3A"/>
                </a:solidFill>
                <a:latin typeface="Arial" pitchFamily="34" charset="0"/>
                <a:ea typeface="Arial" pitchFamily="34" charset="-122"/>
                <a:cs typeface="Arial" pitchFamily="34" charset="-120"/>
              </a:rPr>
              <a:t>Revendedor</a:t>
            </a:r>
            <a:endParaRPr lang="en-US" sz="1800" dirty="0"/>
          </a:p>
        </p:txBody>
      </p:sp>
      <p:sp>
        <p:nvSpPr>
          <p:cNvPr id="16" name="Text 12"/>
          <p:cNvSpPr txBox="1"/>
          <p:nvPr/>
        </p:nvSpPr>
        <p:spPr>
          <a:xfrm>
            <a:off x="3538728" y="2578608"/>
            <a:ext cx="2103120" cy="274320"/>
          </a:xfrm>
          <a:prstGeom prst="rect">
            <a:avLst/>
          </a:prstGeom>
          <a:noFill/>
          <a:ln/>
        </p:spPr>
        <p:txBody>
          <a:bodyPr wrap="square" lIns="0" tIns="0" rIns="0" bIns="0" rtlCol="0" anchor="t"/>
          <a:lstStyle/>
          <a:p>
            <a:pPr indent="0" marL="0">
              <a:buNone/>
            </a:pPr>
            <a:r>
              <a:rPr lang="en-US" sz="1200" b="1" dirty="0">
                <a:solidFill>
                  <a:srgbClr val="C2185B"/>
                </a:solidFill>
                <a:latin typeface="Arial" pitchFamily="34" charset="0"/>
                <a:ea typeface="Arial" pitchFamily="34" charset="-122"/>
                <a:cs typeface="Arial" pitchFamily="34" charset="-120"/>
              </a:rPr>
              <a:t>CNPJ · balcão de atacado</a:t>
            </a:r>
            <a:endParaRPr lang="en-US" sz="1200" dirty="0"/>
          </a:p>
        </p:txBody>
      </p:sp>
      <p:sp>
        <p:nvSpPr>
          <p:cNvPr id="17" name="Text 13"/>
          <p:cNvSpPr txBox="1"/>
          <p:nvPr/>
        </p:nvSpPr>
        <p:spPr>
          <a:xfrm>
            <a:off x="3538728" y="2971800"/>
            <a:ext cx="2103120" cy="1280160"/>
          </a:xfrm>
          <a:prstGeom prst="rect">
            <a:avLst/>
          </a:prstGeom>
          <a:noFill/>
          <a:ln/>
        </p:spPr>
        <p:txBody>
          <a:bodyPr wrap="square" lIns="0" tIns="0" rIns="0" bIns="0" rtlCol="0" anchor="t"/>
          <a:lstStyle/>
          <a:p>
            <a:pPr indent="0" marL="0">
              <a:buNone/>
            </a:pPr>
            <a:r>
              <a:rPr lang="en-US" sz="1250" dirty="0">
                <a:solidFill>
                  <a:srgbClr val="5A5A70"/>
                </a:solidFill>
                <a:latin typeface="Arial" pitchFamily="34" charset="0"/>
                <a:ea typeface="Arial" pitchFamily="34" charset="-122"/>
                <a:cs typeface="Arial" pitchFamily="34" charset="-120"/>
              </a:rPr>
              <a:t>Comércio que revende bebidas. Caixa fechada, desconto de revenda e pedido mínimo próprio.</a:t>
            </a:r>
            <a:endParaRPr lang="en-US" sz="1250" dirty="0"/>
          </a:p>
        </p:txBody>
      </p:sp>
      <p:sp>
        <p:nvSpPr>
          <p:cNvPr id="18" name="Shape 14"/>
          <p:cNvSpPr/>
          <p:nvPr/>
        </p:nvSpPr>
        <p:spPr>
          <a:xfrm>
            <a:off x="6071616" y="1143000"/>
            <a:ext cx="2606040" cy="3291840"/>
          </a:xfrm>
          <a:prstGeom prst="roundRect">
            <a:avLst>
              <a:gd name="adj" fmla="val 2807"/>
            </a:avLst>
          </a:prstGeom>
          <a:solidFill>
            <a:srgbClr val="F4F4F8"/>
          </a:solidFill>
          <a:ln w="12700">
            <a:solidFill>
              <a:srgbClr val="F4F4F8"/>
            </a:solidFill>
            <a:prstDash val="solid"/>
          </a:ln>
        </p:spPr>
      </p:sp>
      <p:sp>
        <p:nvSpPr>
          <p:cNvPr id="19" name="Shape 15"/>
          <p:cNvSpPr/>
          <p:nvPr/>
        </p:nvSpPr>
        <p:spPr>
          <a:xfrm>
            <a:off x="6345936" y="1371600"/>
            <a:ext cx="640080" cy="640080"/>
          </a:xfrm>
          <a:prstGeom prst="ellipse">
            <a:avLst/>
          </a:prstGeom>
          <a:solidFill>
            <a:srgbClr val="1B1B3A"/>
          </a:solidFill>
          <a:ln w="12700">
            <a:solidFill>
              <a:srgbClr val="1B1B3A"/>
            </a:solidFill>
            <a:prstDash val="solid"/>
          </a:ln>
        </p:spPr>
      </p:sp>
      <p:pic>
        <p:nvPicPr>
          <p:cNvPr id="20" name="Image 2" descr="preencoded.png">    </p:cNvPr>
          <p:cNvPicPr>
            <a:picLocks noChangeAspect="1"/>
          </p:cNvPicPr>
          <p:nvPr/>
        </p:nvPicPr>
        <p:blipFill>
          <a:blip r:embed="rId3"/>
          <a:stretch>
            <a:fillRect/>
          </a:stretch>
        </p:blipFill>
        <p:spPr>
          <a:xfrm>
            <a:off x="6499555" y="1525219"/>
            <a:ext cx="332842" cy="332842"/>
          </a:xfrm>
          <a:prstGeom prst="rect">
            <a:avLst/>
          </a:prstGeom>
        </p:spPr>
      </p:pic>
      <p:sp>
        <p:nvSpPr>
          <p:cNvPr id="21" name="Text 16"/>
          <p:cNvSpPr txBox="1"/>
          <p:nvPr/>
        </p:nvSpPr>
        <p:spPr>
          <a:xfrm>
            <a:off x="6345936" y="2194560"/>
            <a:ext cx="2103120" cy="365760"/>
          </a:xfrm>
          <a:prstGeom prst="rect">
            <a:avLst/>
          </a:prstGeom>
          <a:noFill/>
          <a:ln/>
        </p:spPr>
        <p:txBody>
          <a:bodyPr wrap="square" lIns="0" tIns="0" rIns="0" bIns="0" rtlCol="0" anchor="t"/>
          <a:lstStyle/>
          <a:p>
            <a:pPr indent="0" marL="0">
              <a:buNone/>
            </a:pPr>
            <a:r>
              <a:rPr lang="en-US" sz="1800" b="1" dirty="0">
                <a:solidFill>
                  <a:srgbClr val="1B1B3A"/>
                </a:solidFill>
                <a:latin typeface="Arial" pitchFamily="34" charset="0"/>
                <a:ea typeface="Arial" pitchFamily="34" charset="-122"/>
                <a:cs typeface="Arial" pitchFamily="34" charset="-120"/>
              </a:rPr>
              <a:t>Administrador</a:t>
            </a:r>
            <a:endParaRPr lang="en-US" sz="1800" dirty="0"/>
          </a:p>
        </p:txBody>
      </p:sp>
      <p:sp>
        <p:nvSpPr>
          <p:cNvPr id="22" name="Text 17"/>
          <p:cNvSpPr txBox="1"/>
          <p:nvPr/>
        </p:nvSpPr>
        <p:spPr>
          <a:xfrm>
            <a:off x="6345936" y="2578608"/>
            <a:ext cx="2103120" cy="274320"/>
          </a:xfrm>
          <a:prstGeom prst="rect">
            <a:avLst/>
          </a:prstGeom>
          <a:noFill/>
          <a:ln/>
        </p:spPr>
        <p:txBody>
          <a:bodyPr wrap="square" lIns="0" tIns="0" rIns="0" bIns="0" rtlCol="0" anchor="t"/>
          <a:lstStyle/>
          <a:p>
            <a:pPr indent="0" marL="0">
              <a:buNone/>
            </a:pPr>
            <a:r>
              <a:rPr lang="en-US" sz="1200" b="1" dirty="0">
                <a:solidFill>
                  <a:srgbClr val="C2185B"/>
                </a:solidFill>
                <a:latin typeface="Arial" pitchFamily="34" charset="0"/>
                <a:ea typeface="Arial" pitchFamily="34" charset="-122"/>
                <a:cs typeface="Arial" pitchFamily="34" charset="-120"/>
              </a:rPr>
              <a:t>Dono ou equipe da loja</a:t>
            </a:r>
            <a:endParaRPr lang="en-US" sz="1200" dirty="0"/>
          </a:p>
        </p:txBody>
      </p:sp>
      <p:sp>
        <p:nvSpPr>
          <p:cNvPr id="23" name="Text 18"/>
          <p:cNvSpPr txBox="1"/>
          <p:nvPr/>
        </p:nvSpPr>
        <p:spPr>
          <a:xfrm>
            <a:off x="6345936" y="2971800"/>
            <a:ext cx="2103120" cy="1280160"/>
          </a:xfrm>
          <a:prstGeom prst="rect">
            <a:avLst/>
          </a:prstGeom>
          <a:noFill/>
          <a:ln/>
        </p:spPr>
        <p:txBody>
          <a:bodyPr wrap="square" lIns="0" tIns="0" rIns="0" bIns="0" rtlCol="0" anchor="t"/>
          <a:lstStyle/>
          <a:p>
            <a:pPr indent="0" marL="0">
              <a:buNone/>
            </a:pPr>
            <a:r>
              <a:rPr lang="en-US" sz="1250" dirty="0">
                <a:solidFill>
                  <a:srgbClr val="5A5A70"/>
                </a:solidFill>
                <a:latin typeface="Arial" pitchFamily="34" charset="0"/>
                <a:ea typeface="Arial" pitchFamily="34" charset="-122"/>
                <a:cs typeface="Arial" pitchFamily="34" charset="-120"/>
              </a:rPr>
              <a:t>Mantém catálogo, preços, estoque, regras, horário e Pix, e acompanha os pedidos.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4</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Tecnologias</a:t>
            </a:r>
            <a:endParaRPr lang="en-US" sz="2800" dirty="0"/>
          </a:p>
        </p:txBody>
      </p:sp>
      <p:sp>
        <p:nvSpPr>
          <p:cNvPr id="6" name="Shape 4"/>
          <p:cNvSpPr/>
          <p:nvPr/>
        </p:nvSpPr>
        <p:spPr>
          <a:xfrm>
            <a:off x="457200" y="1005840"/>
            <a:ext cx="2606040" cy="2788920"/>
          </a:xfrm>
          <a:prstGeom prst="roundRect">
            <a:avLst>
              <a:gd name="adj" fmla="val 2807"/>
            </a:avLst>
          </a:prstGeom>
          <a:solidFill>
            <a:srgbClr val="F4F4F8"/>
          </a:solidFill>
          <a:ln w="12700">
            <a:solidFill>
              <a:srgbClr val="F4F4F8"/>
            </a:solidFill>
            <a:prstDash val="solid"/>
          </a:ln>
        </p:spPr>
      </p:sp>
      <p:sp>
        <p:nvSpPr>
          <p:cNvPr id="7" name="Shape 5"/>
          <p:cNvSpPr/>
          <p:nvPr/>
        </p:nvSpPr>
        <p:spPr>
          <a:xfrm>
            <a:off x="685800" y="1188720"/>
            <a:ext cx="502920" cy="502920"/>
          </a:xfrm>
          <a:prstGeom prst="ellipse">
            <a:avLst/>
          </a:prstGeom>
          <a:solidFill>
            <a:srgbClr val="C2185B"/>
          </a:solidFill>
          <a:ln w="12700">
            <a:solidFill>
              <a:srgbClr val="C2185B"/>
            </a:solidFill>
            <a:prstDash val="solid"/>
          </a:ln>
        </p:spPr>
      </p:sp>
      <p:pic>
        <p:nvPicPr>
          <p:cNvPr id="8" name="Image 0" descr="preencoded.png">    </p:cNvPr>
          <p:cNvPicPr>
            <a:picLocks noChangeAspect="1"/>
          </p:cNvPicPr>
          <p:nvPr/>
        </p:nvPicPr>
        <p:blipFill>
          <a:blip r:embed="rId1"/>
          <a:stretch>
            <a:fillRect/>
          </a:stretch>
        </p:blipFill>
        <p:spPr>
          <a:xfrm>
            <a:off x="806501" y="1309421"/>
            <a:ext cx="261518" cy="261518"/>
          </a:xfrm>
          <a:prstGeom prst="rect">
            <a:avLst/>
          </a:prstGeom>
        </p:spPr>
      </p:pic>
      <p:sp>
        <p:nvSpPr>
          <p:cNvPr id="9" name="Text 6"/>
          <p:cNvSpPr txBox="1"/>
          <p:nvPr/>
        </p:nvSpPr>
        <p:spPr>
          <a:xfrm>
            <a:off x="1325880" y="1280160"/>
            <a:ext cx="1645920" cy="320040"/>
          </a:xfrm>
          <a:prstGeom prst="rect">
            <a:avLst/>
          </a:prstGeom>
          <a:noFill/>
          <a:ln/>
        </p:spPr>
        <p:txBody>
          <a:bodyPr wrap="square" lIns="0" tIns="0" rIns="0" bIns="0" rtlCol="0" anchor="ctr"/>
          <a:lstStyle/>
          <a:p>
            <a:pPr indent="0" marL="0">
              <a:buNone/>
            </a:pPr>
            <a:r>
              <a:rPr lang="en-US" sz="1600" b="1" dirty="0">
                <a:solidFill>
                  <a:srgbClr val="1B1B3A"/>
                </a:solidFill>
                <a:latin typeface="Arial" pitchFamily="34" charset="0"/>
                <a:ea typeface="Arial" pitchFamily="34" charset="-122"/>
                <a:cs typeface="Arial" pitchFamily="34" charset="-120"/>
              </a:rPr>
              <a:t>Front-end</a:t>
            </a:r>
            <a:endParaRPr lang="en-US" sz="1600" dirty="0"/>
          </a:p>
        </p:txBody>
      </p:sp>
      <p:sp>
        <p:nvSpPr>
          <p:cNvPr id="10" name="Text 7"/>
          <p:cNvSpPr txBox="1"/>
          <p:nvPr/>
        </p:nvSpPr>
        <p:spPr>
          <a:xfrm>
            <a:off x="685800" y="1874520"/>
            <a:ext cx="2194560" cy="274320"/>
          </a:xfrm>
          <a:prstGeom prst="rect">
            <a:avLst/>
          </a:prstGeom>
          <a:noFill/>
          <a:ln/>
        </p:spPr>
        <p:txBody>
          <a:bodyPr wrap="square" lIns="0" tIns="0" rIns="0" bIns="0" rtlCol="0" anchor="t"/>
          <a:lstStyle/>
          <a:p>
            <a:pPr indent="0" marL="0">
              <a:buNone/>
            </a:pPr>
            <a:r>
              <a:rPr lang="en-US" sz="1400" b="1" dirty="0">
                <a:solidFill>
                  <a:srgbClr val="C2185B"/>
                </a:solidFill>
                <a:latin typeface="Arial" pitchFamily="34" charset="0"/>
                <a:ea typeface="Arial" pitchFamily="34" charset="-122"/>
                <a:cs typeface="Arial" pitchFamily="34" charset="-120"/>
              </a:rPr>
              <a:t>HTML · JavaScript</a:t>
            </a:r>
            <a:endParaRPr lang="en-US" sz="1400" dirty="0"/>
          </a:p>
        </p:txBody>
      </p:sp>
      <p:sp>
        <p:nvSpPr>
          <p:cNvPr id="11" name="Text 8"/>
          <p:cNvSpPr txBox="1"/>
          <p:nvPr/>
        </p:nvSpPr>
        <p:spPr>
          <a:xfrm>
            <a:off x="685800" y="2167128"/>
            <a:ext cx="2194560" cy="274320"/>
          </a:xfrm>
          <a:prstGeom prst="rect">
            <a:avLst/>
          </a:prstGeom>
          <a:noFill/>
          <a:ln/>
        </p:spPr>
        <p:txBody>
          <a:bodyPr wrap="square" lIns="0" tIns="0" rIns="0" bIns="0" rtlCol="0" anchor="t"/>
          <a:lstStyle/>
          <a:p>
            <a:pPr indent="0" marL="0">
              <a:buNone/>
            </a:pPr>
            <a:r>
              <a:rPr lang="en-US" sz="1300" b="1" dirty="0">
                <a:solidFill>
                  <a:srgbClr val="1B1B3A"/>
                </a:solidFill>
                <a:latin typeface="Arial" pitchFamily="34" charset="0"/>
                <a:ea typeface="Arial" pitchFamily="34" charset="-122"/>
                <a:cs typeface="Arial" pitchFamily="34" charset="-120"/>
              </a:rPr>
              <a:t>React + Bootstrap 5</a:t>
            </a:r>
            <a:endParaRPr lang="en-US" sz="1300" dirty="0"/>
          </a:p>
        </p:txBody>
      </p:sp>
      <p:sp>
        <p:nvSpPr>
          <p:cNvPr id="12" name="Text 9"/>
          <p:cNvSpPr txBox="1"/>
          <p:nvPr/>
        </p:nvSpPr>
        <p:spPr>
          <a:xfrm>
            <a:off x="685800" y="2560320"/>
            <a:ext cx="2194560" cy="822960"/>
          </a:xfrm>
          <a:prstGeom prst="rect">
            <a:avLst/>
          </a:prstGeom>
          <a:noFill/>
          <a:ln/>
        </p:spPr>
        <p:txBody>
          <a:bodyPr wrap="square" lIns="0" tIns="0" rIns="0" bIns="0" rtlCol="0" anchor="t"/>
          <a:lstStyle/>
          <a:p>
            <a:pPr indent="0" marL="0">
              <a:buNone/>
            </a:pPr>
            <a:r>
              <a:rPr lang="en-US" sz="1150" dirty="0">
                <a:solidFill>
                  <a:srgbClr val="5A5A70"/>
                </a:solidFill>
                <a:latin typeface="Arial" pitchFamily="34" charset="0"/>
                <a:ea typeface="Arial" pitchFamily="34" charset="-122"/>
                <a:cs typeface="Arial" pitchFamily="34" charset="-120"/>
              </a:rPr>
              <a:t>Componentes reaproveitados nas duas lojas e no painel; grade responsiva pronta.</a:t>
            </a:r>
            <a:endParaRPr lang="en-US" sz="1150" dirty="0"/>
          </a:p>
        </p:txBody>
      </p:sp>
      <p:sp>
        <p:nvSpPr>
          <p:cNvPr id="13" name="Text 10"/>
          <p:cNvSpPr txBox="1"/>
          <p:nvPr/>
        </p:nvSpPr>
        <p:spPr>
          <a:xfrm>
            <a:off x="685800" y="3429000"/>
            <a:ext cx="2194560" cy="228600"/>
          </a:xfrm>
          <a:prstGeom prst="rect">
            <a:avLst/>
          </a:prstGeom>
          <a:noFill/>
          <a:ln/>
        </p:spPr>
        <p:txBody>
          <a:bodyPr wrap="square" lIns="0" tIns="0" rIns="0" bIns="0" rtlCol="0" anchor="t"/>
          <a:lstStyle/>
          <a:p>
            <a:pPr indent="0" marL="0">
              <a:buNone/>
            </a:pPr>
            <a:r>
              <a:rPr lang="en-US" sz="1050" b="1" dirty="0">
                <a:solidFill>
                  <a:srgbClr val="00897B"/>
                </a:solidFill>
                <a:latin typeface="Arial" pitchFamily="34" charset="0"/>
                <a:ea typeface="Arial" pitchFamily="34" charset="-122"/>
                <a:cs typeface="Arial" pitchFamily="34" charset="-120"/>
              </a:rPr>
              <a:t>✔ exigido no enunciado</a:t>
            </a:r>
            <a:endParaRPr lang="en-US" sz="1050" dirty="0"/>
          </a:p>
        </p:txBody>
      </p:sp>
      <p:sp>
        <p:nvSpPr>
          <p:cNvPr id="14" name="Shape 11"/>
          <p:cNvSpPr/>
          <p:nvPr/>
        </p:nvSpPr>
        <p:spPr>
          <a:xfrm>
            <a:off x="3264408" y="1005840"/>
            <a:ext cx="2606040" cy="2788920"/>
          </a:xfrm>
          <a:prstGeom prst="roundRect">
            <a:avLst>
              <a:gd name="adj" fmla="val 2807"/>
            </a:avLst>
          </a:prstGeom>
          <a:solidFill>
            <a:srgbClr val="F4F4F8"/>
          </a:solidFill>
          <a:ln w="12700">
            <a:solidFill>
              <a:srgbClr val="F4F4F8"/>
            </a:solidFill>
            <a:prstDash val="solid"/>
          </a:ln>
        </p:spPr>
      </p:sp>
      <p:sp>
        <p:nvSpPr>
          <p:cNvPr id="15" name="Shape 12"/>
          <p:cNvSpPr/>
          <p:nvPr/>
        </p:nvSpPr>
        <p:spPr>
          <a:xfrm>
            <a:off x="3493008" y="1188720"/>
            <a:ext cx="502920" cy="502920"/>
          </a:xfrm>
          <a:prstGeom prst="ellipse">
            <a:avLst/>
          </a:prstGeom>
          <a:solidFill>
            <a:srgbClr val="C2185B"/>
          </a:solidFill>
          <a:ln w="12700">
            <a:solidFill>
              <a:srgbClr val="C2185B"/>
            </a:solidFill>
            <a:prstDash val="solid"/>
          </a:ln>
        </p:spPr>
      </p:sp>
      <p:pic>
        <p:nvPicPr>
          <p:cNvPr id="16" name="Image 1" descr="preencoded.png">    </p:cNvPr>
          <p:cNvPicPr>
            <a:picLocks noChangeAspect="1"/>
          </p:cNvPicPr>
          <p:nvPr/>
        </p:nvPicPr>
        <p:blipFill>
          <a:blip r:embed="rId2"/>
          <a:stretch>
            <a:fillRect/>
          </a:stretch>
        </p:blipFill>
        <p:spPr>
          <a:xfrm>
            <a:off x="3613709" y="1309421"/>
            <a:ext cx="261518" cy="261518"/>
          </a:xfrm>
          <a:prstGeom prst="rect">
            <a:avLst/>
          </a:prstGeom>
        </p:spPr>
      </p:pic>
      <p:sp>
        <p:nvSpPr>
          <p:cNvPr id="17" name="Text 13"/>
          <p:cNvSpPr txBox="1"/>
          <p:nvPr/>
        </p:nvSpPr>
        <p:spPr>
          <a:xfrm>
            <a:off x="4133088" y="1280160"/>
            <a:ext cx="1645920" cy="320040"/>
          </a:xfrm>
          <a:prstGeom prst="rect">
            <a:avLst/>
          </a:prstGeom>
          <a:noFill/>
          <a:ln/>
        </p:spPr>
        <p:txBody>
          <a:bodyPr wrap="square" lIns="0" tIns="0" rIns="0" bIns="0" rtlCol="0" anchor="ctr"/>
          <a:lstStyle/>
          <a:p>
            <a:pPr indent="0" marL="0">
              <a:buNone/>
            </a:pPr>
            <a:r>
              <a:rPr lang="en-US" sz="1600" b="1" dirty="0">
                <a:solidFill>
                  <a:srgbClr val="1B1B3A"/>
                </a:solidFill>
                <a:latin typeface="Arial" pitchFamily="34" charset="0"/>
                <a:ea typeface="Arial" pitchFamily="34" charset="-122"/>
                <a:cs typeface="Arial" pitchFamily="34" charset="-120"/>
              </a:rPr>
              <a:t>Back-end</a:t>
            </a:r>
            <a:endParaRPr lang="en-US" sz="1600" dirty="0"/>
          </a:p>
        </p:txBody>
      </p:sp>
      <p:sp>
        <p:nvSpPr>
          <p:cNvPr id="18" name="Text 14"/>
          <p:cNvSpPr txBox="1"/>
          <p:nvPr/>
        </p:nvSpPr>
        <p:spPr>
          <a:xfrm>
            <a:off x="3493008" y="1874520"/>
            <a:ext cx="2194560" cy="274320"/>
          </a:xfrm>
          <a:prstGeom prst="rect">
            <a:avLst/>
          </a:prstGeom>
          <a:noFill/>
          <a:ln/>
        </p:spPr>
        <p:txBody>
          <a:bodyPr wrap="square" lIns="0" tIns="0" rIns="0" bIns="0" rtlCol="0" anchor="t"/>
          <a:lstStyle/>
          <a:p>
            <a:pPr indent="0" marL="0">
              <a:buNone/>
            </a:pPr>
            <a:r>
              <a:rPr lang="en-US" sz="1400" b="1" dirty="0">
                <a:solidFill>
                  <a:srgbClr val="C2185B"/>
                </a:solidFill>
                <a:latin typeface="Arial" pitchFamily="34" charset="0"/>
                <a:ea typeface="Arial" pitchFamily="34" charset="-122"/>
                <a:cs typeface="Arial" pitchFamily="34" charset="-120"/>
              </a:rPr>
              <a:t>Node.js + Express</a:t>
            </a:r>
            <a:endParaRPr lang="en-US" sz="1400" dirty="0"/>
          </a:p>
        </p:txBody>
      </p:sp>
      <p:sp>
        <p:nvSpPr>
          <p:cNvPr id="19" name="Text 15"/>
          <p:cNvSpPr txBox="1"/>
          <p:nvPr/>
        </p:nvSpPr>
        <p:spPr>
          <a:xfrm>
            <a:off x="3493008" y="2167128"/>
            <a:ext cx="2194560" cy="274320"/>
          </a:xfrm>
          <a:prstGeom prst="rect">
            <a:avLst/>
          </a:prstGeom>
          <a:noFill/>
          <a:ln/>
        </p:spPr>
        <p:txBody>
          <a:bodyPr wrap="square" lIns="0" tIns="0" rIns="0" bIns="0" rtlCol="0" anchor="t"/>
          <a:lstStyle/>
          <a:p>
            <a:pPr indent="0" marL="0">
              <a:buNone/>
            </a:pPr>
            <a:r>
              <a:rPr lang="en-US" sz="1300" b="1" dirty="0">
                <a:solidFill>
                  <a:srgbClr val="1B1B3A"/>
                </a:solidFill>
                <a:latin typeface="Arial" pitchFamily="34" charset="0"/>
                <a:ea typeface="Arial" pitchFamily="34" charset="-122"/>
                <a:cs typeface="Arial" pitchFamily="34" charset="-120"/>
              </a:rPr>
              <a:t>bcrypt + JWT</a:t>
            </a:r>
            <a:endParaRPr lang="en-US" sz="1300" dirty="0"/>
          </a:p>
        </p:txBody>
      </p:sp>
      <p:sp>
        <p:nvSpPr>
          <p:cNvPr id="20" name="Text 16"/>
          <p:cNvSpPr txBox="1"/>
          <p:nvPr/>
        </p:nvSpPr>
        <p:spPr>
          <a:xfrm>
            <a:off x="3493008" y="2560320"/>
            <a:ext cx="2194560" cy="822960"/>
          </a:xfrm>
          <a:prstGeom prst="rect">
            <a:avLst/>
          </a:prstGeom>
          <a:noFill/>
          <a:ln/>
        </p:spPr>
        <p:txBody>
          <a:bodyPr wrap="square" lIns="0" tIns="0" rIns="0" bIns="0" rtlCol="0" anchor="t"/>
          <a:lstStyle/>
          <a:p>
            <a:pPr indent="0" marL="0">
              <a:buNone/>
            </a:pPr>
            <a:r>
              <a:rPr lang="en-US" sz="1150" dirty="0">
                <a:solidFill>
                  <a:srgbClr val="5A5A70"/>
                </a:solidFill>
                <a:latin typeface="Arial" pitchFamily="34" charset="0"/>
                <a:ea typeface="Arial" pitchFamily="34" charset="-122"/>
                <a:cs typeface="Arial" pitchFamily="34" charset="-120"/>
              </a:rPr>
              <a:t>Mesma linguagem do front; API REST com login por token.</a:t>
            </a:r>
            <a:endParaRPr lang="en-US" sz="1150" dirty="0"/>
          </a:p>
        </p:txBody>
      </p:sp>
      <p:sp>
        <p:nvSpPr>
          <p:cNvPr id="21" name="Text 17"/>
          <p:cNvSpPr txBox="1"/>
          <p:nvPr/>
        </p:nvSpPr>
        <p:spPr>
          <a:xfrm>
            <a:off x="3493008" y="3429000"/>
            <a:ext cx="2194560" cy="228600"/>
          </a:xfrm>
          <a:prstGeom prst="rect">
            <a:avLst/>
          </a:prstGeom>
          <a:noFill/>
          <a:ln/>
        </p:spPr>
        <p:txBody>
          <a:bodyPr wrap="square" lIns="0" tIns="0" rIns="0" bIns="0" rtlCol="0" anchor="t"/>
          <a:lstStyle/>
          <a:p>
            <a:pPr indent="0" marL="0">
              <a:buNone/>
            </a:pPr>
            <a:r>
              <a:rPr lang="en-US" sz="1050" b="1" dirty="0">
                <a:solidFill>
                  <a:srgbClr val="00897B"/>
                </a:solidFill>
                <a:latin typeface="Arial" pitchFamily="34" charset="0"/>
                <a:ea typeface="Arial" pitchFamily="34" charset="-122"/>
                <a:cs typeface="Arial" pitchFamily="34" charset="-120"/>
              </a:rPr>
              <a:t>✔ exigido no enunciado</a:t>
            </a:r>
            <a:endParaRPr lang="en-US" sz="1050" dirty="0"/>
          </a:p>
        </p:txBody>
      </p:sp>
      <p:sp>
        <p:nvSpPr>
          <p:cNvPr id="22" name="Shape 18"/>
          <p:cNvSpPr/>
          <p:nvPr/>
        </p:nvSpPr>
        <p:spPr>
          <a:xfrm>
            <a:off x="6071616" y="1005840"/>
            <a:ext cx="2606040" cy="2788920"/>
          </a:xfrm>
          <a:prstGeom prst="roundRect">
            <a:avLst>
              <a:gd name="adj" fmla="val 2807"/>
            </a:avLst>
          </a:prstGeom>
          <a:solidFill>
            <a:srgbClr val="F4F4F8"/>
          </a:solidFill>
          <a:ln w="12700">
            <a:solidFill>
              <a:srgbClr val="F4F4F8"/>
            </a:solidFill>
            <a:prstDash val="solid"/>
          </a:ln>
        </p:spPr>
      </p:sp>
      <p:sp>
        <p:nvSpPr>
          <p:cNvPr id="23" name="Shape 19"/>
          <p:cNvSpPr/>
          <p:nvPr/>
        </p:nvSpPr>
        <p:spPr>
          <a:xfrm>
            <a:off x="6300216" y="1188720"/>
            <a:ext cx="502920" cy="502920"/>
          </a:xfrm>
          <a:prstGeom prst="ellipse">
            <a:avLst/>
          </a:prstGeom>
          <a:solidFill>
            <a:srgbClr val="C2185B"/>
          </a:solidFill>
          <a:ln w="12700">
            <a:solidFill>
              <a:srgbClr val="C2185B"/>
            </a:solidFill>
            <a:prstDash val="solid"/>
          </a:ln>
        </p:spPr>
      </p:sp>
      <p:pic>
        <p:nvPicPr>
          <p:cNvPr id="24" name="Image 2" descr="preencoded.png">    </p:cNvPr>
          <p:cNvPicPr>
            <a:picLocks noChangeAspect="1"/>
          </p:cNvPicPr>
          <p:nvPr/>
        </p:nvPicPr>
        <p:blipFill>
          <a:blip r:embed="rId3"/>
          <a:stretch>
            <a:fillRect/>
          </a:stretch>
        </p:blipFill>
        <p:spPr>
          <a:xfrm>
            <a:off x="6420917" y="1309421"/>
            <a:ext cx="261518" cy="261518"/>
          </a:xfrm>
          <a:prstGeom prst="rect">
            <a:avLst/>
          </a:prstGeom>
        </p:spPr>
      </p:pic>
      <p:sp>
        <p:nvSpPr>
          <p:cNvPr id="25" name="Text 20"/>
          <p:cNvSpPr txBox="1"/>
          <p:nvPr/>
        </p:nvSpPr>
        <p:spPr>
          <a:xfrm>
            <a:off x="6940296" y="1280160"/>
            <a:ext cx="1645920" cy="320040"/>
          </a:xfrm>
          <a:prstGeom prst="rect">
            <a:avLst/>
          </a:prstGeom>
          <a:noFill/>
          <a:ln/>
        </p:spPr>
        <p:txBody>
          <a:bodyPr wrap="square" lIns="0" tIns="0" rIns="0" bIns="0" rtlCol="0" anchor="ctr"/>
          <a:lstStyle/>
          <a:p>
            <a:pPr indent="0" marL="0">
              <a:buNone/>
            </a:pPr>
            <a:r>
              <a:rPr lang="en-US" sz="1600" b="1" dirty="0">
                <a:solidFill>
                  <a:srgbClr val="1B1B3A"/>
                </a:solidFill>
                <a:latin typeface="Arial" pitchFamily="34" charset="0"/>
                <a:ea typeface="Arial" pitchFamily="34" charset="-122"/>
                <a:cs typeface="Arial" pitchFamily="34" charset="-120"/>
              </a:rPr>
              <a:t>Banco de dados</a:t>
            </a:r>
            <a:endParaRPr lang="en-US" sz="1600" dirty="0"/>
          </a:p>
        </p:txBody>
      </p:sp>
      <p:sp>
        <p:nvSpPr>
          <p:cNvPr id="26" name="Text 21"/>
          <p:cNvSpPr txBox="1"/>
          <p:nvPr/>
        </p:nvSpPr>
        <p:spPr>
          <a:xfrm>
            <a:off x="6300216" y="1874520"/>
            <a:ext cx="2194560" cy="274320"/>
          </a:xfrm>
          <a:prstGeom prst="rect">
            <a:avLst/>
          </a:prstGeom>
          <a:noFill/>
          <a:ln/>
        </p:spPr>
        <p:txBody>
          <a:bodyPr wrap="square" lIns="0" tIns="0" rIns="0" bIns="0" rtlCol="0" anchor="t"/>
          <a:lstStyle/>
          <a:p>
            <a:pPr indent="0" marL="0">
              <a:buNone/>
            </a:pPr>
            <a:r>
              <a:rPr lang="en-US" sz="1400" b="1" dirty="0">
                <a:solidFill>
                  <a:srgbClr val="C2185B"/>
                </a:solidFill>
                <a:latin typeface="Arial" pitchFamily="34" charset="0"/>
                <a:ea typeface="Arial" pitchFamily="34" charset="-122"/>
                <a:cs typeface="Arial" pitchFamily="34" charset="-120"/>
              </a:rPr>
              <a:t>MySQL 8</a:t>
            </a:r>
            <a:endParaRPr lang="en-US" sz="1400" dirty="0"/>
          </a:p>
        </p:txBody>
      </p:sp>
      <p:sp>
        <p:nvSpPr>
          <p:cNvPr id="27" name="Text 22"/>
          <p:cNvSpPr txBox="1"/>
          <p:nvPr/>
        </p:nvSpPr>
        <p:spPr>
          <a:xfrm>
            <a:off x="6300216" y="2167128"/>
            <a:ext cx="2194560" cy="274320"/>
          </a:xfrm>
          <a:prstGeom prst="rect">
            <a:avLst/>
          </a:prstGeom>
          <a:noFill/>
          <a:ln/>
        </p:spPr>
        <p:txBody>
          <a:bodyPr wrap="square" lIns="0" tIns="0" rIns="0" bIns="0" rtlCol="0" anchor="t"/>
          <a:lstStyle/>
          <a:p>
            <a:pPr indent="0" marL="0">
              <a:buNone/>
            </a:pPr>
            <a:r>
              <a:rPr lang="en-US" sz="1300" b="1" dirty="0">
                <a:solidFill>
                  <a:srgbClr val="1B1B3A"/>
                </a:solidFill>
                <a:latin typeface="Arial" pitchFamily="34" charset="0"/>
                <a:ea typeface="Arial" pitchFamily="34" charset="-122"/>
                <a:cs typeface="Arial" pitchFamily="34" charset="-120"/>
              </a:rPr>
              <a:t>Sequelize (ORM)</a:t>
            </a:r>
            <a:endParaRPr lang="en-US" sz="1300" dirty="0"/>
          </a:p>
        </p:txBody>
      </p:sp>
      <p:sp>
        <p:nvSpPr>
          <p:cNvPr id="28" name="Text 23"/>
          <p:cNvSpPr txBox="1"/>
          <p:nvPr/>
        </p:nvSpPr>
        <p:spPr>
          <a:xfrm>
            <a:off x="6300216" y="2560320"/>
            <a:ext cx="2194560" cy="822960"/>
          </a:xfrm>
          <a:prstGeom prst="rect">
            <a:avLst/>
          </a:prstGeom>
          <a:noFill/>
          <a:ln/>
        </p:spPr>
        <p:txBody>
          <a:bodyPr wrap="square" lIns="0" tIns="0" rIns="0" bIns="0" rtlCol="0" anchor="t"/>
          <a:lstStyle/>
          <a:p>
            <a:pPr indent="0" marL="0">
              <a:buNone/>
            </a:pPr>
            <a:r>
              <a:rPr lang="en-US" sz="1150" dirty="0">
                <a:solidFill>
                  <a:srgbClr val="5A5A70"/>
                </a:solidFill>
                <a:latin typeface="Arial" pitchFamily="34" charset="0"/>
                <a:ea typeface="Arial" pitchFamily="34" charset="-122"/>
                <a:cs typeface="Arial" pitchFamily="34" charset="-120"/>
              </a:rPr>
              <a:t>Pedido → itens → produto é relacional; transação ao baixar estoque.</a:t>
            </a:r>
            <a:endParaRPr lang="en-US" sz="1150" dirty="0"/>
          </a:p>
        </p:txBody>
      </p:sp>
      <p:sp>
        <p:nvSpPr>
          <p:cNvPr id="29" name="Text 24"/>
          <p:cNvSpPr txBox="1"/>
          <p:nvPr/>
        </p:nvSpPr>
        <p:spPr>
          <a:xfrm>
            <a:off x="6300216" y="3429000"/>
            <a:ext cx="2194560" cy="228600"/>
          </a:xfrm>
          <a:prstGeom prst="rect">
            <a:avLst/>
          </a:prstGeom>
          <a:noFill/>
          <a:ln/>
        </p:spPr>
        <p:txBody>
          <a:bodyPr wrap="square" lIns="0" tIns="0" rIns="0" bIns="0" rtlCol="0" anchor="t"/>
          <a:lstStyle/>
          <a:p>
            <a:pPr indent="0" marL="0">
              <a:buNone/>
            </a:pPr>
            <a:r>
              <a:rPr lang="en-US" sz="1050" b="1" dirty="0">
                <a:solidFill>
                  <a:srgbClr val="00897B"/>
                </a:solidFill>
                <a:latin typeface="Arial" pitchFamily="34" charset="0"/>
                <a:ea typeface="Arial" pitchFamily="34" charset="-122"/>
                <a:cs typeface="Arial" pitchFamily="34" charset="-120"/>
              </a:rPr>
              <a:t>✔ exigido no enunciado</a:t>
            </a:r>
            <a:endParaRPr lang="en-US" sz="1050" dirty="0"/>
          </a:p>
        </p:txBody>
      </p:sp>
      <p:sp>
        <p:nvSpPr>
          <p:cNvPr id="30" name="Shape 25"/>
          <p:cNvSpPr/>
          <p:nvPr/>
        </p:nvSpPr>
        <p:spPr>
          <a:xfrm>
            <a:off x="457200" y="3977640"/>
            <a:ext cx="8229600" cy="731520"/>
          </a:xfrm>
          <a:prstGeom prst="roundRect">
            <a:avLst>
              <a:gd name="adj" fmla="val 10000"/>
            </a:avLst>
          </a:prstGeom>
          <a:solidFill>
            <a:srgbClr val="1B1B3A"/>
          </a:solidFill>
          <a:ln w="12700">
            <a:solidFill>
              <a:srgbClr val="1B1B3A"/>
            </a:solidFill>
            <a:prstDash val="solid"/>
          </a:ln>
        </p:spPr>
      </p:sp>
      <p:sp>
        <p:nvSpPr>
          <p:cNvPr id="31" name="Text 26"/>
          <p:cNvSpPr txBox="1"/>
          <p:nvPr/>
        </p:nvSpPr>
        <p:spPr>
          <a:xfrm>
            <a:off x="640080" y="3977640"/>
            <a:ext cx="7955280" cy="731520"/>
          </a:xfrm>
          <a:prstGeom prst="rect">
            <a:avLst/>
          </a:prstGeom>
          <a:noFill/>
          <a:ln/>
        </p:spPr>
        <p:txBody>
          <a:bodyPr wrap="square" lIns="0" tIns="0" rIns="0" bIns="0" rtlCol="0" anchor="ctr"/>
          <a:lstStyle/>
          <a:p>
            <a:pPr indent="0" marL="0">
              <a:buNone/>
            </a:pPr>
            <a:r>
              <a:rPr lang="en-US" sz="1100" b="1" dirty="0">
                <a:solidFill>
                  <a:srgbClr val="00E5D0"/>
                </a:solidFill>
                <a:latin typeface="Arial" pitchFamily="34" charset="0"/>
                <a:ea typeface="Arial" pitchFamily="34" charset="-122"/>
                <a:cs typeface="Arial" pitchFamily="34" charset="-120"/>
              </a:rPr>
              <a:t>Integrações  </a:t>
            </a:r>
            <a:pPr indent="0" marL="0">
              <a:buNone/>
            </a:pPr>
            <a:r>
              <a:rPr lang="en-US" sz="1100" dirty="0">
                <a:solidFill>
                  <a:srgbClr val="FFFFFF"/>
                </a:solidFill>
                <a:latin typeface="Arial" pitchFamily="34" charset="0"/>
                <a:ea typeface="Arial" pitchFamily="34" charset="-122"/>
                <a:cs typeface="Arial" pitchFamily="34" charset="-120"/>
              </a:rPr>
              <a:t>ViaCEP · WhatsApp · Pix BR Code    </a:t>
            </a:r>
            <a:pPr indent="0" marL="0">
              <a:buNone/>
            </a:pPr>
            <a:r>
              <a:rPr lang="en-US" sz="1100" b="1" dirty="0">
                <a:solidFill>
                  <a:srgbClr val="00E5D0"/>
                </a:solidFill>
                <a:latin typeface="Arial" pitchFamily="34" charset="0"/>
                <a:ea typeface="Arial" pitchFamily="34" charset="-122"/>
                <a:cs typeface="Arial" pitchFamily="34" charset="-120"/>
              </a:rPr>
              <a:t>Qualidade  </a:t>
            </a:r>
            <a:pPr indent="0" marL="0">
              <a:buNone/>
            </a:pPr>
            <a:r>
              <a:rPr lang="en-US" sz="1100" dirty="0">
                <a:solidFill>
                  <a:srgbClr val="FFFFFF"/>
                </a:solidFill>
                <a:latin typeface="Arial" pitchFamily="34" charset="0"/>
                <a:ea typeface="Arial" pitchFamily="34" charset="-122"/>
                <a:cs typeface="Arial" pitchFamily="34" charset="-120"/>
              </a:rPr>
              <a:t>GitHub Actions · Playwright    </a:t>
            </a:r>
            <a:pPr indent="0" marL="0">
              <a:buNone/>
            </a:pPr>
            <a:r>
              <a:rPr lang="en-US" sz="1100" b="1" dirty="0">
                <a:solidFill>
                  <a:srgbClr val="00E5D0"/>
                </a:solidFill>
                <a:latin typeface="Arial" pitchFamily="34" charset="0"/>
                <a:ea typeface="Arial" pitchFamily="34" charset="-122"/>
                <a:cs typeface="Arial" pitchFamily="34" charset="-120"/>
              </a:rPr>
              <a:t>Hospedagem  </a:t>
            </a:r>
            <a:pPr indent="0" marL="0">
              <a:buNone/>
            </a:pPr>
            <a:r>
              <a:rPr lang="en-US" sz="1100" dirty="0">
                <a:solidFill>
                  <a:srgbClr val="FFFFFF"/>
                </a:solidFill>
                <a:latin typeface="Arial" pitchFamily="34" charset="0"/>
                <a:ea typeface="Arial" pitchFamily="34" charset="-122"/>
                <a:cs typeface="Arial" pitchFamily="34" charset="-120"/>
              </a:rPr>
              <a:t>Vercel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5</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Casos de uso — loja</a:t>
            </a:r>
            <a:endParaRPr lang="en-US" sz="2800" dirty="0"/>
          </a:p>
        </p:txBody>
      </p:sp>
      <p:pic>
        <p:nvPicPr>
          <p:cNvPr id="6" name="Image 0" descr="/home/user/Site-Zero-Grau/docs/entrega-1/imagens/uc-loja.png">    </p:cNvPr>
          <p:cNvPicPr>
            <a:picLocks noChangeAspect="1"/>
          </p:cNvPicPr>
          <p:nvPr/>
        </p:nvPicPr>
        <p:blipFill>
          <a:blip r:embed="rId1"/>
          <a:stretch>
            <a:fillRect/>
          </a:stretch>
        </p:blipFill>
        <p:spPr>
          <a:xfrm>
            <a:off x="365760" y="868680"/>
            <a:ext cx="5760720" cy="3914335"/>
          </a:xfrm>
          <a:prstGeom prst="rect">
            <a:avLst/>
          </a:prstGeom>
        </p:spPr>
      </p:pic>
      <p:sp>
        <p:nvSpPr>
          <p:cNvPr id="7" name="Text 4"/>
          <p:cNvSpPr txBox="1"/>
          <p:nvPr/>
        </p:nvSpPr>
        <p:spPr>
          <a:xfrm>
            <a:off x="6400800" y="1188720"/>
            <a:ext cx="2377440" cy="3200400"/>
          </a:xfrm>
          <a:prstGeom prst="rect">
            <a:avLst/>
          </a:prstGeom>
          <a:noFill/>
          <a:ln/>
        </p:spPr>
        <p:txBody>
          <a:bodyPr wrap="square" lIns="0" tIns="0" rIns="0" bIns="0" rtlCol="0" anchor="t"/>
          <a:lstStyle/>
          <a:p>
            <a:pPr indent="0" marL="0">
              <a:buNone/>
            </a:pPr>
            <a:r>
              <a:rPr lang="en-US" sz="1200" b="1" dirty="0">
                <a:solidFill>
                  <a:srgbClr val="C2185B"/>
                </a:solidFill>
                <a:latin typeface="Arial" pitchFamily="34" charset="0"/>
                <a:ea typeface="Arial" pitchFamily="34" charset="-122"/>
                <a:cs typeface="Arial" pitchFamily="34" charset="-120"/>
              </a:rPr>
              <a:t>Atores</a:t>
            </a:r>
            <a:endParaRPr lang="en-US" sz="1200" dirty="0"/>
          </a:p>
          <a:p>
            <a:pPr indent="0" marL="0">
              <a:buNone/>
            </a:pPr>
            <a:r>
              <a:rPr lang="en-US" sz="1200" dirty="0">
                <a:solidFill>
                  <a:srgbClr val="1B1B3A"/>
                </a:solidFill>
                <a:latin typeface="Arial" pitchFamily="34" charset="0"/>
                <a:ea typeface="Arial" pitchFamily="34" charset="-122"/>
                <a:cs typeface="Arial" pitchFamily="34" charset="-120"/>
              </a:rPr>
              <a:t>Cliente, especializado em Consumidor (CPF) e Revendedor (CNPJ)</a:t>
            </a:r>
            <a:endParaRPr lang="en-US" sz="1200" dirty="0"/>
          </a:p>
          <a:p>
            <a:pPr indent="0" marL="0">
              <a:buNone/>
            </a:pPr>
            <a:r>
              <a:rPr lang="en-US" sz="1200" dirty="0">
                <a:solidFill>
                  <a:srgbClr val="1B1B3A"/>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C2185B"/>
                </a:solidFill>
                <a:latin typeface="Arial" pitchFamily="34" charset="0"/>
                <a:ea typeface="Arial" pitchFamily="34" charset="-122"/>
                <a:cs typeface="Arial" pitchFamily="34" charset="-120"/>
              </a:rPr>
              <a:t>Sistemas externos</a:t>
            </a:r>
            <a:endParaRPr lang="en-US" sz="1200" dirty="0"/>
          </a:p>
          <a:p>
            <a:pPr indent="0" marL="0">
              <a:buNone/>
            </a:pPr>
            <a:r>
              <a:rPr lang="en-US" sz="1200" dirty="0">
                <a:solidFill>
                  <a:srgbClr val="1B1B3A"/>
                </a:solidFill>
                <a:latin typeface="Arial" pitchFamily="34" charset="0"/>
                <a:ea typeface="Arial" pitchFamily="34" charset="-122"/>
                <a:cs typeface="Arial" pitchFamily="34" charset="-120"/>
              </a:rPr>
              <a:t>ViaCEP e WhatsApp</a:t>
            </a:r>
            <a:endParaRPr lang="en-US" sz="1200" dirty="0"/>
          </a:p>
          <a:p>
            <a:pPr indent="0" marL="0">
              <a:buNone/>
            </a:pPr>
            <a:r>
              <a:rPr lang="en-US" sz="1200" dirty="0">
                <a:solidFill>
                  <a:srgbClr val="1B1B3A"/>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C2185B"/>
                </a:solidFill>
                <a:latin typeface="Arial" pitchFamily="34" charset="0"/>
                <a:ea typeface="Arial" pitchFamily="34" charset="-122"/>
                <a:cs typeface="Arial" pitchFamily="34" charset="-120"/>
              </a:rPr>
              <a:t>«include»</a:t>
            </a:r>
            <a:pPr indent="0" marL="0">
              <a:buNone/>
            </a:pPr>
            <a:r>
              <a:rPr lang="en-US" sz="1200" dirty="0">
                <a:solidFill>
                  <a:srgbClr val="1B1B3A"/>
                </a:solidFill>
                <a:latin typeface="Arial" pitchFamily="34" charset="0"/>
                <a:ea typeface="Arial" pitchFamily="34" charset="-122"/>
                <a:cs typeface="Arial" pitchFamily="34" charset="-120"/>
              </a:rPr>
              <a:t> sempre executa</a:t>
            </a:r>
            <a:endParaRPr lang="en-US" sz="1200" dirty="0"/>
          </a:p>
          <a:p>
            <a:pPr indent="0" marL="0">
              <a:buNone/>
            </a:pPr>
            <a:r>
              <a:rPr lang="en-US" sz="1200" b="1" dirty="0">
                <a:solidFill>
                  <a:srgbClr val="00897B"/>
                </a:solidFill>
                <a:latin typeface="Arial" pitchFamily="34" charset="0"/>
                <a:ea typeface="Arial" pitchFamily="34" charset="-122"/>
                <a:cs typeface="Arial" pitchFamily="34" charset="-120"/>
              </a:rPr>
              <a:t>«extend»</a:t>
            </a:r>
            <a:pPr indent="0" marL="0">
              <a:buNone/>
            </a:pPr>
            <a:r>
              <a:rPr lang="en-US" sz="1200" dirty="0">
                <a:solidFill>
                  <a:srgbClr val="1B1B3A"/>
                </a:solidFill>
                <a:latin typeface="Arial" pitchFamily="34" charset="0"/>
                <a:ea typeface="Arial" pitchFamily="34" charset="-122"/>
                <a:cs typeface="Arial" pitchFamily="34" charset="-120"/>
              </a:rPr>
              <a:t> opcional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6</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Casos de uso — painel</a:t>
            </a:r>
            <a:endParaRPr lang="en-US" sz="2800" dirty="0"/>
          </a:p>
        </p:txBody>
      </p:sp>
      <p:pic>
        <p:nvPicPr>
          <p:cNvPr id="6" name="Image 0" descr="/home/user/Site-Zero-Grau/docs/entrega-1/imagens/uc-painel.png">    </p:cNvPr>
          <p:cNvPicPr>
            <a:picLocks noChangeAspect="1"/>
          </p:cNvPicPr>
          <p:nvPr/>
        </p:nvPicPr>
        <p:blipFill>
          <a:blip r:embed="rId1"/>
          <a:stretch>
            <a:fillRect/>
          </a:stretch>
        </p:blipFill>
        <p:spPr>
          <a:xfrm>
            <a:off x="365760" y="960120"/>
            <a:ext cx="5760720" cy="3291840"/>
          </a:xfrm>
          <a:prstGeom prst="rect">
            <a:avLst/>
          </a:prstGeom>
        </p:spPr>
      </p:pic>
      <p:sp>
        <p:nvSpPr>
          <p:cNvPr id="7" name="Text 4"/>
          <p:cNvSpPr txBox="1"/>
          <p:nvPr/>
        </p:nvSpPr>
        <p:spPr>
          <a:xfrm>
            <a:off x="6400800" y="1188720"/>
            <a:ext cx="2377440" cy="3200400"/>
          </a:xfrm>
          <a:prstGeom prst="rect">
            <a:avLst/>
          </a:prstGeom>
          <a:noFill/>
          <a:ln/>
        </p:spPr>
        <p:txBody>
          <a:bodyPr wrap="square" lIns="0" tIns="0" rIns="0" bIns="0" rtlCol="0" anchor="t"/>
          <a:lstStyle/>
          <a:p>
            <a:pPr indent="0" marL="0">
              <a:buNone/>
            </a:pPr>
            <a:r>
              <a:rPr lang="en-US" sz="1200" b="1" dirty="0">
                <a:solidFill>
                  <a:srgbClr val="C2185B"/>
                </a:solidFill>
                <a:latin typeface="Arial" pitchFamily="34" charset="0"/>
                <a:ea typeface="Arial" pitchFamily="34" charset="-122"/>
                <a:cs typeface="Arial" pitchFamily="34" charset="-120"/>
              </a:rPr>
              <a:t>Administrador</a:t>
            </a:r>
            <a:endParaRPr lang="en-US" sz="1200" dirty="0"/>
          </a:p>
          <a:p>
            <a:pPr indent="0" marL="0">
              <a:buNone/>
            </a:pPr>
            <a:r>
              <a:rPr lang="en-US" sz="1200" dirty="0">
                <a:solidFill>
                  <a:srgbClr val="1B1B3A"/>
                </a:solidFill>
                <a:latin typeface="Arial" pitchFamily="34" charset="0"/>
                <a:ea typeface="Arial" pitchFamily="34" charset="-122"/>
                <a:cs typeface="Arial" pitchFamily="34" charset="-120"/>
              </a:rPr>
              <a:t>5 casos principais</a:t>
            </a:r>
            <a:endParaRPr lang="en-US" sz="1200" dirty="0"/>
          </a:p>
          <a:p>
            <a:pPr indent="0" marL="0">
              <a:buNone/>
            </a:pPr>
            <a:r>
              <a:rPr lang="en-US" sz="1200" dirty="0">
                <a:solidFill>
                  <a:srgbClr val="1B1B3A"/>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C2185B"/>
                </a:solidFill>
                <a:latin typeface="Arial" pitchFamily="34" charset="0"/>
                <a:ea typeface="Arial" pitchFamily="34" charset="-122"/>
                <a:cs typeface="Arial" pitchFamily="34" charset="-120"/>
              </a:rPr>
              <a:t>Gerenciar pedidos</a:t>
            </a:r>
            <a:endParaRPr lang="en-US" sz="1200" dirty="0"/>
          </a:p>
          <a:p>
            <a:pPr indent="0" marL="0">
              <a:buNone/>
            </a:pPr>
            <a:r>
              <a:rPr lang="en-US" sz="1200" dirty="0">
                <a:solidFill>
                  <a:srgbClr val="1B1B3A"/>
                </a:solidFill>
                <a:latin typeface="Arial" pitchFamily="34" charset="0"/>
                <a:ea typeface="Arial" pitchFamily="34" charset="-122"/>
                <a:cs typeface="Arial" pitchFamily="34" charset="-120"/>
              </a:rPr>
              <a:t>recebido → confirmado → em preparo → saiu → entregue</a:t>
            </a:r>
            <a:endParaRPr lang="en-US" sz="1200" dirty="0"/>
          </a:p>
          <a:p>
            <a:pPr indent="0" marL="0">
              <a:buNone/>
            </a:pPr>
            <a:r>
              <a:rPr lang="en-US" sz="1200" dirty="0">
                <a:solidFill>
                  <a:srgbClr val="1B1B3A"/>
                </a:solidFill>
                <a:latin typeface="Arial" pitchFamily="34" charset="0"/>
                <a:ea typeface="Arial" pitchFamily="34" charset="-122"/>
                <a:cs typeface="Arial" pitchFamily="34" charset="-120"/>
              </a:rPr>
              <a:t> </a:t>
            </a:r>
            <a:endParaRPr lang="en-US" sz="1200" dirty="0"/>
          </a:p>
          <a:p>
            <a:pPr indent="0" marL="0">
              <a:buNone/>
            </a:pPr>
            <a:r>
              <a:rPr lang="en-US" sz="1200" dirty="0">
                <a:solidFill>
                  <a:srgbClr val="1B1B3A"/>
                </a:solidFill>
                <a:latin typeface="Arial" pitchFamily="34" charset="0"/>
                <a:ea typeface="Arial" pitchFamily="34" charset="-122"/>
                <a:cs typeface="Arial" pitchFamily="34" charset="-120"/>
              </a:rPr>
              <a:t>Estoque atualizado a cada pedido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7</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Requisitos</a:t>
            </a:r>
            <a:endParaRPr lang="en-US" sz="2800" dirty="0"/>
          </a:p>
        </p:txBody>
      </p:sp>
      <p:sp>
        <p:nvSpPr>
          <p:cNvPr id="6" name="Text 4"/>
          <p:cNvSpPr txBox="1"/>
          <p:nvPr/>
        </p:nvSpPr>
        <p:spPr>
          <a:xfrm>
            <a:off x="457200" y="1005840"/>
            <a:ext cx="1371600" cy="777240"/>
          </a:xfrm>
          <a:prstGeom prst="rect">
            <a:avLst/>
          </a:prstGeom>
          <a:noFill/>
          <a:ln/>
        </p:spPr>
        <p:txBody>
          <a:bodyPr wrap="square" lIns="0" tIns="0" rIns="0" bIns="0" rtlCol="0" anchor="ctr"/>
          <a:lstStyle/>
          <a:p>
            <a:pPr indent="0" marL="0">
              <a:buNone/>
            </a:pPr>
            <a:r>
              <a:rPr lang="en-US" sz="5400" b="1" dirty="0">
                <a:solidFill>
                  <a:srgbClr val="1B1B3A"/>
                </a:solidFill>
                <a:latin typeface="Arial" pitchFamily="34" charset="0"/>
                <a:ea typeface="Arial" pitchFamily="34" charset="-122"/>
                <a:cs typeface="Arial" pitchFamily="34" charset="-120"/>
              </a:rPr>
              <a:t>21</a:t>
            </a:r>
            <a:endParaRPr lang="en-US" sz="5400" dirty="0"/>
          </a:p>
        </p:txBody>
      </p:sp>
      <p:sp>
        <p:nvSpPr>
          <p:cNvPr id="7" name="Text 5"/>
          <p:cNvSpPr txBox="1"/>
          <p:nvPr/>
        </p:nvSpPr>
        <p:spPr>
          <a:xfrm>
            <a:off x="1874520" y="1188720"/>
            <a:ext cx="1737360" cy="457200"/>
          </a:xfrm>
          <a:prstGeom prst="rect">
            <a:avLst/>
          </a:prstGeom>
          <a:noFill/>
          <a:ln/>
        </p:spPr>
        <p:txBody>
          <a:bodyPr wrap="square" lIns="0" tIns="0" rIns="0" bIns="0" rtlCol="0" anchor="ctr"/>
          <a:lstStyle/>
          <a:p>
            <a:pPr indent="0" marL="0">
              <a:buNone/>
            </a:pPr>
            <a:r>
              <a:rPr lang="en-US" sz="1300" dirty="0">
                <a:solidFill>
                  <a:srgbClr val="5A5A70"/>
                </a:solidFill>
                <a:latin typeface="Arial" pitchFamily="34" charset="0"/>
                <a:ea typeface="Arial" pitchFamily="34" charset="-122"/>
                <a:cs typeface="Arial" pitchFamily="34" charset="-120"/>
              </a:rPr>
              <a:t>requisitos funcionais</a:t>
            </a:r>
            <a:endParaRPr lang="en-US" sz="1300" dirty="0"/>
          </a:p>
        </p:txBody>
      </p:sp>
      <p:sp>
        <p:nvSpPr>
          <p:cNvPr id="8" name="Text 6"/>
          <p:cNvSpPr txBox="1"/>
          <p:nvPr/>
        </p:nvSpPr>
        <p:spPr>
          <a:xfrm>
            <a:off x="457200" y="2240280"/>
            <a:ext cx="1371600" cy="777240"/>
          </a:xfrm>
          <a:prstGeom prst="rect">
            <a:avLst/>
          </a:prstGeom>
          <a:noFill/>
          <a:ln/>
        </p:spPr>
        <p:txBody>
          <a:bodyPr wrap="square" lIns="0" tIns="0" rIns="0" bIns="0" rtlCol="0" anchor="ctr"/>
          <a:lstStyle/>
          <a:p>
            <a:pPr indent="0" marL="0">
              <a:buNone/>
            </a:pPr>
            <a:r>
              <a:rPr lang="en-US" sz="5400" b="1" dirty="0">
                <a:solidFill>
                  <a:srgbClr val="1B1B3A"/>
                </a:solidFill>
                <a:latin typeface="Arial" pitchFamily="34" charset="0"/>
                <a:ea typeface="Arial" pitchFamily="34" charset="-122"/>
                <a:cs typeface="Arial" pitchFamily="34" charset="-120"/>
              </a:rPr>
              <a:t>11</a:t>
            </a:r>
            <a:endParaRPr lang="en-US" sz="5400" dirty="0"/>
          </a:p>
        </p:txBody>
      </p:sp>
      <p:sp>
        <p:nvSpPr>
          <p:cNvPr id="9" name="Text 7"/>
          <p:cNvSpPr txBox="1"/>
          <p:nvPr/>
        </p:nvSpPr>
        <p:spPr>
          <a:xfrm>
            <a:off x="1874520" y="2423160"/>
            <a:ext cx="1737360" cy="457200"/>
          </a:xfrm>
          <a:prstGeom prst="rect">
            <a:avLst/>
          </a:prstGeom>
          <a:noFill/>
          <a:ln/>
        </p:spPr>
        <p:txBody>
          <a:bodyPr wrap="square" lIns="0" tIns="0" rIns="0" bIns="0" rtlCol="0" anchor="ctr"/>
          <a:lstStyle/>
          <a:p>
            <a:pPr indent="0" marL="0">
              <a:buNone/>
            </a:pPr>
            <a:r>
              <a:rPr lang="en-US" sz="1300" dirty="0">
                <a:solidFill>
                  <a:srgbClr val="5A5A70"/>
                </a:solidFill>
                <a:latin typeface="Arial" pitchFamily="34" charset="0"/>
                <a:ea typeface="Arial" pitchFamily="34" charset="-122"/>
                <a:cs typeface="Arial" pitchFamily="34" charset="-120"/>
              </a:rPr>
              <a:t>não funcionais</a:t>
            </a:r>
            <a:endParaRPr lang="en-US" sz="1300" dirty="0"/>
          </a:p>
        </p:txBody>
      </p:sp>
      <p:sp>
        <p:nvSpPr>
          <p:cNvPr id="10" name="Text 8"/>
          <p:cNvSpPr txBox="1"/>
          <p:nvPr/>
        </p:nvSpPr>
        <p:spPr>
          <a:xfrm>
            <a:off x="457200" y="3474720"/>
            <a:ext cx="1371600" cy="777240"/>
          </a:xfrm>
          <a:prstGeom prst="rect">
            <a:avLst/>
          </a:prstGeom>
          <a:noFill/>
          <a:ln/>
        </p:spPr>
        <p:txBody>
          <a:bodyPr wrap="square" lIns="0" tIns="0" rIns="0" bIns="0" rtlCol="0" anchor="ctr"/>
          <a:lstStyle/>
          <a:p>
            <a:pPr indent="0" marL="0">
              <a:buNone/>
            </a:pPr>
            <a:r>
              <a:rPr lang="en-US" sz="5400" b="1" dirty="0">
                <a:solidFill>
                  <a:srgbClr val="C2185B"/>
                </a:solidFill>
                <a:latin typeface="Arial" pitchFamily="34" charset="0"/>
                <a:ea typeface="Arial" pitchFamily="34" charset="-122"/>
                <a:cs typeface="Arial" pitchFamily="34" charset="-120"/>
              </a:rPr>
              <a:t>10</a:t>
            </a:r>
            <a:endParaRPr lang="en-US" sz="5400" dirty="0"/>
          </a:p>
        </p:txBody>
      </p:sp>
      <p:sp>
        <p:nvSpPr>
          <p:cNvPr id="11" name="Text 9"/>
          <p:cNvSpPr txBox="1"/>
          <p:nvPr/>
        </p:nvSpPr>
        <p:spPr>
          <a:xfrm>
            <a:off x="1874520" y="3657600"/>
            <a:ext cx="1737360" cy="457200"/>
          </a:xfrm>
          <a:prstGeom prst="rect">
            <a:avLst/>
          </a:prstGeom>
          <a:noFill/>
          <a:ln/>
        </p:spPr>
        <p:txBody>
          <a:bodyPr wrap="square" lIns="0" tIns="0" rIns="0" bIns="0" rtlCol="0" anchor="ctr"/>
          <a:lstStyle/>
          <a:p>
            <a:pPr indent="0" marL="0">
              <a:buNone/>
            </a:pPr>
            <a:r>
              <a:rPr lang="en-US" sz="1300" dirty="0">
                <a:solidFill>
                  <a:srgbClr val="5A5A70"/>
                </a:solidFill>
                <a:latin typeface="Arial" pitchFamily="34" charset="0"/>
                <a:ea typeface="Arial" pitchFamily="34" charset="-122"/>
                <a:cs typeface="Arial" pitchFamily="34" charset="-120"/>
              </a:rPr>
              <a:t>entram no MVP</a:t>
            </a:r>
            <a:endParaRPr lang="en-US" sz="1300" dirty="0"/>
          </a:p>
        </p:txBody>
      </p:sp>
      <p:sp>
        <p:nvSpPr>
          <p:cNvPr id="12" name="Shape 10"/>
          <p:cNvSpPr/>
          <p:nvPr/>
        </p:nvSpPr>
        <p:spPr>
          <a:xfrm>
            <a:off x="3840480" y="1005840"/>
            <a:ext cx="4846320" cy="2331720"/>
          </a:xfrm>
          <a:prstGeom prst="roundRect">
            <a:avLst>
              <a:gd name="adj" fmla="val 3137"/>
            </a:avLst>
          </a:prstGeom>
          <a:solidFill>
            <a:srgbClr val="F4F4F8"/>
          </a:solidFill>
          <a:ln w="12700">
            <a:solidFill>
              <a:srgbClr val="F4F4F8"/>
            </a:solidFill>
            <a:prstDash val="solid"/>
          </a:ln>
        </p:spPr>
      </p:sp>
      <p:sp>
        <p:nvSpPr>
          <p:cNvPr id="13" name="Text 11"/>
          <p:cNvSpPr txBox="1"/>
          <p:nvPr/>
        </p:nvSpPr>
        <p:spPr>
          <a:xfrm>
            <a:off x="4069080" y="1143000"/>
            <a:ext cx="4389120" cy="274320"/>
          </a:xfrm>
          <a:prstGeom prst="rect">
            <a:avLst/>
          </a:prstGeom>
          <a:noFill/>
          <a:ln/>
        </p:spPr>
        <p:txBody>
          <a:bodyPr wrap="square" lIns="0" tIns="0" rIns="0" bIns="0" rtlCol="0" anchor="t"/>
          <a:lstStyle/>
          <a:p>
            <a:pPr indent="0" marL="0">
              <a:buNone/>
            </a:pPr>
            <a:r>
              <a:rPr lang="en-US" sz="1300" b="1" dirty="0">
                <a:solidFill>
                  <a:srgbClr val="C2185B"/>
                </a:solidFill>
                <a:latin typeface="Arial" pitchFamily="34" charset="0"/>
                <a:ea typeface="Arial" pitchFamily="34" charset="-122"/>
                <a:cs typeface="Arial" pitchFamily="34" charset="-120"/>
              </a:rPr>
              <a:t>MVP (Entrega 2)</a:t>
            </a:r>
            <a:endParaRPr lang="en-US" sz="1300" dirty="0"/>
          </a:p>
        </p:txBody>
      </p:sp>
      <p:sp>
        <p:nvSpPr>
          <p:cNvPr id="14" name="Text 12"/>
          <p:cNvSpPr txBox="1"/>
          <p:nvPr/>
        </p:nvSpPr>
        <p:spPr>
          <a:xfrm>
            <a:off x="4069080" y="1508760"/>
            <a:ext cx="2240280" cy="274320"/>
          </a:xfrm>
          <a:prstGeom prst="rect">
            <a:avLst/>
          </a:prstGeom>
          <a:noFill/>
          <a:ln/>
        </p:spPr>
        <p:txBody>
          <a:bodyPr wrap="square" lIns="0" tIns="0" rIns="0" bIns="0" rtlCol="0" anchor="t"/>
          <a:lstStyle/>
          <a:p>
            <a:pPr indent="0" marL="0">
              <a:buNone/>
            </a:pPr>
            <a:r>
              <a:rPr lang="en-US" sz="1150" b="1" dirty="0">
                <a:solidFill>
                  <a:srgbClr val="C2185B"/>
                </a:solidFill>
                <a:latin typeface="Arial" pitchFamily="34" charset="0"/>
                <a:ea typeface="Arial" pitchFamily="34" charset="-122"/>
                <a:cs typeface="Arial" pitchFamily="34" charset="-120"/>
              </a:rPr>
              <a:t>RF01  </a:t>
            </a:r>
            <a:pPr indent="0" marL="0">
              <a:buNone/>
            </a:pPr>
            <a:r>
              <a:rPr lang="en-US" sz="1150" dirty="0">
                <a:solidFill>
                  <a:srgbClr val="1B1B3A"/>
                </a:solidFill>
                <a:latin typeface="Arial" pitchFamily="34" charset="0"/>
                <a:ea typeface="Arial" pitchFamily="34" charset="-122"/>
                <a:cs typeface="Arial" pitchFamily="34" charset="-120"/>
              </a:rPr>
              <a:t>Aviso 18+</a:t>
            </a:r>
            <a:endParaRPr lang="en-US" sz="1150" dirty="0"/>
          </a:p>
        </p:txBody>
      </p:sp>
      <p:sp>
        <p:nvSpPr>
          <p:cNvPr id="15" name="Text 13"/>
          <p:cNvSpPr txBox="1"/>
          <p:nvPr/>
        </p:nvSpPr>
        <p:spPr>
          <a:xfrm>
            <a:off x="6355080" y="1508760"/>
            <a:ext cx="2240280" cy="274320"/>
          </a:xfrm>
          <a:prstGeom prst="rect">
            <a:avLst/>
          </a:prstGeom>
          <a:noFill/>
          <a:ln/>
        </p:spPr>
        <p:txBody>
          <a:bodyPr wrap="square" lIns="0" tIns="0" rIns="0" bIns="0" rtlCol="0" anchor="t"/>
          <a:lstStyle/>
          <a:p>
            <a:pPr indent="0" marL="0">
              <a:buNone/>
            </a:pPr>
            <a:r>
              <a:rPr lang="en-US" sz="1150" b="1" dirty="0">
                <a:solidFill>
                  <a:srgbClr val="C2185B"/>
                </a:solidFill>
                <a:latin typeface="Arial" pitchFamily="34" charset="0"/>
                <a:ea typeface="Arial" pitchFamily="34" charset="-122"/>
                <a:cs typeface="Arial" pitchFamily="34" charset="-120"/>
              </a:rPr>
              <a:t>RF02  </a:t>
            </a:r>
            <a:pPr indent="0" marL="0">
              <a:buNone/>
            </a:pPr>
            <a:r>
              <a:rPr lang="en-US" sz="1150" dirty="0">
                <a:solidFill>
                  <a:srgbClr val="1B1B3A"/>
                </a:solidFill>
                <a:latin typeface="Arial" pitchFamily="34" charset="0"/>
                <a:ea typeface="Arial" pitchFamily="34" charset="-122"/>
                <a:cs typeface="Arial" pitchFamily="34" charset="-120"/>
              </a:rPr>
              <a:t>Cadastro CPF/CNPJ</a:t>
            </a:r>
            <a:endParaRPr lang="en-US" sz="1150" dirty="0"/>
          </a:p>
        </p:txBody>
      </p:sp>
      <p:sp>
        <p:nvSpPr>
          <p:cNvPr id="16" name="Text 14"/>
          <p:cNvSpPr txBox="1"/>
          <p:nvPr/>
        </p:nvSpPr>
        <p:spPr>
          <a:xfrm>
            <a:off x="4069080" y="1847088"/>
            <a:ext cx="2240280" cy="274320"/>
          </a:xfrm>
          <a:prstGeom prst="rect">
            <a:avLst/>
          </a:prstGeom>
          <a:noFill/>
          <a:ln/>
        </p:spPr>
        <p:txBody>
          <a:bodyPr wrap="square" lIns="0" tIns="0" rIns="0" bIns="0" rtlCol="0" anchor="t"/>
          <a:lstStyle/>
          <a:p>
            <a:pPr indent="0" marL="0">
              <a:buNone/>
            </a:pPr>
            <a:r>
              <a:rPr lang="en-US" sz="1150" b="1" dirty="0">
                <a:solidFill>
                  <a:srgbClr val="C2185B"/>
                </a:solidFill>
                <a:latin typeface="Arial" pitchFamily="34" charset="0"/>
                <a:ea typeface="Arial" pitchFamily="34" charset="-122"/>
                <a:cs typeface="Arial" pitchFamily="34" charset="-120"/>
              </a:rPr>
              <a:t>RF04  </a:t>
            </a:r>
            <a:pPr indent="0" marL="0">
              <a:buNone/>
            </a:pPr>
            <a:r>
              <a:rPr lang="en-US" sz="1150" dirty="0">
                <a:solidFill>
                  <a:srgbClr val="1B1B3A"/>
                </a:solidFill>
                <a:latin typeface="Arial" pitchFamily="34" charset="0"/>
                <a:ea typeface="Arial" pitchFamily="34" charset="-122"/>
                <a:cs typeface="Arial" pitchFamily="34" charset="-120"/>
              </a:rPr>
              <a:t>Loja pelo documento</a:t>
            </a:r>
            <a:endParaRPr lang="en-US" sz="1150" dirty="0"/>
          </a:p>
        </p:txBody>
      </p:sp>
      <p:sp>
        <p:nvSpPr>
          <p:cNvPr id="17" name="Text 15"/>
          <p:cNvSpPr txBox="1"/>
          <p:nvPr/>
        </p:nvSpPr>
        <p:spPr>
          <a:xfrm>
            <a:off x="6355080" y="1847088"/>
            <a:ext cx="2240280" cy="274320"/>
          </a:xfrm>
          <a:prstGeom prst="rect">
            <a:avLst/>
          </a:prstGeom>
          <a:noFill/>
          <a:ln/>
        </p:spPr>
        <p:txBody>
          <a:bodyPr wrap="square" lIns="0" tIns="0" rIns="0" bIns="0" rtlCol="0" anchor="t"/>
          <a:lstStyle/>
          <a:p>
            <a:pPr indent="0" marL="0">
              <a:buNone/>
            </a:pPr>
            <a:r>
              <a:rPr lang="en-US" sz="1150" b="1" dirty="0">
                <a:solidFill>
                  <a:srgbClr val="C2185B"/>
                </a:solidFill>
                <a:latin typeface="Arial" pitchFamily="34" charset="0"/>
                <a:ea typeface="Arial" pitchFamily="34" charset="-122"/>
                <a:cs typeface="Arial" pitchFamily="34" charset="-120"/>
              </a:rPr>
              <a:t>RF05  </a:t>
            </a:r>
            <a:pPr indent="0" marL="0">
              <a:buNone/>
            </a:pPr>
            <a:r>
              <a:rPr lang="en-US" sz="1150" dirty="0">
                <a:solidFill>
                  <a:srgbClr val="1B1B3A"/>
                </a:solidFill>
                <a:latin typeface="Arial" pitchFamily="34" charset="0"/>
                <a:ea typeface="Arial" pitchFamily="34" charset="-122"/>
                <a:cs typeface="Arial" pitchFamily="34" charset="-120"/>
              </a:rPr>
              <a:t>Catálogo do banco</a:t>
            </a:r>
            <a:endParaRPr lang="en-US" sz="1150" dirty="0"/>
          </a:p>
        </p:txBody>
      </p:sp>
      <p:sp>
        <p:nvSpPr>
          <p:cNvPr id="18" name="Text 16"/>
          <p:cNvSpPr txBox="1"/>
          <p:nvPr/>
        </p:nvSpPr>
        <p:spPr>
          <a:xfrm>
            <a:off x="4069080" y="2185416"/>
            <a:ext cx="2240280" cy="274320"/>
          </a:xfrm>
          <a:prstGeom prst="rect">
            <a:avLst/>
          </a:prstGeom>
          <a:noFill/>
          <a:ln/>
        </p:spPr>
        <p:txBody>
          <a:bodyPr wrap="square" lIns="0" tIns="0" rIns="0" bIns="0" rtlCol="0" anchor="t"/>
          <a:lstStyle/>
          <a:p>
            <a:pPr indent="0" marL="0">
              <a:buNone/>
            </a:pPr>
            <a:r>
              <a:rPr lang="en-US" sz="1150" b="1" dirty="0">
                <a:solidFill>
                  <a:srgbClr val="C2185B"/>
                </a:solidFill>
                <a:latin typeface="Arial" pitchFamily="34" charset="0"/>
                <a:ea typeface="Arial" pitchFamily="34" charset="-122"/>
                <a:cs typeface="Arial" pitchFamily="34" charset="-120"/>
              </a:rPr>
              <a:t>RF07  </a:t>
            </a:r>
            <a:pPr indent="0" marL="0">
              <a:buNone/>
            </a:pPr>
            <a:r>
              <a:rPr lang="en-US" sz="1150" dirty="0">
                <a:solidFill>
                  <a:srgbClr val="1B1B3A"/>
                </a:solidFill>
                <a:latin typeface="Arial" pitchFamily="34" charset="0"/>
                <a:ea typeface="Arial" pitchFamily="34" charset="-122"/>
                <a:cs typeface="Arial" pitchFamily="34" charset="-120"/>
              </a:rPr>
              <a:t>Carrinho</a:t>
            </a:r>
            <a:endParaRPr lang="en-US" sz="1150" dirty="0"/>
          </a:p>
        </p:txBody>
      </p:sp>
      <p:sp>
        <p:nvSpPr>
          <p:cNvPr id="19" name="Text 17"/>
          <p:cNvSpPr txBox="1"/>
          <p:nvPr/>
        </p:nvSpPr>
        <p:spPr>
          <a:xfrm>
            <a:off x="6355080" y="2185416"/>
            <a:ext cx="2240280" cy="274320"/>
          </a:xfrm>
          <a:prstGeom prst="rect">
            <a:avLst/>
          </a:prstGeom>
          <a:noFill/>
          <a:ln/>
        </p:spPr>
        <p:txBody>
          <a:bodyPr wrap="square" lIns="0" tIns="0" rIns="0" bIns="0" rtlCol="0" anchor="t"/>
          <a:lstStyle/>
          <a:p>
            <a:pPr indent="0" marL="0">
              <a:buNone/>
            </a:pPr>
            <a:r>
              <a:rPr lang="en-US" sz="1150" b="1" dirty="0">
                <a:solidFill>
                  <a:srgbClr val="C2185B"/>
                </a:solidFill>
                <a:latin typeface="Arial" pitchFamily="34" charset="0"/>
                <a:ea typeface="Arial" pitchFamily="34" charset="-122"/>
                <a:cs typeface="Arial" pitchFamily="34" charset="-120"/>
              </a:rPr>
              <a:t>RF08  </a:t>
            </a:r>
            <a:pPr indent="0" marL="0">
              <a:buNone/>
            </a:pPr>
            <a:r>
              <a:rPr lang="en-US" sz="1150" dirty="0">
                <a:solidFill>
                  <a:srgbClr val="1B1B3A"/>
                </a:solidFill>
                <a:latin typeface="Arial" pitchFamily="34" charset="0"/>
                <a:ea typeface="Arial" pitchFamily="34" charset="-122"/>
                <a:cs typeface="Arial" pitchFamily="34" charset="-120"/>
              </a:rPr>
              <a:t>Entrega pelo CEP</a:t>
            </a:r>
            <a:endParaRPr lang="en-US" sz="1150" dirty="0"/>
          </a:p>
        </p:txBody>
      </p:sp>
      <p:sp>
        <p:nvSpPr>
          <p:cNvPr id="20" name="Text 18"/>
          <p:cNvSpPr txBox="1"/>
          <p:nvPr/>
        </p:nvSpPr>
        <p:spPr>
          <a:xfrm>
            <a:off x="4069080" y="2523744"/>
            <a:ext cx="2240280" cy="274320"/>
          </a:xfrm>
          <a:prstGeom prst="rect">
            <a:avLst/>
          </a:prstGeom>
          <a:noFill/>
          <a:ln/>
        </p:spPr>
        <p:txBody>
          <a:bodyPr wrap="square" lIns="0" tIns="0" rIns="0" bIns="0" rtlCol="0" anchor="t"/>
          <a:lstStyle/>
          <a:p>
            <a:pPr indent="0" marL="0">
              <a:buNone/>
            </a:pPr>
            <a:r>
              <a:rPr lang="en-US" sz="1150" b="1" dirty="0">
                <a:solidFill>
                  <a:srgbClr val="C2185B"/>
                </a:solidFill>
                <a:latin typeface="Arial" pitchFamily="34" charset="0"/>
                <a:ea typeface="Arial" pitchFamily="34" charset="-122"/>
                <a:cs typeface="Arial" pitchFamily="34" charset="-120"/>
              </a:rPr>
              <a:t>RF10  </a:t>
            </a:r>
            <a:pPr indent="0" marL="0">
              <a:buNone/>
            </a:pPr>
            <a:r>
              <a:rPr lang="en-US" sz="1150" dirty="0">
                <a:solidFill>
                  <a:srgbClr val="1B1B3A"/>
                </a:solidFill>
                <a:latin typeface="Arial" pitchFamily="34" charset="0"/>
                <a:ea typeface="Arial" pitchFamily="34" charset="-122"/>
                <a:cs typeface="Arial" pitchFamily="34" charset="-120"/>
              </a:rPr>
              <a:t>Finalizar pedido</a:t>
            </a:r>
            <a:endParaRPr lang="en-US" sz="1150" dirty="0"/>
          </a:p>
        </p:txBody>
      </p:sp>
      <p:sp>
        <p:nvSpPr>
          <p:cNvPr id="21" name="Text 19"/>
          <p:cNvSpPr txBox="1"/>
          <p:nvPr/>
        </p:nvSpPr>
        <p:spPr>
          <a:xfrm>
            <a:off x="6355080" y="2523744"/>
            <a:ext cx="2240280" cy="274320"/>
          </a:xfrm>
          <a:prstGeom prst="rect">
            <a:avLst/>
          </a:prstGeom>
          <a:noFill/>
          <a:ln/>
        </p:spPr>
        <p:txBody>
          <a:bodyPr wrap="square" lIns="0" tIns="0" rIns="0" bIns="0" rtlCol="0" anchor="t"/>
          <a:lstStyle/>
          <a:p>
            <a:pPr indent="0" marL="0">
              <a:buNone/>
            </a:pPr>
            <a:r>
              <a:rPr lang="en-US" sz="1150" b="1" dirty="0">
                <a:solidFill>
                  <a:srgbClr val="C2185B"/>
                </a:solidFill>
                <a:latin typeface="Arial" pitchFamily="34" charset="0"/>
                <a:ea typeface="Arial" pitchFamily="34" charset="-122"/>
                <a:cs typeface="Arial" pitchFamily="34" charset="-120"/>
              </a:rPr>
              <a:t>RF12  </a:t>
            </a:r>
            <a:pPr indent="0" marL="0">
              <a:buNone/>
            </a:pPr>
            <a:r>
              <a:rPr lang="en-US" sz="1150" dirty="0">
                <a:solidFill>
                  <a:srgbClr val="1B1B3A"/>
                </a:solidFill>
                <a:latin typeface="Arial" pitchFamily="34" charset="0"/>
                <a:ea typeface="Arial" pitchFamily="34" charset="-122"/>
                <a:cs typeface="Arial" pitchFamily="34" charset="-120"/>
              </a:rPr>
              <a:t>Pedido no WhatsApp</a:t>
            </a:r>
            <a:endParaRPr lang="en-US" sz="1150" dirty="0"/>
          </a:p>
        </p:txBody>
      </p:sp>
      <p:sp>
        <p:nvSpPr>
          <p:cNvPr id="22" name="Text 20"/>
          <p:cNvSpPr txBox="1"/>
          <p:nvPr/>
        </p:nvSpPr>
        <p:spPr>
          <a:xfrm>
            <a:off x="4069080" y="2862072"/>
            <a:ext cx="2240280" cy="274320"/>
          </a:xfrm>
          <a:prstGeom prst="rect">
            <a:avLst/>
          </a:prstGeom>
          <a:noFill/>
          <a:ln/>
        </p:spPr>
        <p:txBody>
          <a:bodyPr wrap="square" lIns="0" tIns="0" rIns="0" bIns="0" rtlCol="0" anchor="t"/>
          <a:lstStyle/>
          <a:p>
            <a:pPr indent="0" marL="0">
              <a:buNone/>
            </a:pPr>
            <a:r>
              <a:rPr lang="en-US" sz="1150" b="1" dirty="0">
                <a:solidFill>
                  <a:srgbClr val="C2185B"/>
                </a:solidFill>
                <a:latin typeface="Arial" pitchFamily="34" charset="0"/>
                <a:ea typeface="Arial" pitchFamily="34" charset="-122"/>
                <a:cs typeface="Arial" pitchFamily="34" charset="-120"/>
              </a:rPr>
              <a:t>RF16  </a:t>
            </a:r>
            <a:pPr indent="0" marL="0">
              <a:buNone/>
            </a:pPr>
            <a:r>
              <a:rPr lang="en-US" sz="1150" dirty="0">
                <a:solidFill>
                  <a:srgbClr val="1B1B3A"/>
                </a:solidFill>
                <a:latin typeface="Arial" pitchFamily="34" charset="0"/>
                <a:ea typeface="Arial" pitchFamily="34" charset="-122"/>
                <a:cs typeface="Arial" pitchFamily="34" charset="-120"/>
              </a:rPr>
              <a:t>CRUD de produtos</a:t>
            </a:r>
            <a:endParaRPr lang="en-US" sz="1150" dirty="0"/>
          </a:p>
        </p:txBody>
      </p:sp>
      <p:sp>
        <p:nvSpPr>
          <p:cNvPr id="23" name="Text 21"/>
          <p:cNvSpPr txBox="1"/>
          <p:nvPr/>
        </p:nvSpPr>
        <p:spPr>
          <a:xfrm>
            <a:off x="6355080" y="2862072"/>
            <a:ext cx="2240280" cy="274320"/>
          </a:xfrm>
          <a:prstGeom prst="rect">
            <a:avLst/>
          </a:prstGeom>
          <a:noFill/>
          <a:ln/>
        </p:spPr>
        <p:txBody>
          <a:bodyPr wrap="square" lIns="0" tIns="0" rIns="0" bIns="0" rtlCol="0" anchor="t"/>
          <a:lstStyle/>
          <a:p>
            <a:pPr indent="0" marL="0">
              <a:buNone/>
            </a:pPr>
            <a:r>
              <a:rPr lang="en-US" sz="1150" b="1" dirty="0">
                <a:solidFill>
                  <a:srgbClr val="C2185B"/>
                </a:solidFill>
                <a:latin typeface="Arial" pitchFamily="34" charset="0"/>
                <a:ea typeface="Arial" pitchFamily="34" charset="-122"/>
                <a:cs typeface="Arial" pitchFamily="34" charset="-120"/>
              </a:rPr>
              <a:t>RF19  </a:t>
            </a:r>
            <a:pPr indent="0" marL="0">
              <a:buNone/>
            </a:pPr>
            <a:r>
              <a:rPr lang="en-US" sz="1150" dirty="0">
                <a:solidFill>
                  <a:srgbClr val="1B1B3A"/>
                </a:solidFill>
                <a:latin typeface="Arial" pitchFamily="34" charset="0"/>
                <a:ea typeface="Arial" pitchFamily="34" charset="-122"/>
                <a:cs typeface="Arial" pitchFamily="34" charset="-120"/>
              </a:rPr>
              <a:t>Lista de pedidos</a:t>
            </a:r>
            <a:endParaRPr lang="en-US" sz="1150" dirty="0"/>
          </a:p>
        </p:txBody>
      </p:sp>
      <p:sp>
        <p:nvSpPr>
          <p:cNvPr id="24" name="Shape 22"/>
          <p:cNvSpPr/>
          <p:nvPr/>
        </p:nvSpPr>
        <p:spPr>
          <a:xfrm>
            <a:off x="3840480" y="3520440"/>
            <a:ext cx="4846320" cy="1188720"/>
          </a:xfrm>
          <a:prstGeom prst="roundRect">
            <a:avLst>
              <a:gd name="adj" fmla="val 6154"/>
            </a:avLst>
          </a:prstGeom>
          <a:solidFill>
            <a:srgbClr val="F4F4F8"/>
          </a:solidFill>
          <a:ln w="12700">
            <a:solidFill>
              <a:srgbClr val="F4F4F8"/>
            </a:solidFill>
            <a:prstDash val="solid"/>
          </a:ln>
        </p:spPr>
      </p:sp>
      <p:sp>
        <p:nvSpPr>
          <p:cNvPr id="25" name="Text 23"/>
          <p:cNvSpPr txBox="1"/>
          <p:nvPr/>
        </p:nvSpPr>
        <p:spPr>
          <a:xfrm>
            <a:off x="4069080" y="3639312"/>
            <a:ext cx="4389120" cy="274320"/>
          </a:xfrm>
          <a:prstGeom prst="rect">
            <a:avLst/>
          </a:prstGeom>
          <a:noFill/>
          <a:ln/>
        </p:spPr>
        <p:txBody>
          <a:bodyPr wrap="square" lIns="0" tIns="0" rIns="0" bIns="0" rtlCol="0" anchor="t"/>
          <a:lstStyle/>
          <a:p>
            <a:pPr indent="0" marL="0">
              <a:buNone/>
            </a:pPr>
            <a:r>
              <a:rPr lang="en-US" sz="1300" b="1" dirty="0">
                <a:solidFill>
                  <a:srgbClr val="C2185B"/>
                </a:solidFill>
                <a:latin typeface="Arial" pitchFamily="34" charset="0"/>
                <a:ea typeface="Arial" pitchFamily="34" charset="-122"/>
                <a:cs typeface="Arial" pitchFamily="34" charset="-120"/>
              </a:rPr>
              <a:t>Não funcionais</a:t>
            </a:r>
            <a:endParaRPr lang="en-US" sz="1300" dirty="0"/>
          </a:p>
        </p:txBody>
      </p:sp>
      <p:sp>
        <p:nvSpPr>
          <p:cNvPr id="26" name="Text 24"/>
          <p:cNvSpPr txBox="1"/>
          <p:nvPr/>
        </p:nvSpPr>
        <p:spPr>
          <a:xfrm>
            <a:off x="4069080" y="3931920"/>
            <a:ext cx="4434840" cy="731520"/>
          </a:xfrm>
          <a:prstGeom prst="rect">
            <a:avLst/>
          </a:prstGeom>
          <a:noFill/>
          <a:ln/>
        </p:spPr>
        <p:txBody>
          <a:bodyPr wrap="square" lIns="0" tIns="0" rIns="0" bIns="0" rtlCol="0" anchor="t"/>
          <a:lstStyle/>
          <a:p>
            <a:pPr indent="0" marL="0">
              <a:buNone/>
            </a:pPr>
            <a:r>
              <a:rPr lang="en-US" sz="1150" dirty="0">
                <a:solidFill>
                  <a:srgbClr val="1B1B3A"/>
                </a:solidFill>
                <a:latin typeface="Arial" pitchFamily="34" charset="0"/>
                <a:ea typeface="Arial" pitchFamily="34" charset="-122"/>
                <a:cs typeface="Arial" pitchFamily="34" charset="-120"/>
              </a:rPr>
              <a:t>Responsivo · Acessível (WCAG AA) · Senha em hash e HTTPS · Total recalculado no servidor · Venda só a maiores de 18 · LGPD · Imagens leves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8</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Protótipo das telas (1/3)</a:t>
            </a:r>
            <a:endParaRPr lang="en-US" sz="2800" dirty="0"/>
          </a:p>
        </p:txBody>
      </p:sp>
      <p:sp>
        <p:nvSpPr>
          <p:cNvPr id="6" name="Shape 4"/>
          <p:cNvSpPr/>
          <p:nvPr/>
        </p:nvSpPr>
        <p:spPr>
          <a:xfrm>
            <a:off x="438912" y="1216152"/>
            <a:ext cx="2642616" cy="1665351"/>
          </a:xfrm>
          <a:prstGeom prst="rect">
            <a:avLst/>
          </a:prstGeom>
          <a:solidFill>
            <a:srgbClr val="1B1B3A"/>
          </a:solidFill>
          <a:ln w="12700">
            <a:solidFill>
              <a:srgbClr val="1B1B3A"/>
            </a:solidFill>
            <a:prstDash val="solid"/>
          </a:ln>
        </p:spPr>
      </p:sp>
      <p:pic>
        <p:nvPicPr>
          <p:cNvPr id="7" name="Image 0" descr="/home/user/Site-Zero-Grau/docs/entrega-1/imagens/t1-login.png">    </p:cNvPr>
          <p:cNvPicPr>
            <a:picLocks noChangeAspect="1"/>
          </p:cNvPicPr>
          <p:nvPr/>
        </p:nvPicPr>
        <p:blipFill>
          <a:blip r:embed="rId1"/>
          <a:stretch>
            <a:fillRect/>
          </a:stretch>
        </p:blipFill>
        <p:spPr>
          <a:xfrm>
            <a:off x="457200" y="1234440"/>
            <a:ext cx="2606040" cy="1628775"/>
          </a:xfrm>
          <a:prstGeom prst="rect">
            <a:avLst/>
          </a:prstGeom>
        </p:spPr>
      </p:pic>
      <p:sp>
        <p:nvSpPr>
          <p:cNvPr id="8" name="Text 5"/>
          <p:cNvSpPr txBox="1"/>
          <p:nvPr/>
        </p:nvSpPr>
        <p:spPr>
          <a:xfrm>
            <a:off x="457200" y="3027807"/>
            <a:ext cx="2606040" cy="502920"/>
          </a:xfrm>
          <a:prstGeom prst="rect">
            <a:avLst/>
          </a:prstGeom>
          <a:noFill/>
          <a:ln/>
        </p:spPr>
        <p:txBody>
          <a:bodyPr wrap="square" lIns="0" tIns="0" rIns="0" bIns="0" rtlCol="0" anchor="t"/>
          <a:lstStyle/>
          <a:p>
            <a:pPr indent="0" marL="0">
              <a:buNone/>
            </a:pPr>
            <a:r>
              <a:rPr lang="en-US" sz="1400" b="1" dirty="0">
                <a:solidFill>
                  <a:srgbClr val="1B1B3A"/>
                </a:solidFill>
                <a:latin typeface="Arial" pitchFamily="34" charset="0"/>
                <a:ea typeface="Arial" pitchFamily="34" charset="-122"/>
                <a:cs typeface="Arial" pitchFamily="34" charset="-120"/>
              </a:rPr>
              <a:t>Porta — Entrar</a:t>
            </a:r>
            <a:endParaRPr lang="en-US" sz="1400" dirty="0"/>
          </a:p>
        </p:txBody>
      </p:sp>
      <p:sp>
        <p:nvSpPr>
          <p:cNvPr id="9" name="Text 6"/>
          <p:cNvSpPr txBox="1"/>
          <p:nvPr/>
        </p:nvSpPr>
        <p:spPr>
          <a:xfrm>
            <a:off x="457200" y="3576447"/>
            <a:ext cx="2606040" cy="1188720"/>
          </a:xfrm>
          <a:prstGeom prst="rect">
            <a:avLst/>
          </a:prstGeom>
          <a:noFill/>
          <a:ln/>
        </p:spPr>
        <p:txBody>
          <a:bodyPr wrap="square" lIns="0" tIns="0" rIns="0" bIns="0" rtlCol="0" anchor="t"/>
          <a:lstStyle/>
          <a:p>
            <a:pPr indent="0" marL="0">
              <a:buNone/>
            </a:pPr>
            <a:r>
              <a:rPr lang="en-US" sz="1200" dirty="0">
                <a:solidFill>
                  <a:srgbClr val="5A5A70"/>
                </a:solidFill>
                <a:latin typeface="Arial" pitchFamily="34" charset="0"/>
                <a:ea typeface="Arial" pitchFamily="34" charset="-122"/>
                <a:cs typeface="Arial" pitchFamily="34" charset="-120"/>
              </a:rPr>
              <a:t>Autenticar o cliente só com e-mail e senha, depois do aviso de maioridade, e oferecer "Criar conta" a quem ainda não tem.</a:t>
            </a:r>
            <a:endParaRPr lang="en-US" sz="1200" dirty="0"/>
          </a:p>
        </p:txBody>
      </p:sp>
      <p:sp>
        <p:nvSpPr>
          <p:cNvPr id="10" name="Shape 7"/>
          <p:cNvSpPr/>
          <p:nvPr/>
        </p:nvSpPr>
        <p:spPr>
          <a:xfrm>
            <a:off x="3246120" y="1216152"/>
            <a:ext cx="2642616" cy="1665351"/>
          </a:xfrm>
          <a:prstGeom prst="rect">
            <a:avLst/>
          </a:prstGeom>
          <a:solidFill>
            <a:srgbClr val="1B1B3A"/>
          </a:solidFill>
          <a:ln w="12700">
            <a:solidFill>
              <a:srgbClr val="1B1B3A"/>
            </a:solidFill>
            <a:prstDash val="solid"/>
          </a:ln>
        </p:spPr>
      </p:sp>
      <p:pic>
        <p:nvPicPr>
          <p:cNvPr id="11" name="Image 1" descr="/home/user/Site-Zero-Grau/docs/entrega-1/imagens/t2-criar-conta.png">    </p:cNvPr>
          <p:cNvPicPr>
            <a:picLocks noChangeAspect="1"/>
          </p:cNvPicPr>
          <p:nvPr/>
        </p:nvPicPr>
        <p:blipFill>
          <a:blip r:embed="rId2"/>
          <a:stretch>
            <a:fillRect/>
          </a:stretch>
        </p:blipFill>
        <p:spPr>
          <a:xfrm>
            <a:off x="3264408" y="1234440"/>
            <a:ext cx="2606040" cy="1628775"/>
          </a:xfrm>
          <a:prstGeom prst="rect">
            <a:avLst/>
          </a:prstGeom>
        </p:spPr>
      </p:pic>
      <p:sp>
        <p:nvSpPr>
          <p:cNvPr id="12" name="Text 8"/>
          <p:cNvSpPr txBox="1"/>
          <p:nvPr/>
        </p:nvSpPr>
        <p:spPr>
          <a:xfrm>
            <a:off x="3264408" y="3027807"/>
            <a:ext cx="2606040" cy="502920"/>
          </a:xfrm>
          <a:prstGeom prst="rect">
            <a:avLst/>
          </a:prstGeom>
          <a:noFill/>
          <a:ln/>
        </p:spPr>
        <p:txBody>
          <a:bodyPr wrap="square" lIns="0" tIns="0" rIns="0" bIns="0" rtlCol="0" anchor="t"/>
          <a:lstStyle/>
          <a:p>
            <a:pPr indent="0" marL="0">
              <a:buNone/>
            </a:pPr>
            <a:r>
              <a:rPr lang="en-US" sz="1400" b="1" dirty="0">
                <a:solidFill>
                  <a:srgbClr val="1B1B3A"/>
                </a:solidFill>
                <a:latin typeface="Arial" pitchFamily="34" charset="0"/>
                <a:ea typeface="Arial" pitchFamily="34" charset="-122"/>
                <a:cs typeface="Arial" pitchFamily="34" charset="-120"/>
              </a:rPr>
              <a:t>Porta — Criar conta</a:t>
            </a:r>
            <a:endParaRPr lang="en-US" sz="1400" dirty="0"/>
          </a:p>
        </p:txBody>
      </p:sp>
      <p:sp>
        <p:nvSpPr>
          <p:cNvPr id="13" name="Text 9"/>
          <p:cNvSpPr txBox="1"/>
          <p:nvPr/>
        </p:nvSpPr>
        <p:spPr>
          <a:xfrm>
            <a:off x="3264408" y="3576447"/>
            <a:ext cx="2606040" cy="1188720"/>
          </a:xfrm>
          <a:prstGeom prst="rect">
            <a:avLst/>
          </a:prstGeom>
          <a:noFill/>
          <a:ln/>
        </p:spPr>
        <p:txBody>
          <a:bodyPr wrap="square" lIns="0" tIns="0" rIns="0" bIns="0" rtlCol="0" anchor="t"/>
          <a:lstStyle/>
          <a:p>
            <a:pPr indent="0" marL="0">
              <a:buNone/>
            </a:pPr>
            <a:r>
              <a:rPr lang="en-US" sz="1200" dirty="0">
                <a:solidFill>
                  <a:srgbClr val="5A5A70"/>
                </a:solidFill>
                <a:latin typeface="Arial" pitchFamily="34" charset="0"/>
                <a:ea typeface="Arial" pitchFamily="34" charset="-122"/>
                <a:cs typeface="Arial" pitchFamily="34" charset="-120"/>
              </a:rPr>
              <a:t>Cadastrar o cliente e decidir, pelo CPF ou CNPJ, se ele compra no varejo ou no atacado.</a:t>
            </a:r>
            <a:endParaRPr lang="en-US" sz="1200" dirty="0"/>
          </a:p>
        </p:txBody>
      </p:sp>
      <p:sp>
        <p:nvSpPr>
          <p:cNvPr id="14" name="Shape 10"/>
          <p:cNvSpPr/>
          <p:nvPr/>
        </p:nvSpPr>
        <p:spPr>
          <a:xfrm>
            <a:off x="6053328" y="1216152"/>
            <a:ext cx="2642616" cy="1665351"/>
          </a:xfrm>
          <a:prstGeom prst="rect">
            <a:avLst/>
          </a:prstGeom>
          <a:solidFill>
            <a:srgbClr val="1B1B3A"/>
          </a:solidFill>
          <a:ln w="12700">
            <a:solidFill>
              <a:srgbClr val="1B1B3A"/>
            </a:solidFill>
            <a:prstDash val="solid"/>
          </a:ln>
        </p:spPr>
      </p:sp>
      <p:pic>
        <p:nvPicPr>
          <p:cNvPr id="15" name="Image 2" descr="/home/user/Site-Zero-Grau/docs/entrega-1/imagens/t3-inicio.png">    </p:cNvPr>
          <p:cNvPicPr>
            <a:picLocks noChangeAspect="1"/>
          </p:cNvPicPr>
          <p:nvPr/>
        </p:nvPicPr>
        <p:blipFill>
          <a:blip r:embed="rId3"/>
          <a:stretch>
            <a:fillRect/>
          </a:stretch>
        </p:blipFill>
        <p:spPr>
          <a:xfrm>
            <a:off x="6071616" y="1234440"/>
            <a:ext cx="2606040" cy="1628775"/>
          </a:xfrm>
          <a:prstGeom prst="rect">
            <a:avLst/>
          </a:prstGeom>
        </p:spPr>
      </p:pic>
      <p:sp>
        <p:nvSpPr>
          <p:cNvPr id="16" name="Text 11"/>
          <p:cNvSpPr txBox="1"/>
          <p:nvPr/>
        </p:nvSpPr>
        <p:spPr>
          <a:xfrm>
            <a:off x="6071616" y="3027807"/>
            <a:ext cx="2606040" cy="502920"/>
          </a:xfrm>
          <a:prstGeom prst="rect">
            <a:avLst/>
          </a:prstGeom>
          <a:noFill/>
          <a:ln/>
        </p:spPr>
        <p:txBody>
          <a:bodyPr wrap="square" lIns="0" tIns="0" rIns="0" bIns="0" rtlCol="0" anchor="t"/>
          <a:lstStyle/>
          <a:p>
            <a:pPr indent="0" marL="0">
              <a:buNone/>
            </a:pPr>
            <a:r>
              <a:rPr lang="en-US" sz="1400" b="1" dirty="0">
                <a:solidFill>
                  <a:srgbClr val="1B1B3A"/>
                </a:solidFill>
                <a:latin typeface="Arial" pitchFamily="34" charset="0"/>
                <a:ea typeface="Arial" pitchFamily="34" charset="-122"/>
                <a:cs typeface="Arial" pitchFamily="34" charset="-120"/>
              </a:rPr>
              <a:t>Varejo — Início</a:t>
            </a:r>
            <a:endParaRPr lang="en-US" sz="1400" dirty="0"/>
          </a:p>
        </p:txBody>
      </p:sp>
      <p:sp>
        <p:nvSpPr>
          <p:cNvPr id="17" name="Text 12"/>
          <p:cNvSpPr txBox="1"/>
          <p:nvPr/>
        </p:nvSpPr>
        <p:spPr>
          <a:xfrm>
            <a:off x="6071616" y="3576447"/>
            <a:ext cx="2606040" cy="1188720"/>
          </a:xfrm>
          <a:prstGeom prst="rect">
            <a:avLst/>
          </a:prstGeom>
          <a:noFill/>
          <a:ln/>
        </p:spPr>
        <p:txBody>
          <a:bodyPr wrap="square" lIns="0" tIns="0" rIns="0" bIns="0" rtlCol="0" anchor="t"/>
          <a:lstStyle/>
          <a:p>
            <a:pPr indent="0" marL="0">
              <a:buNone/>
            </a:pPr>
            <a:r>
              <a:rPr lang="en-US" sz="1200" dirty="0">
                <a:solidFill>
                  <a:srgbClr val="5A5A70"/>
                </a:solidFill>
                <a:latin typeface="Arial" pitchFamily="34" charset="0"/>
                <a:ea typeface="Arial" pitchFamily="34" charset="-122"/>
                <a:cs typeface="Arial" pitchFamily="34" charset="-120"/>
              </a:rPr>
              <a:t>Dizer de quem é a loja, se está aberta, quanto custa a entrega e o pedido mínimo antes do catálogo; consultar a taxa pelo CEP.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9</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Protótipo das telas (2/3)</a:t>
            </a:r>
            <a:endParaRPr lang="en-US" sz="2800" dirty="0"/>
          </a:p>
        </p:txBody>
      </p:sp>
      <p:sp>
        <p:nvSpPr>
          <p:cNvPr id="6" name="Shape 4"/>
          <p:cNvSpPr/>
          <p:nvPr/>
        </p:nvSpPr>
        <p:spPr>
          <a:xfrm>
            <a:off x="438912" y="1216152"/>
            <a:ext cx="2642616" cy="1665351"/>
          </a:xfrm>
          <a:prstGeom prst="rect">
            <a:avLst/>
          </a:prstGeom>
          <a:solidFill>
            <a:srgbClr val="1B1B3A"/>
          </a:solidFill>
          <a:ln w="12700">
            <a:solidFill>
              <a:srgbClr val="1B1B3A"/>
            </a:solidFill>
            <a:prstDash val="solid"/>
          </a:ln>
        </p:spPr>
      </p:sp>
      <p:pic>
        <p:nvPicPr>
          <p:cNvPr id="7" name="Image 0" descr="/home/user/Site-Zero-Grau/docs/entrega-1/imagens/t4-catalogo.png">    </p:cNvPr>
          <p:cNvPicPr>
            <a:picLocks noChangeAspect="1"/>
          </p:cNvPicPr>
          <p:nvPr/>
        </p:nvPicPr>
        <p:blipFill>
          <a:blip r:embed="rId1"/>
          <a:stretch>
            <a:fillRect/>
          </a:stretch>
        </p:blipFill>
        <p:spPr>
          <a:xfrm>
            <a:off x="457200" y="1234440"/>
            <a:ext cx="2606040" cy="1628775"/>
          </a:xfrm>
          <a:prstGeom prst="rect">
            <a:avLst/>
          </a:prstGeom>
        </p:spPr>
      </p:pic>
      <p:sp>
        <p:nvSpPr>
          <p:cNvPr id="8" name="Text 5"/>
          <p:cNvSpPr txBox="1"/>
          <p:nvPr/>
        </p:nvSpPr>
        <p:spPr>
          <a:xfrm>
            <a:off x="457200" y="3027807"/>
            <a:ext cx="2606040" cy="502920"/>
          </a:xfrm>
          <a:prstGeom prst="rect">
            <a:avLst/>
          </a:prstGeom>
          <a:noFill/>
          <a:ln/>
        </p:spPr>
        <p:txBody>
          <a:bodyPr wrap="square" lIns="0" tIns="0" rIns="0" bIns="0" rtlCol="0" anchor="t"/>
          <a:lstStyle/>
          <a:p>
            <a:pPr indent="0" marL="0">
              <a:buNone/>
            </a:pPr>
            <a:r>
              <a:rPr lang="en-US" sz="1400" b="1" dirty="0">
                <a:solidFill>
                  <a:srgbClr val="1B1B3A"/>
                </a:solidFill>
                <a:latin typeface="Arial" pitchFamily="34" charset="0"/>
                <a:ea typeface="Arial" pitchFamily="34" charset="-122"/>
                <a:cs typeface="Arial" pitchFamily="34" charset="-120"/>
              </a:rPr>
              <a:t>Varejo — Catálogo</a:t>
            </a:r>
            <a:endParaRPr lang="en-US" sz="1400" dirty="0"/>
          </a:p>
        </p:txBody>
      </p:sp>
      <p:sp>
        <p:nvSpPr>
          <p:cNvPr id="9" name="Text 6"/>
          <p:cNvSpPr txBox="1"/>
          <p:nvPr/>
        </p:nvSpPr>
        <p:spPr>
          <a:xfrm>
            <a:off x="457200" y="3576447"/>
            <a:ext cx="2606040" cy="1188720"/>
          </a:xfrm>
          <a:prstGeom prst="rect">
            <a:avLst/>
          </a:prstGeom>
          <a:noFill/>
          <a:ln/>
        </p:spPr>
        <p:txBody>
          <a:bodyPr wrap="square" lIns="0" tIns="0" rIns="0" bIns="0" rtlCol="0" anchor="t"/>
          <a:lstStyle/>
          <a:p>
            <a:pPr indent="0" marL="0">
              <a:buNone/>
            </a:pPr>
            <a:r>
              <a:rPr lang="en-US" sz="1200" dirty="0">
                <a:solidFill>
                  <a:srgbClr val="5A5A70"/>
                </a:solidFill>
                <a:latin typeface="Arial" pitchFamily="34" charset="0"/>
                <a:ea typeface="Arial" pitchFamily="34" charset="-122"/>
                <a:cs typeface="Arial" pitchFamily="34" charset="-120"/>
              </a:rPr>
              <a:t>Mostrar os produtos com foto, preço, promoção e estoque; buscar e filtrar por categoria; adicionar ao carrinho.</a:t>
            </a:r>
            <a:endParaRPr lang="en-US" sz="1200" dirty="0"/>
          </a:p>
        </p:txBody>
      </p:sp>
      <p:sp>
        <p:nvSpPr>
          <p:cNvPr id="10" name="Shape 7"/>
          <p:cNvSpPr/>
          <p:nvPr/>
        </p:nvSpPr>
        <p:spPr>
          <a:xfrm>
            <a:off x="3246120" y="1216152"/>
            <a:ext cx="2642616" cy="1665351"/>
          </a:xfrm>
          <a:prstGeom prst="rect">
            <a:avLst/>
          </a:prstGeom>
          <a:solidFill>
            <a:srgbClr val="1B1B3A"/>
          </a:solidFill>
          <a:ln w="12700">
            <a:solidFill>
              <a:srgbClr val="1B1B3A"/>
            </a:solidFill>
            <a:prstDash val="solid"/>
          </a:ln>
        </p:spPr>
      </p:sp>
      <p:pic>
        <p:nvPicPr>
          <p:cNvPr id="11" name="Image 1" descr="/home/user/Site-Zero-Grau/docs/entrega-1/imagens/t5-carrinho.png">    </p:cNvPr>
          <p:cNvPicPr>
            <a:picLocks noChangeAspect="1"/>
          </p:cNvPicPr>
          <p:nvPr/>
        </p:nvPicPr>
        <p:blipFill>
          <a:blip r:embed="rId2"/>
          <a:stretch>
            <a:fillRect/>
          </a:stretch>
        </p:blipFill>
        <p:spPr>
          <a:xfrm>
            <a:off x="3264408" y="1234440"/>
            <a:ext cx="2606040" cy="1628775"/>
          </a:xfrm>
          <a:prstGeom prst="rect">
            <a:avLst/>
          </a:prstGeom>
        </p:spPr>
      </p:pic>
      <p:sp>
        <p:nvSpPr>
          <p:cNvPr id="12" name="Text 8"/>
          <p:cNvSpPr txBox="1"/>
          <p:nvPr/>
        </p:nvSpPr>
        <p:spPr>
          <a:xfrm>
            <a:off x="3264408" y="3027807"/>
            <a:ext cx="2606040" cy="502920"/>
          </a:xfrm>
          <a:prstGeom prst="rect">
            <a:avLst/>
          </a:prstGeom>
          <a:noFill/>
          <a:ln/>
        </p:spPr>
        <p:txBody>
          <a:bodyPr wrap="square" lIns="0" tIns="0" rIns="0" bIns="0" rtlCol="0" anchor="t"/>
          <a:lstStyle/>
          <a:p>
            <a:pPr indent="0" marL="0">
              <a:buNone/>
            </a:pPr>
            <a:r>
              <a:rPr lang="en-US" sz="1400" b="1" dirty="0">
                <a:solidFill>
                  <a:srgbClr val="1B1B3A"/>
                </a:solidFill>
                <a:latin typeface="Arial" pitchFamily="34" charset="0"/>
                <a:ea typeface="Arial" pitchFamily="34" charset="-122"/>
                <a:cs typeface="Arial" pitchFamily="34" charset="-120"/>
              </a:rPr>
              <a:t>Varejo — Carrinho</a:t>
            </a:r>
            <a:endParaRPr lang="en-US" sz="1400" dirty="0"/>
          </a:p>
        </p:txBody>
      </p:sp>
      <p:sp>
        <p:nvSpPr>
          <p:cNvPr id="13" name="Text 9"/>
          <p:cNvSpPr txBox="1"/>
          <p:nvPr/>
        </p:nvSpPr>
        <p:spPr>
          <a:xfrm>
            <a:off x="3264408" y="3576447"/>
            <a:ext cx="2606040" cy="1188720"/>
          </a:xfrm>
          <a:prstGeom prst="rect">
            <a:avLst/>
          </a:prstGeom>
          <a:noFill/>
          <a:ln/>
        </p:spPr>
        <p:txBody>
          <a:bodyPr wrap="square" lIns="0" tIns="0" rIns="0" bIns="0" rtlCol="0" anchor="t"/>
          <a:lstStyle/>
          <a:p>
            <a:pPr indent="0" marL="0">
              <a:buNone/>
            </a:pPr>
            <a:r>
              <a:rPr lang="en-US" sz="1200" dirty="0">
                <a:solidFill>
                  <a:srgbClr val="5A5A70"/>
                </a:solidFill>
                <a:latin typeface="Arial" pitchFamily="34" charset="0"/>
                <a:ea typeface="Arial" pitchFamily="34" charset="-122"/>
                <a:cs typeface="Arial" pitchFamily="34" charset="-120"/>
              </a:rPr>
              <a:t>Revisar itens e quantidades, aplicar cupom e ver subtotal, entrega e total antes de continuar.</a:t>
            </a:r>
            <a:endParaRPr lang="en-US" sz="1200" dirty="0"/>
          </a:p>
        </p:txBody>
      </p:sp>
      <p:sp>
        <p:nvSpPr>
          <p:cNvPr id="14" name="Shape 10"/>
          <p:cNvSpPr/>
          <p:nvPr/>
        </p:nvSpPr>
        <p:spPr>
          <a:xfrm>
            <a:off x="6053328" y="1216152"/>
            <a:ext cx="2642616" cy="1665351"/>
          </a:xfrm>
          <a:prstGeom prst="rect">
            <a:avLst/>
          </a:prstGeom>
          <a:solidFill>
            <a:srgbClr val="1B1B3A"/>
          </a:solidFill>
          <a:ln w="12700">
            <a:solidFill>
              <a:srgbClr val="1B1B3A"/>
            </a:solidFill>
            <a:prstDash val="solid"/>
          </a:ln>
        </p:spPr>
      </p:sp>
      <p:pic>
        <p:nvPicPr>
          <p:cNvPr id="15" name="Image 2" descr="/home/user/Site-Zero-Grau/docs/entrega-1/imagens/t6-fechamento.png">    </p:cNvPr>
          <p:cNvPicPr>
            <a:picLocks noChangeAspect="1"/>
          </p:cNvPicPr>
          <p:nvPr/>
        </p:nvPicPr>
        <p:blipFill>
          <a:blip r:embed="rId3"/>
          <a:stretch>
            <a:fillRect/>
          </a:stretch>
        </p:blipFill>
        <p:spPr>
          <a:xfrm>
            <a:off x="6071616" y="1234440"/>
            <a:ext cx="2606040" cy="1628775"/>
          </a:xfrm>
          <a:prstGeom prst="rect">
            <a:avLst/>
          </a:prstGeom>
        </p:spPr>
      </p:pic>
      <p:sp>
        <p:nvSpPr>
          <p:cNvPr id="16" name="Text 11"/>
          <p:cNvSpPr txBox="1"/>
          <p:nvPr/>
        </p:nvSpPr>
        <p:spPr>
          <a:xfrm>
            <a:off x="6071616" y="3027807"/>
            <a:ext cx="2606040" cy="502920"/>
          </a:xfrm>
          <a:prstGeom prst="rect">
            <a:avLst/>
          </a:prstGeom>
          <a:noFill/>
          <a:ln/>
        </p:spPr>
        <p:txBody>
          <a:bodyPr wrap="square" lIns="0" tIns="0" rIns="0" bIns="0" rtlCol="0" anchor="t"/>
          <a:lstStyle/>
          <a:p>
            <a:pPr indent="0" marL="0">
              <a:buNone/>
            </a:pPr>
            <a:r>
              <a:rPr lang="en-US" sz="1400" b="1" dirty="0">
                <a:solidFill>
                  <a:srgbClr val="1B1B3A"/>
                </a:solidFill>
                <a:latin typeface="Arial" pitchFamily="34" charset="0"/>
                <a:ea typeface="Arial" pitchFamily="34" charset="-122"/>
                <a:cs typeface="Arial" pitchFamily="34" charset="-120"/>
              </a:rPr>
              <a:t>Varejo — Entrega e pagamento</a:t>
            </a:r>
            <a:endParaRPr lang="en-US" sz="1400" dirty="0"/>
          </a:p>
        </p:txBody>
      </p:sp>
      <p:sp>
        <p:nvSpPr>
          <p:cNvPr id="17" name="Text 12"/>
          <p:cNvSpPr txBox="1"/>
          <p:nvPr/>
        </p:nvSpPr>
        <p:spPr>
          <a:xfrm>
            <a:off x="6071616" y="3576447"/>
            <a:ext cx="2606040" cy="1188720"/>
          </a:xfrm>
          <a:prstGeom prst="rect">
            <a:avLst/>
          </a:prstGeom>
          <a:noFill/>
          <a:ln/>
        </p:spPr>
        <p:txBody>
          <a:bodyPr wrap="square" lIns="0" tIns="0" rIns="0" bIns="0" rtlCol="0" anchor="t"/>
          <a:lstStyle/>
          <a:p>
            <a:pPr indent="0" marL="0">
              <a:buNone/>
            </a:pPr>
            <a:r>
              <a:rPr lang="en-US" sz="1200" dirty="0">
                <a:solidFill>
                  <a:srgbClr val="5A5A70"/>
                </a:solidFill>
                <a:latin typeface="Arial" pitchFamily="34" charset="0"/>
                <a:ea typeface="Arial" pitchFamily="34" charset="-122"/>
                <a:cs typeface="Arial" pitchFamily="34" charset="-120"/>
              </a:rPr>
              <a:t>Coletar nome e endereço (CEP pelo ViaCEP), calcular a entrega e escolher entre pagar pelo site ou enviar o pedido pelo WhatsApp.</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10</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Protótipo das telas (3/3)</a:t>
            </a:r>
            <a:endParaRPr lang="en-US" sz="2800" dirty="0"/>
          </a:p>
        </p:txBody>
      </p:sp>
      <p:sp>
        <p:nvSpPr>
          <p:cNvPr id="6" name="Shape 4"/>
          <p:cNvSpPr/>
          <p:nvPr/>
        </p:nvSpPr>
        <p:spPr>
          <a:xfrm>
            <a:off x="438912" y="1216152"/>
            <a:ext cx="2642616" cy="1665351"/>
          </a:xfrm>
          <a:prstGeom prst="rect">
            <a:avLst/>
          </a:prstGeom>
          <a:solidFill>
            <a:srgbClr val="1B1B3A"/>
          </a:solidFill>
          <a:ln w="12700">
            <a:solidFill>
              <a:srgbClr val="1B1B3A"/>
            </a:solidFill>
            <a:prstDash val="solid"/>
          </a:ln>
        </p:spPr>
      </p:sp>
      <p:pic>
        <p:nvPicPr>
          <p:cNvPr id="7" name="Image 0" descr="/home/user/Site-Zero-Grau/docs/entrega-1/imagens/t7-pix.png">    </p:cNvPr>
          <p:cNvPicPr>
            <a:picLocks noChangeAspect="1"/>
          </p:cNvPicPr>
          <p:nvPr/>
        </p:nvPicPr>
        <p:blipFill>
          <a:blip r:embed="rId1"/>
          <a:stretch>
            <a:fillRect/>
          </a:stretch>
        </p:blipFill>
        <p:spPr>
          <a:xfrm>
            <a:off x="457200" y="1234440"/>
            <a:ext cx="2606040" cy="1628775"/>
          </a:xfrm>
          <a:prstGeom prst="rect">
            <a:avLst/>
          </a:prstGeom>
        </p:spPr>
      </p:pic>
      <p:sp>
        <p:nvSpPr>
          <p:cNvPr id="8" name="Text 5"/>
          <p:cNvSpPr txBox="1"/>
          <p:nvPr/>
        </p:nvSpPr>
        <p:spPr>
          <a:xfrm>
            <a:off x="457200" y="3027807"/>
            <a:ext cx="2606040" cy="502920"/>
          </a:xfrm>
          <a:prstGeom prst="rect">
            <a:avLst/>
          </a:prstGeom>
          <a:noFill/>
          <a:ln/>
        </p:spPr>
        <p:txBody>
          <a:bodyPr wrap="square" lIns="0" tIns="0" rIns="0" bIns="0" rtlCol="0" anchor="t"/>
          <a:lstStyle/>
          <a:p>
            <a:pPr indent="0" marL="0">
              <a:buNone/>
            </a:pPr>
            <a:r>
              <a:rPr lang="en-US" sz="1400" b="1" dirty="0">
                <a:solidFill>
                  <a:srgbClr val="1B1B3A"/>
                </a:solidFill>
                <a:latin typeface="Arial" pitchFamily="34" charset="0"/>
                <a:ea typeface="Arial" pitchFamily="34" charset="-122"/>
                <a:cs typeface="Arial" pitchFamily="34" charset="-120"/>
              </a:rPr>
              <a:t>Varejo — Pagar com Pix</a:t>
            </a:r>
            <a:endParaRPr lang="en-US" sz="1400" dirty="0"/>
          </a:p>
        </p:txBody>
      </p:sp>
      <p:sp>
        <p:nvSpPr>
          <p:cNvPr id="9" name="Text 6"/>
          <p:cNvSpPr txBox="1"/>
          <p:nvPr/>
        </p:nvSpPr>
        <p:spPr>
          <a:xfrm>
            <a:off x="457200" y="3576447"/>
            <a:ext cx="2606040" cy="1188720"/>
          </a:xfrm>
          <a:prstGeom prst="rect">
            <a:avLst/>
          </a:prstGeom>
          <a:noFill/>
          <a:ln/>
        </p:spPr>
        <p:txBody>
          <a:bodyPr wrap="square" lIns="0" tIns="0" rIns="0" bIns="0" rtlCol="0" anchor="t"/>
          <a:lstStyle/>
          <a:p>
            <a:pPr indent="0" marL="0">
              <a:buNone/>
            </a:pPr>
            <a:r>
              <a:rPr lang="en-US" sz="1200" dirty="0">
                <a:solidFill>
                  <a:srgbClr val="5A5A70"/>
                </a:solidFill>
                <a:latin typeface="Arial" pitchFamily="34" charset="0"/>
                <a:ea typeface="Arial" pitchFamily="34" charset="-122"/>
                <a:cs typeface="Arial" pitchFamily="34" charset="-120"/>
              </a:rPr>
              <a:t>Mostrar QR code e "copia e cola" com o valor exato; após o pagamento, enviar o pedido com a referência do Pix.</a:t>
            </a:r>
            <a:endParaRPr lang="en-US" sz="1200" dirty="0"/>
          </a:p>
        </p:txBody>
      </p:sp>
      <p:sp>
        <p:nvSpPr>
          <p:cNvPr id="10" name="Shape 7"/>
          <p:cNvSpPr/>
          <p:nvPr/>
        </p:nvSpPr>
        <p:spPr>
          <a:xfrm>
            <a:off x="3246120" y="1216152"/>
            <a:ext cx="2642616" cy="1665351"/>
          </a:xfrm>
          <a:prstGeom prst="rect">
            <a:avLst/>
          </a:prstGeom>
          <a:solidFill>
            <a:srgbClr val="1B1B3A"/>
          </a:solidFill>
          <a:ln w="12700">
            <a:solidFill>
              <a:srgbClr val="1B1B3A"/>
            </a:solidFill>
            <a:prstDash val="solid"/>
          </a:ln>
        </p:spPr>
      </p:sp>
      <p:pic>
        <p:nvPicPr>
          <p:cNvPr id="11" name="Image 1" descr="/home/user/Site-Zero-Grau/docs/entrega-1/imagens/t8-atacado.png">    </p:cNvPr>
          <p:cNvPicPr>
            <a:picLocks noChangeAspect="1"/>
          </p:cNvPicPr>
          <p:nvPr/>
        </p:nvPicPr>
        <p:blipFill>
          <a:blip r:embed="rId2"/>
          <a:stretch>
            <a:fillRect/>
          </a:stretch>
        </p:blipFill>
        <p:spPr>
          <a:xfrm>
            <a:off x="3264408" y="1234440"/>
            <a:ext cx="2606040" cy="1628775"/>
          </a:xfrm>
          <a:prstGeom prst="rect">
            <a:avLst/>
          </a:prstGeom>
        </p:spPr>
      </p:pic>
      <p:sp>
        <p:nvSpPr>
          <p:cNvPr id="12" name="Text 8"/>
          <p:cNvSpPr txBox="1"/>
          <p:nvPr/>
        </p:nvSpPr>
        <p:spPr>
          <a:xfrm>
            <a:off x="3264408" y="3027807"/>
            <a:ext cx="2606040" cy="502920"/>
          </a:xfrm>
          <a:prstGeom prst="rect">
            <a:avLst/>
          </a:prstGeom>
          <a:noFill/>
          <a:ln/>
        </p:spPr>
        <p:txBody>
          <a:bodyPr wrap="square" lIns="0" tIns="0" rIns="0" bIns="0" rtlCol="0" anchor="t"/>
          <a:lstStyle/>
          <a:p>
            <a:pPr indent="0" marL="0">
              <a:buNone/>
            </a:pPr>
            <a:r>
              <a:rPr lang="en-US" sz="1400" b="1" dirty="0">
                <a:solidFill>
                  <a:srgbClr val="1B1B3A"/>
                </a:solidFill>
                <a:latin typeface="Arial" pitchFamily="34" charset="0"/>
                <a:ea typeface="Arial" pitchFamily="34" charset="-122"/>
                <a:cs typeface="Arial" pitchFamily="34" charset="-120"/>
              </a:rPr>
              <a:t>Atacado — Balcão por caixa</a:t>
            </a:r>
            <a:endParaRPr lang="en-US" sz="1400" dirty="0"/>
          </a:p>
        </p:txBody>
      </p:sp>
      <p:sp>
        <p:nvSpPr>
          <p:cNvPr id="13" name="Text 9"/>
          <p:cNvSpPr txBox="1"/>
          <p:nvPr/>
        </p:nvSpPr>
        <p:spPr>
          <a:xfrm>
            <a:off x="3264408" y="3576447"/>
            <a:ext cx="2606040" cy="1188720"/>
          </a:xfrm>
          <a:prstGeom prst="rect">
            <a:avLst/>
          </a:prstGeom>
          <a:noFill/>
          <a:ln/>
        </p:spPr>
        <p:txBody>
          <a:bodyPr wrap="square" lIns="0" tIns="0" rIns="0" bIns="0" rtlCol="0" anchor="t"/>
          <a:lstStyle/>
          <a:p>
            <a:pPr indent="0" marL="0">
              <a:buNone/>
            </a:pPr>
            <a:r>
              <a:rPr lang="en-US" sz="1200" dirty="0">
                <a:solidFill>
                  <a:srgbClr val="5A5A70"/>
                </a:solidFill>
                <a:latin typeface="Arial" pitchFamily="34" charset="0"/>
                <a:ea typeface="Arial" pitchFamily="34" charset="-122"/>
                <a:cs typeface="Arial" pitchFamily="34" charset="-120"/>
              </a:rPr>
              <a:t>Tabela sóbria com preço por unidade e por caixa, estoque em caixas e resumo do pedido com mínimo e prazo.</a:t>
            </a:r>
            <a:endParaRPr lang="en-US" sz="1200" dirty="0"/>
          </a:p>
        </p:txBody>
      </p:sp>
      <p:sp>
        <p:nvSpPr>
          <p:cNvPr id="14" name="Shape 10"/>
          <p:cNvSpPr/>
          <p:nvPr/>
        </p:nvSpPr>
        <p:spPr>
          <a:xfrm>
            <a:off x="6053328" y="1216152"/>
            <a:ext cx="2642616" cy="1665351"/>
          </a:xfrm>
          <a:prstGeom prst="rect">
            <a:avLst/>
          </a:prstGeom>
          <a:solidFill>
            <a:srgbClr val="1B1B3A"/>
          </a:solidFill>
          <a:ln w="12700">
            <a:solidFill>
              <a:srgbClr val="1B1B3A"/>
            </a:solidFill>
            <a:prstDash val="solid"/>
          </a:ln>
        </p:spPr>
      </p:sp>
      <p:pic>
        <p:nvPicPr>
          <p:cNvPr id="15" name="Image 2" descr="/home/user/Site-Zero-Grau/docs/entrega-1/imagens/t9-painel.png">    </p:cNvPr>
          <p:cNvPicPr>
            <a:picLocks noChangeAspect="1"/>
          </p:cNvPicPr>
          <p:nvPr/>
        </p:nvPicPr>
        <p:blipFill>
          <a:blip r:embed="rId3"/>
          <a:stretch>
            <a:fillRect/>
          </a:stretch>
        </p:blipFill>
        <p:spPr>
          <a:xfrm>
            <a:off x="6071616" y="1234440"/>
            <a:ext cx="2606040" cy="1628775"/>
          </a:xfrm>
          <a:prstGeom prst="rect">
            <a:avLst/>
          </a:prstGeom>
        </p:spPr>
      </p:pic>
      <p:sp>
        <p:nvSpPr>
          <p:cNvPr id="16" name="Text 11"/>
          <p:cNvSpPr txBox="1"/>
          <p:nvPr/>
        </p:nvSpPr>
        <p:spPr>
          <a:xfrm>
            <a:off x="6071616" y="3027807"/>
            <a:ext cx="2606040" cy="502920"/>
          </a:xfrm>
          <a:prstGeom prst="rect">
            <a:avLst/>
          </a:prstGeom>
          <a:noFill/>
          <a:ln/>
        </p:spPr>
        <p:txBody>
          <a:bodyPr wrap="square" lIns="0" tIns="0" rIns="0" bIns="0" rtlCol="0" anchor="t"/>
          <a:lstStyle/>
          <a:p>
            <a:pPr indent="0" marL="0">
              <a:buNone/>
            </a:pPr>
            <a:r>
              <a:rPr lang="en-US" sz="1400" b="1" dirty="0">
                <a:solidFill>
                  <a:srgbClr val="1B1B3A"/>
                </a:solidFill>
                <a:latin typeface="Arial" pitchFamily="34" charset="0"/>
                <a:ea typeface="Arial" pitchFamily="34" charset="-122"/>
                <a:cs typeface="Arial" pitchFamily="34" charset="-120"/>
              </a:rPr>
              <a:t>Painel de administração</a:t>
            </a:r>
            <a:endParaRPr lang="en-US" sz="1400" dirty="0"/>
          </a:p>
        </p:txBody>
      </p:sp>
      <p:sp>
        <p:nvSpPr>
          <p:cNvPr id="17" name="Text 12"/>
          <p:cNvSpPr txBox="1"/>
          <p:nvPr/>
        </p:nvSpPr>
        <p:spPr>
          <a:xfrm>
            <a:off x="6071616" y="3576447"/>
            <a:ext cx="2606040" cy="1188720"/>
          </a:xfrm>
          <a:prstGeom prst="rect">
            <a:avLst/>
          </a:prstGeom>
          <a:noFill/>
          <a:ln/>
        </p:spPr>
        <p:txBody>
          <a:bodyPr wrap="square" lIns="0" tIns="0" rIns="0" bIns="0" rtlCol="0" anchor="t"/>
          <a:lstStyle/>
          <a:p>
            <a:pPr indent="0" marL="0">
              <a:buNone/>
            </a:pPr>
            <a:r>
              <a:rPr lang="en-US" sz="1200" dirty="0">
                <a:solidFill>
                  <a:srgbClr val="5A5A70"/>
                </a:solidFill>
                <a:latin typeface="Arial" pitchFamily="34" charset="0"/>
                <a:ea typeface="Arial" pitchFamily="34" charset="-122"/>
                <a:cs typeface="Arial" pitchFamily="34" charset="-120"/>
              </a:rPr>
              <a:t>Editar produtos (preço, promoção, estoque, foto) e as regras das duas lojas, com abas para varejo, atacado, loja e publicação.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11</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Banco de dados</a:t>
            </a:r>
            <a:endParaRPr lang="en-US" sz="2800" dirty="0"/>
          </a:p>
        </p:txBody>
      </p:sp>
      <p:pic>
        <p:nvPicPr>
          <p:cNvPr id="6" name="Image 0" descr="/home/user/Site-Zero-Grau/docs/entrega-1/imagens/er.png">    </p:cNvPr>
          <p:cNvPicPr>
            <a:picLocks noChangeAspect="1"/>
          </p:cNvPicPr>
          <p:nvPr/>
        </p:nvPicPr>
        <p:blipFill>
          <a:blip r:embed="rId1"/>
          <a:stretch>
            <a:fillRect/>
          </a:stretch>
        </p:blipFill>
        <p:spPr>
          <a:xfrm>
            <a:off x="411480" y="868680"/>
            <a:ext cx="4773168" cy="4114800"/>
          </a:xfrm>
          <a:prstGeom prst="rect">
            <a:avLst/>
          </a:prstGeom>
        </p:spPr>
      </p:pic>
      <p:sp>
        <p:nvSpPr>
          <p:cNvPr id="7" name="Text 4"/>
          <p:cNvSpPr txBox="1"/>
          <p:nvPr/>
        </p:nvSpPr>
        <p:spPr>
          <a:xfrm>
            <a:off x="5504688" y="960120"/>
            <a:ext cx="1097280" cy="731520"/>
          </a:xfrm>
          <a:prstGeom prst="rect">
            <a:avLst/>
          </a:prstGeom>
          <a:noFill/>
          <a:ln/>
        </p:spPr>
        <p:txBody>
          <a:bodyPr wrap="square" lIns="0" tIns="0" rIns="0" bIns="0" rtlCol="0" anchor="t"/>
          <a:lstStyle/>
          <a:p>
            <a:pPr indent="0" marL="0">
              <a:buNone/>
            </a:pPr>
            <a:r>
              <a:rPr lang="en-US" sz="4800" b="1" dirty="0">
                <a:solidFill>
                  <a:srgbClr val="C2185B"/>
                </a:solidFill>
                <a:latin typeface="Arial" pitchFamily="34" charset="0"/>
                <a:ea typeface="Arial" pitchFamily="34" charset="-122"/>
                <a:cs typeface="Arial" pitchFamily="34" charset="-120"/>
              </a:rPr>
              <a:t>12</a:t>
            </a:r>
            <a:endParaRPr lang="en-US" sz="4800" dirty="0"/>
          </a:p>
        </p:txBody>
      </p:sp>
      <p:sp>
        <p:nvSpPr>
          <p:cNvPr id="8" name="Text 5"/>
          <p:cNvSpPr txBox="1"/>
          <p:nvPr/>
        </p:nvSpPr>
        <p:spPr>
          <a:xfrm>
            <a:off x="6510528" y="1188720"/>
            <a:ext cx="2176272" cy="365760"/>
          </a:xfrm>
          <a:prstGeom prst="rect">
            <a:avLst/>
          </a:prstGeom>
          <a:noFill/>
          <a:ln/>
        </p:spPr>
        <p:txBody>
          <a:bodyPr wrap="square" lIns="0" tIns="0" rIns="0" bIns="0" rtlCol="0" anchor="t"/>
          <a:lstStyle/>
          <a:p>
            <a:pPr indent="0" marL="0">
              <a:buNone/>
            </a:pPr>
            <a:r>
              <a:rPr lang="en-US" sz="1300" dirty="0">
                <a:solidFill>
                  <a:srgbClr val="5A5A70"/>
                </a:solidFill>
                <a:latin typeface="Arial" pitchFamily="34" charset="0"/>
                <a:ea typeface="Arial" pitchFamily="34" charset="-122"/>
                <a:cs typeface="Arial" pitchFamily="34" charset="-120"/>
              </a:rPr>
              <a:t>entidades · MySQL 8</a:t>
            </a:r>
            <a:endParaRPr lang="en-US" sz="1300" dirty="0"/>
          </a:p>
        </p:txBody>
      </p:sp>
      <p:sp>
        <p:nvSpPr>
          <p:cNvPr id="9" name="Text 6"/>
          <p:cNvSpPr txBox="1"/>
          <p:nvPr/>
        </p:nvSpPr>
        <p:spPr>
          <a:xfrm>
            <a:off x="5504688" y="1874520"/>
            <a:ext cx="3227832"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B3A"/>
                </a:solidFill>
                <a:latin typeface="Arial" pitchFamily="34" charset="0"/>
                <a:ea typeface="Arial" pitchFamily="34" charset="-122"/>
                <a:cs typeface="Arial" pitchFamily="34" charset="-120"/>
              </a:rPr>
              <a:t>Pedido → itens → produto</a:t>
            </a:r>
            <a:endParaRPr lang="en-US" sz="1200" dirty="0"/>
          </a:p>
          <a:p>
            <a:pPr marL="342900" indent="-342900">
              <a:spcAft>
                <a:spcPts val="600"/>
              </a:spcAft>
              <a:buSzPct val="100000"/>
              <a:buChar char="•"/>
            </a:pPr>
            <a:r>
              <a:rPr lang="en-US" sz="1200" dirty="0">
                <a:solidFill>
                  <a:srgbClr val="1B1B3A"/>
                </a:solidFill>
                <a:latin typeface="Arial" pitchFamily="34" charset="0"/>
                <a:ea typeface="Arial" pitchFamily="34" charset="-122"/>
                <a:cs typeface="Arial" pitchFamily="34" charset="-120"/>
              </a:rPr>
              <a:t>Pagamento 1:1 com o pedido</a:t>
            </a:r>
            <a:endParaRPr lang="en-US" sz="1200" dirty="0"/>
          </a:p>
          <a:p>
            <a:pPr marL="342900" indent="-342900">
              <a:spcAft>
                <a:spcPts val="600"/>
              </a:spcAft>
              <a:buSzPct val="100000"/>
              <a:buChar char="•"/>
            </a:pPr>
            <a:r>
              <a:rPr lang="en-US" sz="1200" dirty="0">
                <a:solidFill>
                  <a:srgbClr val="1B1B3A"/>
                </a:solidFill>
                <a:latin typeface="Arial" pitchFamily="34" charset="0"/>
                <a:ea typeface="Arial" pitchFamily="34" charset="-122"/>
                <a:cs typeface="Arial" pitchFamily="34" charset="-120"/>
              </a:rPr>
              <a:t>Endereço nulo = retirada no balcão</a:t>
            </a:r>
            <a:endParaRPr lang="en-US" sz="1200" dirty="0"/>
          </a:p>
          <a:p>
            <a:pPr marL="342900" indent="-342900">
              <a:spcAft>
                <a:spcPts val="600"/>
              </a:spcAft>
              <a:buSzPct val="100000"/>
              <a:buChar char="•"/>
            </a:pPr>
            <a:r>
              <a:rPr lang="en-US" sz="1200" dirty="0">
                <a:solidFill>
                  <a:srgbClr val="1B1B3A"/>
                </a:solidFill>
                <a:latin typeface="Arial" pitchFamily="34" charset="0"/>
                <a:ea typeface="Arial" pitchFamily="34" charset="-122"/>
                <a:cs typeface="Arial" pitchFamily="34" charset="-120"/>
              </a:rPr>
              <a:t>Item guarda o preço do momento da compra</a:t>
            </a:r>
            <a:endParaRPr lang="en-US" sz="1200" dirty="0"/>
          </a:p>
          <a:p>
            <a:pPr marL="342900" indent="-342900">
              <a:spcAft>
                <a:spcPts val="600"/>
              </a:spcAft>
              <a:buSzPct val="100000"/>
              <a:buChar char="•"/>
            </a:pPr>
            <a:r>
              <a:rPr lang="en-US" sz="1200" dirty="0">
                <a:solidFill>
                  <a:srgbClr val="1B1B3A"/>
                </a:solidFill>
                <a:latin typeface="Arial" pitchFamily="34" charset="0"/>
                <a:ea typeface="Arial" pitchFamily="34" charset="-122"/>
                <a:cs typeface="Arial" pitchFamily="34" charset="-120"/>
              </a:rPr>
              <a:t>Regras, horário e faixas de atacado no banco, editáveis pelo painel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12</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Arquitetura</a:t>
            </a:r>
            <a:endParaRPr lang="en-US" sz="2800" dirty="0"/>
          </a:p>
        </p:txBody>
      </p:sp>
      <p:pic>
        <p:nvPicPr>
          <p:cNvPr id="6" name="Image 0" descr="/home/user/Site-Zero-Grau/docs/entrega-1/imagens/arq.png">    </p:cNvPr>
          <p:cNvPicPr>
            <a:picLocks noChangeAspect="1"/>
          </p:cNvPicPr>
          <p:nvPr/>
        </p:nvPicPr>
        <p:blipFill>
          <a:blip r:embed="rId1"/>
          <a:stretch>
            <a:fillRect/>
          </a:stretch>
        </p:blipFill>
        <p:spPr>
          <a:xfrm>
            <a:off x="833045" y="914400"/>
            <a:ext cx="7477909" cy="3063240"/>
          </a:xfrm>
          <a:prstGeom prst="rect">
            <a:avLst/>
          </a:prstGeom>
        </p:spPr>
      </p:pic>
      <p:sp>
        <p:nvSpPr>
          <p:cNvPr id="7" name="Shape 4"/>
          <p:cNvSpPr/>
          <p:nvPr/>
        </p:nvSpPr>
        <p:spPr>
          <a:xfrm>
            <a:off x="457200" y="4160520"/>
            <a:ext cx="2606040" cy="502920"/>
          </a:xfrm>
          <a:prstGeom prst="roundRect">
            <a:avLst>
              <a:gd name="adj" fmla="val 14545"/>
            </a:avLst>
          </a:prstGeom>
          <a:solidFill>
            <a:srgbClr val="F4F4F8"/>
          </a:solidFill>
          <a:ln w="12700">
            <a:solidFill>
              <a:srgbClr val="F4F4F8"/>
            </a:solidFill>
            <a:prstDash val="solid"/>
          </a:ln>
        </p:spPr>
      </p:sp>
      <p:sp>
        <p:nvSpPr>
          <p:cNvPr id="8" name="Shape 5"/>
          <p:cNvSpPr/>
          <p:nvPr/>
        </p:nvSpPr>
        <p:spPr>
          <a:xfrm>
            <a:off x="566928" y="4251960"/>
            <a:ext cx="320040" cy="320040"/>
          </a:xfrm>
          <a:prstGeom prst="ellipse">
            <a:avLst/>
          </a:prstGeom>
          <a:solidFill>
            <a:srgbClr val="1B1B3A"/>
          </a:solidFill>
          <a:ln w="12700">
            <a:solidFill>
              <a:srgbClr val="1B1B3A"/>
            </a:solidFill>
            <a:prstDash val="solid"/>
          </a:ln>
        </p:spPr>
      </p:sp>
      <p:pic>
        <p:nvPicPr>
          <p:cNvPr id="9" name="Image 1" descr="preencoded.png">    </p:cNvPr>
          <p:cNvPicPr>
            <a:picLocks noChangeAspect="1"/>
          </p:cNvPicPr>
          <p:nvPr/>
        </p:nvPicPr>
        <p:blipFill>
          <a:blip r:embed="rId2"/>
          <a:stretch>
            <a:fillRect/>
          </a:stretch>
        </p:blipFill>
        <p:spPr>
          <a:xfrm>
            <a:off x="643738" y="4328770"/>
            <a:ext cx="166421" cy="166421"/>
          </a:xfrm>
          <a:prstGeom prst="rect">
            <a:avLst/>
          </a:prstGeom>
        </p:spPr>
      </p:pic>
      <p:sp>
        <p:nvSpPr>
          <p:cNvPr id="10" name="Text 6"/>
          <p:cNvSpPr txBox="1"/>
          <p:nvPr/>
        </p:nvSpPr>
        <p:spPr>
          <a:xfrm>
            <a:off x="960120" y="4160520"/>
            <a:ext cx="2057400" cy="502920"/>
          </a:xfrm>
          <a:prstGeom prst="rect">
            <a:avLst/>
          </a:prstGeom>
          <a:noFill/>
          <a:ln/>
        </p:spPr>
        <p:txBody>
          <a:bodyPr wrap="square" lIns="0" tIns="0" rIns="0" bIns="0" rtlCol="0" anchor="ctr"/>
          <a:lstStyle/>
          <a:p>
            <a:pPr indent="0" marL="0">
              <a:buNone/>
            </a:pPr>
            <a:r>
              <a:rPr lang="en-US" sz="1150" b="1" dirty="0">
                <a:solidFill>
                  <a:srgbClr val="1B1B3A"/>
                </a:solidFill>
                <a:latin typeface="Arial" pitchFamily="34" charset="0"/>
                <a:ea typeface="Arial" pitchFamily="34" charset="-122"/>
                <a:cs typeface="Arial" pitchFamily="34" charset="-120"/>
              </a:rPr>
              <a:t>Preço calculado no servidor</a:t>
            </a:r>
            <a:endParaRPr lang="en-US" sz="1150" dirty="0"/>
          </a:p>
        </p:txBody>
      </p:sp>
      <p:sp>
        <p:nvSpPr>
          <p:cNvPr id="11" name="Shape 7"/>
          <p:cNvSpPr/>
          <p:nvPr/>
        </p:nvSpPr>
        <p:spPr>
          <a:xfrm>
            <a:off x="3264408" y="4160520"/>
            <a:ext cx="2606040" cy="502920"/>
          </a:xfrm>
          <a:prstGeom prst="roundRect">
            <a:avLst>
              <a:gd name="adj" fmla="val 14545"/>
            </a:avLst>
          </a:prstGeom>
          <a:solidFill>
            <a:srgbClr val="F4F4F8"/>
          </a:solidFill>
          <a:ln w="12700">
            <a:solidFill>
              <a:srgbClr val="F4F4F8"/>
            </a:solidFill>
            <a:prstDash val="solid"/>
          </a:ln>
        </p:spPr>
      </p:sp>
      <p:sp>
        <p:nvSpPr>
          <p:cNvPr id="12" name="Shape 8"/>
          <p:cNvSpPr/>
          <p:nvPr/>
        </p:nvSpPr>
        <p:spPr>
          <a:xfrm>
            <a:off x="3374136" y="4251960"/>
            <a:ext cx="320040" cy="320040"/>
          </a:xfrm>
          <a:prstGeom prst="ellipse">
            <a:avLst/>
          </a:prstGeom>
          <a:solidFill>
            <a:srgbClr val="1B1B3A"/>
          </a:solidFill>
          <a:ln w="12700">
            <a:solidFill>
              <a:srgbClr val="1B1B3A"/>
            </a:solidFill>
            <a:prstDash val="solid"/>
          </a:ln>
        </p:spPr>
      </p:sp>
      <p:pic>
        <p:nvPicPr>
          <p:cNvPr id="13" name="Image 2" descr="preencoded.png">    </p:cNvPr>
          <p:cNvPicPr>
            <a:picLocks noChangeAspect="1"/>
          </p:cNvPicPr>
          <p:nvPr/>
        </p:nvPicPr>
        <p:blipFill>
          <a:blip r:embed="rId3"/>
          <a:stretch>
            <a:fillRect/>
          </a:stretch>
        </p:blipFill>
        <p:spPr>
          <a:xfrm>
            <a:off x="3450946" y="4328770"/>
            <a:ext cx="166421" cy="166421"/>
          </a:xfrm>
          <a:prstGeom prst="rect">
            <a:avLst/>
          </a:prstGeom>
        </p:spPr>
      </p:pic>
      <p:sp>
        <p:nvSpPr>
          <p:cNvPr id="14" name="Text 9"/>
          <p:cNvSpPr txBox="1"/>
          <p:nvPr/>
        </p:nvSpPr>
        <p:spPr>
          <a:xfrm>
            <a:off x="3767328" y="4160520"/>
            <a:ext cx="2057400" cy="502920"/>
          </a:xfrm>
          <a:prstGeom prst="rect">
            <a:avLst/>
          </a:prstGeom>
          <a:noFill/>
          <a:ln/>
        </p:spPr>
        <p:txBody>
          <a:bodyPr wrap="square" lIns="0" tIns="0" rIns="0" bIns="0" rtlCol="0" anchor="ctr"/>
          <a:lstStyle/>
          <a:p>
            <a:pPr indent="0" marL="0">
              <a:buNone/>
            </a:pPr>
            <a:r>
              <a:rPr lang="en-US" sz="1150" b="1" dirty="0">
                <a:solidFill>
                  <a:srgbClr val="1B1B3A"/>
                </a:solidFill>
                <a:latin typeface="Arial" pitchFamily="34" charset="0"/>
                <a:ea typeface="Arial" pitchFamily="34" charset="-122"/>
                <a:cs typeface="Arial" pitchFamily="34" charset="-120"/>
              </a:rPr>
              <a:t>Pedido e estoque na mesma transação</a:t>
            </a:r>
            <a:endParaRPr lang="en-US" sz="1150" dirty="0"/>
          </a:p>
        </p:txBody>
      </p:sp>
      <p:sp>
        <p:nvSpPr>
          <p:cNvPr id="15" name="Shape 10"/>
          <p:cNvSpPr/>
          <p:nvPr/>
        </p:nvSpPr>
        <p:spPr>
          <a:xfrm>
            <a:off x="6071616" y="4160520"/>
            <a:ext cx="2606040" cy="502920"/>
          </a:xfrm>
          <a:prstGeom prst="roundRect">
            <a:avLst>
              <a:gd name="adj" fmla="val 14545"/>
            </a:avLst>
          </a:prstGeom>
          <a:solidFill>
            <a:srgbClr val="F4F4F8"/>
          </a:solidFill>
          <a:ln w="12700">
            <a:solidFill>
              <a:srgbClr val="F4F4F8"/>
            </a:solidFill>
            <a:prstDash val="solid"/>
          </a:ln>
        </p:spPr>
      </p:sp>
      <p:sp>
        <p:nvSpPr>
          <p:cNvPr id="16" name="Shape 11"/>
          <p:cNvSpPr/>
          <p:nvPr/>
        </p:nvSpPr>
        <p:spPr>
          <a:xfrm>
            <a:off x="6181344" y="4251960"/>
            <a:ext cx="320040" cy="320040"/>
          </a:xfrm>
          <a:prstGeom prst="ellipse">
            <a:avLst/>
          </a:prstGeom>
          <a:solidFill>
            <a:srgbClr val="1B1B3A"/>
          </a:solidFill>
          <a:ln w="12700">
            <a:solidFill>
              <a:srgbClr val="1B1B3A"/>
            </a:solidFill>
            <a:prstDash val="solid"/>
          </a:ln>
        </p:spPr>
      </p:sp>
      <p:pic>
        <p:nvPicPr>
          <p:cNvPr id="17" name="Image 3" descr="preencoded.png">    </p:cNvPr>
          <p:cNvPicPr>
            <a:picLocks noChangeAspect="1"/>
          </p:cNvPicPr>
          <p:nvPr/>
        </p:nvPicPr>
        <p:blipFill>
          <a:blip r:embed="rId4"/>
          <a:stretch>
            <a:fillRect/>
          </a:stretch>
        </p:blipFill>
        <p:spPr>
          <a:xfrm>
            <a:off x="6258154" y="4328770"/>
            <a:ext cx="166421" cy="166421"/>
          </a:xfrm>
          <a:prstGeom prst="rect">
            <a:avLst/>
          </a:prstGeom>
        </p:spPr>
      </p:pic>
      <p:sp>
        <p:nvSpPr>
          <p:cNvPr id="18" name="Text 12"/>
          <p:cNvSpPr txBox="1"/>
          <p:nvPr/>
        </p:nvSpPr>
        <p:spPr>
          <a:xfrm>
            <a:off x="6574536" y="4160520"/>
            <a:ext cx="2057400" cy="502920"/>
          </a:xfrm>
          <a:prstGeom prst="rect">
            <a:avLst/>
          </a:prstGeom>
          <a:noFill/>
          <a:ln/>
        </p:spPr>
        <p:txBody>
          <a:bodyPr wrap="square" lIns="0" tIns="0" rIns="0" bIns="0" rtlCol="0" anchor="ctr"/>
          <a:lstStyle/>
          <a:p>
            <a:pPr indent="0" marL="0">
              <a:buNone/>
            </a:pPr>
            <a:r>
              <a:rPr lang="en-US" sz="1150" b="1" dirty="0">
                <a:solidFill>
                  <a:srgbClr val="1B1B3A"/>
                </a:solidFill>
                <a:latin typeface="Arial" pitchFamily="34" charset="0"/>
                <a:ea typeface="Arial" pitchFamily="34" charset="-122"/>
                <a:cs typeface="Arial" pitchFamily="34" charset="-120"/>
              </a:rPr>
              <a:t>REST + JSON + token JWT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13</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Divisão da equipe</a:t>
            </a:r>
            <a:endParaRPr lang="en-US" sz="2800" dirty="0"/>
          </a:p>
        </p:txBody>
      </p:sp>
      <p:sp>
        <p:nvSpPr>
          <p:cNvPr id="6" name="Shape 4"/>
          <p:cNvSpPr/>
          <p:nvPr/>
        </p:nvSpPr>
        <p:spPr>
          <a:xfrm>
            <a:off x="457200" y="1143000"/>
            <a:ext cx="2606040" cy="2743200"/>
          </a:xfrm>
          <a:prstGeom prst="roundRect">
            <a:avLst>
              <a:gd name="adj" fmla="val 2807"/>
            </a:avLst>
          </a:prstGeom>
          <a:solidFill>
            <a:srgbClr val="F4F4F8"/>
          </a:solidFill>
          <a:ln w="12700">
            <a:solidFill>
              <a:srgbClr val="F4F4F8"/>
            </a:solidFill>
            <a:prstDash val="solid"/>
          </a:ln>
        </p:spPr>
      </p:sp>
      <p:sp>
        <p:nvSpPr>
          <p:cNvPr id="7" name="Shape 5"/>
          <p:cNvSpPr/>
          <p:nvPr/>
        </p:nvSpPr>
        <p:spPr>
          <a:xfrm>
            <a:off x="731520" y="1371600"/>
            <a:ext cx="640080" cy="640080"/>
          </a:xfrm>
          <a:prstGeom prst="ellipse">
            <a:avLst/>
          </a:prstGeom>
          <a:solidFill>
            <a:srgbClr val="C2185B"/>
          </a:solidFill>
          <a:ln w="12700">
            <a:solidFill>
              <a:srgbClr val="C2185B"/>
            </a:solidFill>
            <a:prstDash val="solid"/>
          </a:ln>
        </p:spPr>
      </p:sp>
      <p:pic>
        <p:nvPicPr>
          <p:cNvPr id="8" name="Image 0" descr="preencoded.png">    </p:cNvPr>
          <p:cNvPicPr>
            <a:picLocks noChangeAspect="1"/>
          </p:cNvPicPr>
          <p:nvPr/>
        </p:nvPicPr>
        <p:blipFill>
          <a:blip r:embed="rId1"/>
          <a:stretch>
            <a:fillRect/>
          </a:stretch>
        </p:blipFill>
        <p:spPr>
          <a:xfrm>
            <a:off x="885139" y="1525219"/>
            <a:ext cx="332842" cy="332842"/>
          </a:xfrm>
          <a:prstGeom prst="rect">
            <a:avLst/>
          </a:prstGeom>
        </p:spPr>
      </p:pic>
      <p:sp>
        <p:nvSpPr>
          <p:cNvPr id="9" name="Text 6"/>
          <p:cNvSpPr txBox="1"/>
          <p:nvPr/>
        </p:nvSpPr>
        <p:spPr>
          <a:xfrm>
            <a:off x="731520" y="2194560"/>
            <a:ext cx="2103120" cy="365760"/>
          </a:xfrm>
          <a:prstGeom prst="rect">
            <a:avLst/>
          </a:prstGeom>
          <a:noFill/>
          <a:ln/>
        </p:spPr>
        <p:txBody>
          <a:bodyPr wrap="square" lIns="0" tIns="0" rIns="0" bIns="0" rtlCol="0" anchor="t"/>
          <a:lstStyle/>
          <a:p>
            <a:pPr indent="0" marL="0">
              <a:buNone/>
            </a:pPr>
            <a:r>
              <a:rPr lang="en-US" sz="1800" b="1" dirty="0">
                <a:solidFill>
                  <a:srgbClr val="1B1B3A"/>
                </a:solidFill>
                <a:latin typeface="Arial" pitchFamily="34" charset="0"/>
                <a:ea typeface="Arial" pitchFamily="34" charset="-122"/>
                <a:cs typeface="Arial" pitchFamily="34" charset="-120"/>
              </a:rPr>
              <a:t>Back-end</a:t>
            </a:r>
            <a:endParaRPr lang="en-US" sz="1800" dirty="0"/>
          </a:p>
        </p:txBody>
      </p:sp>
      <p:sp>
        <p:nvSpPr>
          <p:cNvPr id="10" name="Text 7"/>
          <p:cNvSpPr txBox="1"/>
          <p:nvPr/>
        </p:nvSpPr>
        <p:spPr>
          <a:xfrm>
            <a:off x="731520" y="2578608"/>
            <a:ext cx="2103120" cy="502920"/>
          </a:xfrm>
          <a:prstGeom prst="rect">
            <a:avLst/>
          </a:prstGeom>
          <a:noFill/>
          <a:ln/>
        </p:spPr>
        <p:txBody>
          <a:bodyPr wrap="square" lIns="0" tIns="0" rIns="0" bIns="0" rtlCol="0" anchor="t"/>
          <a:lstStyle/>
          <a:p>
            <a:pPr indent="0" marL="0">
              <a:buNone/>
            </a:pPr>
            <a:r>
              <a:rPr lang="en-US" sz="1300" b="1" dirty="0">
                <a:solidFill>
                  <a:srgbClr val="C2185B"/>
                </a:solidFill>
                <a:latin typeface="Arial" pitchFamily="34" charset="0"/>
                <a:ea typeface="Arial" pitchFamily="34" charset="-122"/>
                <a:cs typeface="Arial" pitchFamily="34" charset="-120"/>
              </a:rPr>
              <a:t>Vitor Custodio e João Vitor</a:t>
            </a:r>
            <a:endParaRPr lang="en-US" sz="1300" dirty="0"/>
          </a:p>
        </p:txBody>
      </p:sp>
      <p:sp>
        <p:nvSpPr>
          <p:cNvPr id="11" name="Text 8"/>
          <p:cNvSpPr txBox="1"/>
          <p:nvPr/>
        </p:nvSpPr>
        <p:spPr>
          <a:xfrm>
            <a:off x="731520" y="3154680"/>
            <a:ext cx="2103120" cy="1188720"/>
          </a:xfrm>
          <a:prstGeom prst="rect">
            <a:avLst/>
          </a:prstGeom>
          <a:noFill/>
          <a:ln/>
        </p:spPr>
        <p:txBody>
          <a:bodyPr wrap="square" lIns="0" tIns="0" rIns="0" bIns="0" rtlCol="0" anchor="t"/>
          <a:lstStyle/>
          <a:p>
            <a:pPr indent="0" marL="0">
              <a:buNone/>
            </a:pPr>
            <a:r>
              <a:rPr lang="en-US" sz="1200" dirty="0">
                <a:solidFill>
                  <a:srgbClr val="5A5A70"/>
                </a:solidFill>
                <a:latin typeface="Arial" pitchFamily="34" charset="0"/>
                <a:ea typeface="Arial" pitchFamily="34" charset="-122"/>
                <a:cs typeface="Arial" pitchFamily="34" charset="-120"/>
              </a:rPr>
              <a:t>Node.js + Express, MySQL, API, login e regras de preço, frete e estoque</a:t>
            </a:r>
            <a:endParaRPr lang="en-US" sz="1200" dirty="0"/>
          </a:p>
        </p:txBody>
      </p:sp>
      <p:sp>
        <p:nvSpPr>
          <p:cNvPr id="12" name="Shape 9"/>
          <p:cNvSpPr/>
          <p:nvPr/>
        </p:nvSpPr>
        <p:spPr>
          <a:xfrm>
            <a:off x="3264408" y="1143000"/>
            <a:ext cx="2606040" cy="2743200"/>
          </a:xfrm>
          <a:prstGeom prst="roundRect">
            <a:avLst>
              <a:gd name="adj" fmla="val 2807"/>
            </a:avLst>
          </a:prstGeom>
          <a:solidFill>
            <a:srgbClr val="F4F4F8"/>
          </a:solidFill>
          <a:ln w="12700">
            <a:solidFill>
              <a:srgbClr val="F4F4F8"/>
            </a:solidFill>
            <a:prstDash val="solid"/>
          </a:ln>
        </p:spPr>
      </p:sp>
      <p:sp>
        <p:nvSpPr>
          <p:cNvPr id="13" name="Shape 10"/>
          <p:cNvSpPr/>
          <p:nvPr/>
        </p:nvSpPr>
        <p:spPr>
          <a:xfrm>
            <a:off x="3538728" y="1371600"/>
            <a:ext cx="640080" cy="640080"/>
          </a:xfrm>
          <a:prstGeom prst="ellipse">
            <a:avLst/>
          </a:prstGeom>
          <a:solidFill>
            <a:srgbClr val="1B1B3A"/>
          </a:solidFill>
          <a:ln w="12700">
            <a:solidFill>
              <a:srgbClr val="1B1B3A"/>
            </a:solidFill>
            <a:prstDash val="solid"/>
          </a:ln>
        </p:spPr>
      </p:sp>
      <p:pic>
        <p:nvPicPr>
          <p:cNvPr id="14" name="Image 1" descr="preencoded.png">    </p:cNvPr>
          <p:cNvPicPr>
            <a:picLocks noChangeAspect="1"/>
          </p:cNvPicPr>
          <p:nvPr/>
        </p:nvPicPr>
        <p:blipFill>
          <a:blip r:embed="rId2"/>
          <a:stretch>
            <a:fillRect/>
          </a:stretch>
        </p:blipFill>
        <p:spPr>
          <a:xfrm>
            <a:off x="3692347" y="1525219"/>
            <a:ext cx="332842" cy="332842"/>
          </a:xfrm>
          <a:prstGeom prst="rect">
            <a:avLst/>
          </a:prstGeom>
        </p:spPr>
      </p:pic>
      <p:sp>
        <p:nvSpPr>
          <p:cNvPr id="15" name="Text 11"/>
          <p:cNvSpPr txBox="1"/>
          <p:nvPr/>
        </p:nvSpPr>
        <p:spPr>
          <a:xfrm>
            <a:off x="3538728" y="2194560"/>
            <a:ext cx="2103120" cy="365760"/>
          </a:xfrm>
          <a:prstGeom prst="rect">
            <a:avLst/>
          </a:prstGeom>
          <a:noFill/>
          <a:ln/>
        </p:spPr>
        <p:txBody>
          <a:bodyPr wrap="square" lIns="0" tIns="0" rIns="0" bIns="0" rtlCol="0" anchor="t"/>
          <a:lstStyle/>
          <a:p>
            <a:pPr indent="0" marL="0">
              <a:buNone/>
            </a:pPr>
            <a:r>
              <a:rPr lang="en-US" sz="1800" b="1" dirty="0">
                <a:solidFill>
                  <a:srgbClr val="1B1B3A"/>
                </a:solidFill>
                <a:latin typeface="Arial" pitchFamily="34" charset="0"/>
                <a:ea typeface="Arial" pitchFamily="34" charset="-122"/>
                <a:cs typeface="Arial" pitchFamily="34" charset="-120"/>
              </a:rPr>
              <a:t>Front-end</a:t>
            </a:r>
            <a:endParaRPr lang="en-US" sz="1800" dirty="0"/>
          </a:p>
        </p:txBody>
      </p:sp>
      <p:sp>
        <p:nvSpPr>
          <p:cNvPr id="16" name="Text 12"/>
          <p:cNvSpPr txBox="1"/>
          <p:nvPr/>
        </p:nvSpPr>
        <p:spPr>
          <a:xfrm>
            <a:off x="3538728" y="2578608"/>
            <a:ext cx="2103120" cy="502920"/>
          </a:xfrm>
          <a:prstGeom prst="rect">
            <a:avLst/>
          </a:prstGeom>
          <a:noFill/>
          <a:ln/>
        </p:spPr>
        <p:txBody>
          <a:bodyPr wrap="square" lIns="0" tIns="0" rIns="0" bIns="0" rtlCol="0" anchor="t"/>
          <a:lstStyle/>
          <a:p>
            <a:pPr indent="0" marL="0">
              <a:buNone/>
            </a:pPr>
            <a:r>
              <a:rPr lang="en-US" sz="1300" b="1" dirty="0">
                <a:solidFill>
                  <a:srgbClr val="C2185B"/>
                </a:solidFill>
                <a:latin typeface="Arial" pitchFamily="34" charset="0"/>
                <a:ea typeface="Arial" pitchFamily="34" charset="-122"/>
                <a:cs typeface="Arial" pitchFamily="34" charset="-120"/>
              </a:rPr>
              <a:t>Caio e Vitor</a:t>
            </a:r>
            <a:endParaRPr lang="en-US" sz="1300" dirty="0"/>
          </a:p>
        </p:txBody>
      </p:sp>
      <p:sp>
        <p:nvSpPr>
          <p:cNvPr id="17" name="Text 13"/>
          <p:cNvSpPr txBox="1"/>
          <p:nvPr/>
        </p:nvSpPr>
        <p:spPr>
          <a:xfrm>
            <a:off x="3538728" y="3154680"/>
            <a:ext cx="2103120" cy="1188720"/>
          </a:xfrm>
          <a:prstGeom prst="rect">
            <a:avLst/>
          </a:prstGeom>
          <a:noFill/>
          <a:ln/>
        </p:spPr>
        <p:txBody>
          <a:bodyPr wrap="square" lIns="0" tIns="0" rIns="0" bIns="0" rtlCol="0" anchor="t"/>
          <a:lstStyle/>
          <a:p>
            <a:pPr indent="0" marL="0">
              <a:buNone/>
            </a:pPr>
            <a:r>
              <a:rPr lang="en-US" sz="1200" dirty="0">
                <a:solidFill>
                  <a:srgbClr val="5A5A70"/>
                </a:solidFill>
                <a:latin typeface="Arial" pitchFamily="34" charset="0"/>
                <a:ea typeface="Arial" pitchFamily="34" charset="-122"/>
                <a:cs typeface="Arial" pitchFamily="34" charset="-120"/>
              </a:rPr>
              <a:t>React + Bootstrap, telas e consumo da API · Vitor também nos diagramas e wireframes</a:t>
            </a:r>
            <a:endParaRPr lang="en-US" sz="1200" dirty="0"/>
          </a:p>
        </p:txBody>
      </p:sp>
      <p:sp>
        <p:nvSpPr>
          <p:cNvPr id="18" name="Shape 14"/>
          <p:cNvSpPr/>
          <p:nvPr/>
        </p:nvSpPr>
        <p:spPr>
          <a:xfrm>
            <a:off x="6071616" y="1143000"/>
            <a:ext cx="2606040" cy="2743200"/>
          </a:xfrm>
          <a:prstGeom prst="roundRect">
            <a:avLst>
              <a:gd name="adj" fmla="val 2807"/>
            </a:avLst>
          </a:prstGeom>
          <a:solidFill>
            <a:srgbClr val="F4F4F8"/>
          </a:solidFill>
          <a:ln w="12700">
            <a:solidFill>
              <a:srgbClr val="F4F4F8"/>
            </a:solidFill>
            <a:prstDash val="solid"/>
          </a:ln>
        </p:spPr>
      </p:sp>
      <p:sp>
        <p:nvSpPr>
          <p:cNvPr id="19" name="Shape 15"/>
          <p:cNvSpPr/>
          <p:nvPr/>
        </p:nvSpPr>
        <p:spPr>
          <a:xfrm>
            <a:off x="6345936" y="1371600"/>
            <a:ext cx="640080" cy="640080"/>
          </a:xfrm>
          <a:prstGeom prst="ellipse">
            <a:avLst/>
          </a:prstGeom>
          <a:solidFill>
            <a:srgbClr val="C2185B"/>
          </a:solidFill>
          <a:ln w="12700">
            <a:solidFill>
              <a:srgbClr val="C2185B"/>
            </a:solidFill>
            <a:prstDash val="solid"/>
          </a:ln>
        </p:spPr>
      </p:sp>
      <p:pic>
        <p:nvPicPr>
          <p:cNvPr id="20" name="Image 2" descr="preencoded.png">    </p:cNvPr>
          <p:cNvPicPr>
            <a:picLocks noChangeAspect="1"/>
          </p:cNvPicPr>
          <p:nvPr/>
        </p:nvPicPr>
        <p:blipFill>
          <a:blip r:embed="rId3"/>
          <a:stretch>
            <a:fillRect/>
          </a:stretch>
        </p:blipFill>
        <p:spPr>
          <a:xfrm>
            <a:off x="6499555" y="1525219"/>
            <a:ext cx="332842" cy="332842"/>
          </a:xfrm>
          <a:prstGeom prst="rect">
            <a:avLst/>
          </a:prstGeom>
        </p:spPr>
      </p:pic>
      <p:sp>
        <p:nvSpPr>
          <p:cNvPr id="21" name="Text 16"/>
          <p:cNvSpPr txBox="1"/>
          <p:nvPr/>
        </p:nvSpPr>
        <p:spPr>
          <a:xfrm>
            <a:off x="6345936" y="2194560"/>
            <a:ext cx="2103120" cy="365760"/>
          </a:xfrm>
          <a:prstGeom prst="rect">
            <a:avLst/>
          </a:prstGeom>
          <a:noFill/>
          <a:ln/>
        </p:spPr>
        <p:txBody>
          <a:bodyPr wrap="square" lIns="0" tIns="0" rIns="0" bIns="0" rtlCol="0" anchor="t"/>
          <a:lstStyle/>
          <a:p>
            <a:pPr indent="0" marL="0">
              <a:buNone/>
            </a:pPr>
            <a:r>
              <a:rPr lang="en-US" sz="1800" b="1" dirty="0">
                <a:solidFill>
                  <a:srgbClr val="1B1B3A"/>
                </a:solidFill>
                <a:latin typeface="Arial" pitchFamily="34" charset="0"/>
                <a:ea typeface="Arial" pitchFamily="34" charset="-122"/>
                <a:cs typeface="Arial" pitchFamily="34" charset="-120"/>
              </a:rPr>
              <a:t>Documentação</a:t>
            </a:r>
            <a:endParaRPr lang="en-US" sz="1800" dirty="0"/>
          </a:p>
        </p:txBody>
      </p:sp>
      <p:sp>
        <p:nvSpPr>
          <p:cNvPr id="22" name="Text 17"/>
          <p:cNvSpPr txBox="1"/>
          <p:nvPr/>
        </p:nvSpPr>
        <p:spPr>
          <a:xfrm>
            <a:off x="6345936" y="2578608"/>
            <a:ext cx="2103120" cy="502920"/>
          </a:xfrm>
          <a:prstGeom prst="rect">
            <a:avLst/>
          </a:prstGeom>
          <a:noFill/>
          <a:ln/>
        </p:spPr>
        <p:txBody>
          <a:bodyPr wrap="square" lIns="0" tIns="0" rIns="0" bIns="0" rtlCol="0" anchor="t"/>
          <a:lstStyle/>
          <a:p>
            <a:pPr indent="0" marL="0">
              <a:buNone/>
            </a:pPr>
            <a:r>
              <a:rPr lang="en-US" sz="1300" b="1" dirty="0">
                <a:solidFill>
                  <a:srgbClr val="C2185B"/>
                </a:solidFill>
                <a:latin typeface="Arial" pitchFamily="34" charset="0"/>
                <a:ea typeface="Arial" pitchFamily="34" charset="-122"/>
                <a:cs typeface="Arial" pitchFamily="34" charset="-120"/>
              </a:rPr>
              <a:t>Christian</a:t>
            </a:r>
            <a:endParaRPr lang="en-US" sz="1300" dirty="0"/>
          </a:p>
        </p:txBody>
      </p:sp>
      <p:sp>
        <p:nvSpPr>
          <p:cNvPr id="23" name="Text 18"/>
          <p:cNvSpPr txBox="1"/>
          <p:nvPr/>
        </p:nvSpPr>
        <p:spPr>
          <a:xfrm>
            <a:off x="6345936" y="3154680"/>
            <a:ext cx="2103120" cy="1188720"/>
          </a:xfrm>
          <a:prstGeom prst="rect">
            <a:avLst/>
          </a:prstGeom>
          <a:noFill/>
          <a:ln/>
        </p:spPr>
        <p:txBody>
          <a:bodyPr wrap="square" lIns="0" tIns="0" rIns="0" bIns="0" rtlCol="0" anchor="t"/>
          <a:lstStyle/>
          <a:p>
            <a:pPr indent="0" marL="0">
              <a:buNone/>
            </a:pPr>
            <a:r>
              <a:rPr lang="en-US" sz="1200" dirty="0">
                <a:solidFill>
                  <a:srgbClr val="5A5A70"/>
                </a:solidFill>
                <a:latin typeface="Arial" pitchFamily="34" charset="0"/>
                <a:ea typeface="Arial" pitchFamily="34" charset="-122"/>
                <a:cs typeface="Arial" pitchFamily="34" charset="-120"/>
              </a:rPr>
              <a:t>Plano de Trabalho, relatórios, checklist e andamento das sprints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14</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Funcionalidades básicas do MVP</a:t>
            </a:r>
            <a:endParaRPr lang="en-US" sz="2800" dirty="0"/>
          </a:p>
        </p:txBody>
      </p:sp>
      <p:sp>
        <p:nvSpPr>
          <p:cNvPr id="6" name="Shape 4"/>
          <p:cNvSpPr/>
          <p:nvPr/>
        </p:nvSpPr>
        <p:spPr>
          <a:xfrm>
            <a:off x="457200" y="1051560"/>
            <a:ext cx="4023360" cy="749808"/>
          </a:xfrm>
          <a:prstGeom prst="roundRect">
            <a:avLst>
              <a:gd name="adj" fmla="val 9756"/>
            </a:avLst>
          </a:prstGeom>
          <a:solidFill>
            <a:srgbClr val="F4F4F8"/>
          </a:solidFill>
          <a:ln w="12700">
            <a:solidFill>
              <a:srgbClr val="F4F4F8"/>
            </a:solidFill>
            <a:prstDash val="solid"/>
          </a:ln>
        </p:spPr>
      </p:sp>
      <p:sp>
        <p:nvSpPr>
          <p:cNvPr id="7" name="Shape 5"/>
          <p:cNvSpPr/>
          <p:nvPr/>
        </p:nvSpPr>
        <p:spPr>
          <a:xfrm>
            <a:off x="621792" y="1197864"/>
            <a:ext cx="457200" cy="457200"/>
          </a:xfrm>
          <a:prstGeom prst="ellipse">
            <a:avLst/>
          </a:prstGeom>
          <a:solidFill>
            <a:srgbClr val="1B1B3A"/>
          </a:solidFill>
          <a:ln w="12700">
            <a:solidFill>
              <a:srgbClr val="1B1B3A"/>
            </a:solidFill>
            <a:prstDash val="solid"/>
          </a:ln>
        </p:spPr>
      </p:sp>
      <p:pic>
        <p:nvPicPr>
          <p:cNvPr id="8" name="Image 0" descr="preencoded.png">    </p:cNvPr>
          <p:cNvPicPr>
            <a:picLocks noChangeAspect="1"/>
          </p:cNvPicPr>
          <p:nvPr/>
        </p:nvPicPr>
        <p:blipFill>
          <a:blip r:embed="rId1"/>
          <a:stretch>
            <a:fillRect/>
          </a:stretch>
        </p:blipFill>
        <p:spPr>
          <a:xfrm>
            <a:off x="731520" y="1307592"/>
            <a:ext cx="237744" cy="237744"/>
          </a:xfrm>
          <a:prstGeom prst="rect">
            <a:avLst/>
          </a:prstGeom>
        </p:spPr>
      </p:pic>
      <p:sp>
        <p:nvSpPr>
          <p:cNvPr id="9" name="Text 6"/>
          <p:cNvSpPr txBox="1"/>
          <p:nvPr/>
        </p:nvSpPr>
        <p:spPr>
          <a:xfrm>
            <a:off x="1234440" y="1143000"/>
            <a:ext cx="3108960" cy="292608"/>
          </a:xfrm>
          <a:prstGeom prst="rect">
            <a:avLst/>
          </a:prstGeom>
          <a:noFill/>
          <a:ln/>
        </p:spPr>
        <p:txBody>
          <a:bodyPr wrap="square" lIns="0" tIns="0" rIns="0" bIns="0" rtlCol="0" anchor="t"/>
          <a:lstStyle/>
          <a:p>
            <a:pPr indent="0" marL="0">
              <a:buNone/>
            </a:pPr>
            <a:r>
              <a:rPr lang="en-US" sz="1250" b="1" dirty="0">
                <a:solidFill>
                  <a:srgbClr val="1B1B3A"/>
                </a:solidFill>
                <a:latin typeface="Arial" pitchFamily="34" charset="0"/>
                <a:ea typeface="Arial" pitchFamily="34" charset="-122"/>
                <a:cs typeface="Arial" pitchFamily="34" charset="-120"/>
              </a:rPr>
              <a:t>Aviso 18+ e cadastro CPF/CNPJ</a:t>
            </a:r>
            <a:endParaRPr lang="en-US" sz="1250" dirty="0"/>
          </a:p>
        </p:txBody>
      </p:sp>
      <p:sp>
        <p:nvSpPr>
          <p:cNvPr id="10" name="Text 7"/>
          <p:cNvSpPr txBox="1"/>
          <p:nvPr/>
        </p:nvSpPr>
        <p:spPr>
          <a:xfrm>
            <a:off x="1234440" y="1463040"/>
            <a:ext cx="3108960" cy="256032"/>
          </a:xfrm>
          <a:prstGeom prst="rect">
            <a:avLst/>
          </a:prstGeom>
          <a:noFill/>
          <a:ln/>
        </p:spPr>
        <p:txBody>
          <a:bodyPr wrap="square" lIns="0" tIns="0" rIns="0" bIns="0" rtlCol="0" anchor="t"/>
          <a:lstStyle/>
          <a:p>
            <a:pPr indent="0" marL="0">
              <a:buNone/>
            </a:pPr>
            <a:r>
              <a:rPr lang="en-US" sz="1050" b="1" dirty="0">
                <a:solidFill>
                  <a:srgbClr val="00897B"/>
                </a:solidFill>
                <a:latin typeface="Arial" pitchFamily="34" charset="0"/>
                <a:ea typeface="Arial" pitchFamily="34" charset="-122"/>
                <a:cs typeface="Arial" pitchFamily="34" charset="-120"/>
              </a:rPr>
              <a:t>No protótipo ✓ · RF01, RF02, RF04</a:t>
            </a:r>
            <a:endParaRPr lang="en-US" sz="1050" dirty="0"/>
          </a:p>
        </p:txBody>
      </p:sp>
      <p:sp>
        <p:nvSpPr>
          <p:cNvPr id="11" name="Shape 8"/>
          <p:cNvSpPr/>
          <p:nvPr/>
        </p:nvSpPr>
        <p:spPr>
          <a:xfrm>
            <a:off x="457200" y="1947672"/>
            <a:ext cx="4023360" cy="749808"/>
          </a:xfrm>
          <a:prstGeom prst="roundRect">
            <a:avLst>
              <a:gd name="adj" fmla="val 9756"/>
            </a:avLst>
          </a:prstGeom>
          <a:solidFill>
            <a:srgbClr val="F4F4F8"/>
          </a:solidFill>
          <a:ln w="12700">
            <a:solidFill>
              <a:srgbClr val="F4F4F8"/>
            </a:solidFill>
            <a:prstDash val="solid"/>
          </a:ln>
        </p:spPr>
      </p:sp>
      <p:sp>
        <p:nvSpPr>
          <p:cNvPr id="12" name="Shape 9"/>
          <p:cNvSpPr/>
          <p:nvPr/>
        </p:nvSpPr>
        <p:spPr>
          <a:xfrm>
            <a:off x="621792" y="2093976"/>
            <a:ext cx="457200" cy="457200"/>
          </a:xfrm>
          <a:prstGeom prst="ellipse">
            <a:avLst/>
          </a:prstGeom>
          <a:solidFill>
            <a:srgbClr val="1B1B3A"/>
          </a:solidFill>
          <a:ln w="12700">
            <a:solidFill>
              <a:srgbClr val="1B1B3A"/>
            </a:solidFill>
            <a:prstDash val="solid"/>
          </a:ln>
        </p:spPr>
      </p:sp>
      <p:pic>
        <p:nvPicPr>
          <p:cNvPr id="13" name="Image 1" descr="preencoded.png">    </p:cNvPr>
          <p:cNvPicPr>
            <a:picLocks noChangeAspect="1"/>
          </p:cNvPicPr>
          <p:nvPr/>
        </p:nvPicPr>
        <p:blipFill>
          <a:blip r:embed="rId2"/>
          <a:stretch>
            <a:fillRect/>
          </a:stretch>
        </p:blipFill>
        <p:spPr>
          <a:xfrm>
            <a:off x="731520" y="2203704"/>
            <a:ext cx="237744" cy="237744"/>
          </a:xfrm>
          <a:prstGeom prst="rect">
            <a:avLst/>
          </a:prstGeom>
        </p:spPr>
      </p:pic>
      <p:sp>
        <p:nvSpPr>
          <p:cNvPr id="14" name="Text 10"/>
          <p:cNvSpPr txBox="1"/>
          <p:nvPr/>
        </p:nvSpPr>
        <p:spPr>
          <a:xfrm>
            <a:off x="1234440" y="2039112"/>
            <a:ext cx="3108960" cy="292608"/>
          </a:xfrm>
          <a:prstGeom prst="rect">
            <a:avLst/>
          </a:prstGeom>
          <a:noFill/>
          <a:ln/>
        </p:spPr>
        <p:txBody>
          <a:bodyPr wrap="square" lIns="0" tIns="0" rIns="0" bIns="0" rtlCol="0" anchor="t"/>
          <a:lstStyle/>
          <a:p>
            <a:pPr indent="0" marL="0">
              <a:buNone/>
            </a:pPr>
            <a:r>
              <a:rPr lang="en-US" sz="1250" b="1" dirty="0">
                <a:solidFill>
                  <a:srgbClr val="1B1B3A"/>
                </a:solidFill>
                <a:latin typeface="Arial" pitchFamily="34" charset="0"/>
                <a:ea typeface="Arial" pitchFamily="34" charset="-122"/>
                <a:cs typeface="Arial" pitchFamily="34" charset="-120"/>
              </a:rPr>
              <a:t>Catálogo lido do banco</a:t>
            </a:r>
            <a:endParaRPr lang="en-US" sz="1250" dirty="0"/>
          </a:p>
        </p:txBody>
      </p:sp>
      <p:sp>
        <p:nvSpPr>
          <p:cNvPr id="15" name="Text 11"/>
          <p:cNvSpPr txBox="1"/>
          <p:nvPr/>
        </p:nvSpPr>
        <p:spPr>
          <a:xfrm>
            <a:off x="1234440" y="2359152"/>
            <a:ext cx="3108960" cy="256032"/>
          </a:xfrm>
          <a:prstGeom prst="rect">
            <a:avLst/>
          </a:prstGeom>
          <a:noFill/>
          <a:ln/>
        </p:spPr>
        <p:txBody>
          <a:bodyPr wrap="square" lIns="0" tIns="0" rIns="0" bIns="0" rtlCol="0" anchor="t"/>
          <a:lstStyle/>
          <a:p>
            <a:pPr indent="0" marL="0">
              <a:buNone/>
            </a:pPr>
            <a:r>
              <a:rPr lang="en-US" sz="1050" b="1" dirty="0">
                <a:solidFill>
                  <a:srgbClr val="00897B"/>
                </a:solidFill>
                <a:latin typeface="Arial" pitchFamily="34" charset="0"/>
                <a:ea typeface="Arial" pitchFamily="34" charset="-122"/>
                <a:cs typeface="Arial" pitchFamily="34" charset="-120"/>
              </a:rPr>
              <a:t>No protótipo ✓ · RF05</a:t>
            </a:r>
            <a:endParaRPr lang="en-US" sz="1050" dirty="0"/>
          </a:p>
        </p:txBody>
      </p:sp>
      <p:sp>
        <p:nvSpPr>
          <p:cNvPr id="16" name="Shape 12"/>
          <p:cNvSpPr/>
          <p:nvPr/>
        </p:nvSpPr>
        <p:spPr>
          <a:xfrm>
            <a:off x="457200" y="2843784"/>
            <a:ext cx="4023360" cy="749808"/>
          </a:xfrm>
          <a:prstGeom prst="roundRect">
            <a:avLst>
              <a:gd name="adj" fmla="val 9756"/>
            </a:avLst>
          </a:prstGeom>
          <a:solidFill>
            <a:srgbClr val="F4F4F8"/>
          </a:solidFill>
          <a:ln w="12700">
            <a:solidFill>
              <a:srgbClr val="F4F4F8"/>
            </a:solidFill>
            <a:prstDash val="solid"/>
          </a:ln>
        </p:spPr>
      </p:sp>
      <p:sp>
        <p:nvSpPr>
          <p:cNvPr id="17" name="Shape 13"/>
          <p:cNvSpPr/>
          <p:nvPr/>
        </p:nvSpPr>
        <p:spPr>
          <a:xfrm>
            <a:off x="621792" y="2990088"/>
            <a:ext cx="457200" cy="457200"/>
          </a:xfrm>
          <a:prstGeom prst="ellipse">
            <a:avLst/>
          </a:prstGeom>
          <a:solidFill>
            <a:srgbClr val="1B1B3A"/>
          </a:solidFill>
          <a:ln w="12700">
            <a:solidFill>
              <a:srgbClr val="1B1B3A"/>
            </a:solidFill>
            <a:prstDash val="solid"/>
          </a:ln>
        </p:spPr>
      </p:sp>
      <p:pic>
        <p:nvPicPr>
          <p:cNvPr id="18" name="Image 2" descr="preencoded.png">    </p:cNvPr>
          <p:cNvPicPr>
            <a:picLocks noChangeAspect="1"/>
          </p:cNvPicPr>
          <p:nvPr/>
        </p:nvPicPr>
        <p:blipFill>
          <a:blip r:embed="rId3"/>
          <a:stretch>
            <a:fillRect/>
          </a:stretch>
        </p:blipFill>
        <p:spPr>
          <a:xfrm>
            <a:off x="731520" y="3099816"/>
            <a:ext cx="237744" cy="237744"/>
          </a:xfrm>
          <a:prstGeom prst="rect">
            <a:avLst/>
          </a:prstGeom>
        </p:spPr>
      </p:pic>
      <p:sp>
        <p:nvSpPr>
          <p:cNvPr id="19" name="Text 14"/>
          <p:cNvSpPr txBox="1"/>
          <p:nvPr/>
        </p:nvSpPr>
        <p:spPr>
          <a:xfrm>
            <a:off x="1234440" y="2935224"/>
            <a:ext cx="3108960" cy="292608"/>
          </a:xfrm>
          <a:prstGeom prst="rect">
            <a:avLst/>
          </a:prstGeom>
          <a:noFill/>
          <a:ln/>
        </p:spPr>
        <p:txBody>
          <a:bodyPr wrap="square" lIns="0" tIns="0" rIns="0" bIns="0" rtlCol="0" anchor="t"/>
          <a:lstStyle/>
          <a:p>
            <a:pPr indent="0" marL="0">
              <a:buNone/>
            </a:pPr>
            <a:r>
              <a:rPr lang="en-US" sz="1250" b="1" dirty="0">
                <a:solidFill>
                  <a:srgbClr val="1B1B3A"/>
                </a:solidFill>
                <a:latin typeface="Arial" pitchFamily="34" charset="0"/>
                <a:ea typeface="Arial" pitchFamily="34" charset="-122"/>
                <a:cs typeface="Arial" pitchFamily="34" charset="-120"/>
              </a:rPr>
              <a:t>Carrinho</a:t>
            </a:r>
            <a:endParaRPr lang="en-US" sz="1250" dirty="0"/>
          </a:p>
        </p:txBody>
      </p:sp>
      <p:sp>
        <p:nvSpPr>
          <p:cNvPr id="20" name="Text 15"/>
          <p:cNvSpPr txBox="1"/>
          <p:nvPr/>
        </p:nvSpPr>
        <p:spPr>
          <a:xfrm>
            <a:off x="1234440" y="3255264"/>
            <a:ext cx="3108960" cy="256032"/>
          </a:xfrm>
          <a:prstGeom prst="rect">
            <a:avLst/>
          </a:prstGeom>
          <a:noFill/>
          <a:ln/>
        </p:spPr>
        <p:txBody>
          <a:bodyPr wrap="square" lIns="0" tIns="0" rIns="0" bIns="0" rtlCol="0" anchor="t"/>
          <a:lstStyle/>
          <a:p>
            <a:pPr indent="0" marL="0">
              <a:buNone/>
            </a:pPr>
            <a:r>
              <a:rPr lang="en-US" sz="1050" b="1" dirty="0">
                <a:solidFill>
                  <a:srgbClr val="00897B"/>
                </a:solidFill>
                <a:latin typeface="Arial" pitchFamily="34" charset="0"/>
                <a:ea typeface="Arial" pitchFamily="34" charset="-122"/>
                <a:cs typeface="Arial" pitchFamily="34" charset="-120"/>
              </a:rPr>
              <a:t>No protótipo ✓ · RF07</a:t>
            </a:r>
            <a:endParaRPr lang="en-US" sz="1050" dirty="0"/>
          </a:p>
        </p:txBody>
      </p:sp>
      <p:sp>
        <p:nvSpPr>
          <p:cNvPr id="21" name="Shape 16"/>
          <p:cNvSpPr/>
          <p:nvPr/>
        </p:nvSpPr>
        <p:spPr>
          <a:xfrm>
            <a:off x="457200" y="3739896"/>
            <a:ext cx="4023360" cy="749808"/>
          </a:xfrm>
          <a:prstGeom prst="roundRect">
            <a:avLst>
              <a:gd name="adj" fmla="val 9756"/>
            </a:avLst>
          </a:prstGeom>
          <a:solidFill>
            <a:srgbClr val="F4F4F8"/>
          </a:solidFill>
          <a:ln w="12700">
            <a:solidFill>
              <a:srgbClr val="F4F4F8"/>
            </a:solidFill>
            <a:prstDash val="solid"/>
          </a:ln>
        </p:spPr>
      </p:sp>
      <p:sp>
        <p:nvSpPr>
          <p:cNvPr id="22" name="Shape 17"/>
          <p:cNvSpPr/>
          <p:nvPr/>
        </p:nvSpPr>
        <p:spPr>
          <a:xfrm>
            <a:off x="621792" y="3886200"/>
            <a:ext cx="457200" cy="457200"/>
          </a:xfrm>
          <a:prstGeom prst="ellipse">
            <a:avLst/>
          </a:prstGeom>
          <a:solidFill>
            <a:srgbClr val="1B1B3A"/>
          </a:solidFill>
          <a:ln w="12700">
            <a:solidFill>
              <a:srgbClr val="1B1B3A"/>
            </a:solidFill>
            <a:prstDash val="solid"/>
          </a:ln>
        </p:spPr>
      </p:sp>
      <p:pic>
        <p:nvPicPr>
          <p:cNvPr id="23" name="Image 3" descr="preencoded.png">    </p:cNvPr>
          <p:cNvPicPr>
            <a:picLocks noChangeAspect="1"/>
          </p:cNvPicPr>
          <p:nvPr/>
        </p:nvPicPr>
        <p:blipFill>
          <a:blip r:embed="rId4"/>
          <a:stretch>
            <a:fillRect/>
          </a:stretch>
        </p:blipFill>
        <p:spPr>
          <a:xfrm>
            <a:off x="731520" y="3995928"/>
            <a:ext cx="237744" cy="237744"/>
          </a:xfrm>
          <a:prstGeom prst="rect">
            <a:avLst/>
          </a:prstGeom>
        </p:spPr>
      </p:pic>
      <p:sp>
        <p:nvSpPr>
          <p:cNvPr id="24" name="Text 18"/>
          <p:cNvSpPr txBox="1"/>
          <p:nvPr/>
        </p:nvSpPr>
        <p:spPr>
          <a:xfrm>
            <a:off x="1234440" y="3831336"/>
            <a:ext cx="3108960" cy="292608"/>
          </a:xfrm>
          <a:prstGeom prst="rect">
            <a:avLst/>
          </a:prstGeom>
          <a:noFill/>
          <a:ln/>
        </p:spPr>
        <p:txBody>
          <a:bodyPr wrap="square" lIns="0" tIns="0" rIns="0" bIns="0" rtlCol="0" anchor="t"/>
          <a:lstStyle/>
          <a:p>
            <a:pPr indent="0" marL="0">
              <a:buNone/>
            </a:pPr>
            <a:r>
              <a:rPr lang="en-US" sz="1250" b="1" dirty="0">
                <a:solidFill>
                  <a:srgbClr val="1B1B3A"/>
                </a:solidFill>
                <a:latin typeface="Arial" pitchFamily="34" charset="0"/>
                <a:ea typeface="Arial" pitchFamily="34" charset="-122"/>
                <a:cs typeface="Arial" pitchFamily="34" charset="-120"/>
              </a:rPr>
              <a:t>Entrega pelo CEP</a:t>
            </a:r>
            <a:endParaRPr lang="en-US" sz="1250" dirty="0"/>
          </a:p>
        </p:txBody>
      </p:sp>
      <p:sp>
        <p:nvSpPr>
          <p:cNvPr id="25" name="Text 19"/>
          <p:cNvSpPr txBox="1"/>
          <p:nvPr/>
        </p:nvSpPr>
        <p:spPr>
          <a:xfrm>
            <a:off x="1234440" y="4151376"/>
            <a:ext cx="3108960" cy="256032"/>
          </a:xfrm>
          <a:prstGeom prst="rect">
            <a:avLst/>
          </a:prstGeom>
          <a:noFill/>
          <a:ln/>
        </p:spPr>
        <p:txBody>
          <a:bodyPr wrap="square" lIns="0" tIns="0" rIns="0" bIns="0" rtlCol="0" anchor="t"/>
          <a:lstStyle/>
          <a:p>
            <a:pPr indent="0" marL="0">
              <a:buNone/>
            </a:pPr>
            <a:r>
              <a:rPr lang="en-US" sz="1050" b="1" dirty="0">
                <a:solidFill>
                  <a:srgbClr val="00897B"/>
                </a:solidFill>
                <a:latin typeface="Arial" pitchFamily="34" charset="0"/>
                <a:ea typeface="Arial" pitchFamily="34" charset="-122"/>
                <a:cs typeface="Arial" pitchFamily="34" charset="-120"/>
              </a:rPr>
              <a:t>No protótipo ✓ · RF08</a:t>
            </a:r>
            <a:endParaRPr lang="en-US" sz="1050" dirty="0"/>
          </a:p>
        </p:txBody>
      </p:sp>
      <p:sp>
        <p:nvSpPr>
          <p:cNvPr id="26" name="Shape 20"/>
          <p:cNvSpPr/>
          <p:nvPr/>
        </p:nvSpPr>
        <p:spPr>
          <a:xfrm>
            <a:off x="4663440" y="1051560"/>
            <a:ext cx="4023360" cy="749808"/>
          </a:xfrm>
          <a:prstGeom prst="roundRect">
            <a:avLst>
              <a:gd name="adj" fmla="val 9756"/>
            </a:avLst>
          </a:prstGeom>
          <a:solidFill>
            <a:srgbClr val="F4F4F8"/>
          </a:solidFill>
          <a:ln w="12700">
            <a:solidFill>
              <a:srgbClr val="F4F4F8"/>
            </a:solidFill>
            <a:prstDash val="solid"/>
          </a:ln>
        </p:spPr>
      </p:sp>
      <p:sp>
        <p:nvSpPr>
          <p:cNvPr id="27" name="Shape 21"/>
          <p:cNvSpPr/>
          <p:nvPr/>
        </p:nvSpPr>
        <p:spPr>
          <a:xfrm>
            <a:off x="4828032" y="1197864"/>
            <a:ext cx="457200" cy="457200"/>
          </a:xfrm>
          <a:prstGeom prst="ellipse">
            <a:avLst/>
          </a:prstGeom>
          <a:solidFill>
            <a:srgbClr val="1B1B3A"/>
          </a:solidFill>
          <a:ln w="12700">
            <a:solidFill>
              <a:srgbClr val="1B1B3A"/>
            </a:solidFill>
            <a:prstDash val="solid"/>
          </a:ln>
        </p:spPr>
      </p:sp>
      <p:pic>
        <p:nvPicPr>
          <p:cNvPr id="28" name="Image 4" descr="preencoded.png">    </p:cNvPr>
          <p:cNvPicPr>
            <a:picLocks noChangeAspect="1"/>
          </p:cNvPicPr>
          <p:nvPr/>
        </p:nvPicPr>
        <p:blipFill>
          <a:blip r:embed="rId5"/>
          <a:stretch>
            <a:fillRect/>
          </a:stretch>
        </p:blipFill>
        <p:spPr>
          <a:xfrm>
            <a:off x="4937760" y="1307592"/>
            <a:ext cx="237744" cy="237744"/>
          </a:xfrm>
          <a:prstGeom prst="rect">
            <a:avLst/>
          </a:prstGeom>
        </p:spPr>
      </p:pic>
      <p:sp>
        <p:nvSpPr>
          <p:cNvPr id="29" name="Text 22"/>
          <p:cNvSpPr txBox="1"/>
          <p:nvPr/>
        </p:nvSpPr>
        <p:spPr>
          <a:xfrm>
            <a:off x="5440680" y="1143000"/>
            <a:ext cx="3108960" cy="292608"/>
          </a:xfrm>
          <a:prstGeom prst="rect">
            <a:avLst/>
          </a:prstGeom>
          <a:noFill/>
          <a:ln/>
        </p:spPr>
        <p:txBody>
          <a:bodyPr wrap="square" lIns="0" tIns="0" rIns="0" bIns="0" rtlCol="0" anchor="t"/>
          <a:lstStyle/>
          <a:p>
            <a:pPr indent="0" marL="0">
              <a:buNone/>
            </a:pPr>
            <a:r>
              <a:rPr lang="en-US" sz="1250" b="1" dirty="0">
                <a:solidFill>
                  <a:srgbClr val="1B1B3A"/>
                </a:solidFill>
                <a:latin typeface="Arial" pitchFamily="34" charset="0"/>
                <a:ea typeface="Arial" pitchFamily="34" charset="-122"/>
                <a:cs typeface="Arial" pitchFamily="34" charset="-120"/>
              </a:rPr>
              <a:t>Finalizar pedido e enviar ao WhatsApp</a:t>
            </a:r>
            <a:endParaRPr lang="en-US" sz="1250" dirty="0"/>
          </a:p>
        </p:txBody>
      </p:sp>
      <p:sp>
        <p:nvSpPr>
          <p:cNvPr id="30" name="Text 23"/>
          <p:cNvSpPr txBox="1"/>
          <p:nvPr/>
        </p:nvSpPr>
        <p:spPr>
          <a:xfrm>
            <a:off x="5440680" y="1463040"/>
            <a:ext cx="3108960" cy="256032"/>
          </a:xfrm>
          <a:prstGeom prst="rect">
            <a:avLst/>
          </a:prstGeom>
          <a:noFill/>
          <a:ln/>
        </p:spPr>
        <p:txBody>
          <a:bodyPr wrap="square" lIns="0" tIns="0" rIns="0" bIns="0" rtlCol="0" anchor="t"/>
          <a:lstStyle/>
          <a:p>
            <a:pPr indent="0" marL="0">
              <a:buNone/>
            </a:pPr>
            <a:r>
              <a:rPr lang="en-US" sz="1050" b="1" dirty="0">
                <a:solidFill>
                  <a:srgbClr val="00897B"/>
                </a:solidFill>
                <a:latin typeface="Arial" pitchFamily="34" charset="0"/>
                <a:ea typeface="Arial" pitchFamily="34" charset="-122"/>
                <a:cs typeface="Arial" pitchFamily="34" charset="-120"/>
              </a:rPr>
              <a:t>No protótipo ✓ · RF10, RF12</a:t>
            </a:r>
            <a:endParaRPr lang="en-US" sz="1050" dirty="0"/>
          </a:p>
        </p:txBody>
      </p:sp>
      <p:sp>
        <p:nvSpPr>
          <p:cNvPr id="31" name="Shape 24"/>
          <p:cNvSpPr/>
          <p:nvPr/>
        </p:nvSpPr>
        <p:spPr>
          <a:xfrm>
            <a:off x="4663440" y="1947672"/>
            <a:ext cx="4023360" cy="749808"/>
          </a:xfrm>
          <a:prstGeom prst="roundRect">
            <a:avLst>
              <a:gd name="adj" fmla="val 9756"/>
            </a:avLst>
          </a:prstGeom>
          <a:solidFill>
            <a:srgbClr val="F4F4F8"/>
          </a:solidFill>
          <a:ln w="12700">
            <a:solidFill>
              <a:srgbClr val="F4F4F8"/>
            </a:solidFill>
            <a:prstDash val="solid"/>
          </a:ln>
        </p:spPr>
      </p:sp>
      <p:sp>
        <p:nvSpPr>
          <p:cNvPr id="32" name="Shape 25"/>
          <p:cNvSpPr/>
          <p:nvPr/>
        </p:nvSpPr>
        <p:spPr>
          <a:xfrm>
            <a:off x="4828032" y="2093976"/>
            <a:ext cx="457200" cy="457200"/>
          </a:xfrm>
          <a:prstGeom prst="ellipse">
            <a:avLst/>
          </a:prstGeom>
          <a:solidFill>
            <a:srgbClr val="1B1B3A"/>
          </a:solidFill>
          <a:ln w="12700">
            <a:solidFill>
              <a:srgbClr val="1B1B3A"/>
            </a:solidFill>
            <a:prstDash val="solid"/>
          </a:ln>
        </p:spPr>
      </p:sp>
      <p:pic>
        <p:nvPicPr>
          <p:cNvPr id="33" name="Image 5" descr="preencoded.png">    </p:cNvPr>
          <p:cNvPicPr>
            <a:picLocks noChangeAspect="1"/>
          </p:cNvPicPr>
          <p:nvPr/>
        </p:nvPicPr>
        <p:blipFill>
          <a:blip r:embed="rId6"/>
          <a:stretch>
            <a:fillRect/>
          </a:stretch>
        </p:blipFill>
        <p:spPr>
          <a:xfrm>
            <a:off x="4937760" y="2203704"/>
            <a:ext cx="237744" cy="237744"/>
          </a:xfrm>
          <a:prstGeom prst="rect">
            <a:avLst/>
          </a:prstGeom>
        </p:spPr>
      </p:pic>
      <p:sp>
        <p:nvSpPr>
          <p:cNvPr id="34" name="Text 26"/>
          <p:cNvSpPr txBox="1"/>
          <p:nvPr/>
        </p:nvSpPr>
        <p:spPr>
          <a:xfrm>
            <a:off x="5440680" y="2039112"/>
            <a:ext cx="3108960" cy="292608"/>
          </a:xfrm>
          <a:prstGeom prst="rect">
            <a:avLst/>
          </a:prstGeom>
          <a:noFill/>
          <a:ln/>
        </p:spPr>
        <p:txBody>
          <a:bodyPr wrap="square" lIns="0" tIns="0" rIns="0" bIns="0" rtlCol="0" anchor="t"/>
          <a:lstStyle/>
          <a:p>
            <a:pPr indent="0" marL="0">
              <a:buNone/>
            </a:pPr>
            <a:r>
              <a:rPr lang="en-US" sz="1250" b="1" dirty="0">
                <a:solidFill>
                  <a:srgbClr val="1B1B3A"/>
                </a:solidFill>
                <a:latin typeface="Arial" pitchFamily="34" charset="0"/>
                <a:ea typeface="Arial" pitchFamily="34" charset="-122"/>
                <a:cs typeface="Arial" pitchFamily="34" charset="-120"/>
              </a:rPr>
              <a:t>Painel: CRUD de produtos</a:t>
            </a:r>
            <a:endParaRPr lang="en-US" sz="1250" dirty="0"/>
          </a:p>
        </p:txBody>
      </p:sp>
      <p:sp>
        <p:nvSpPr>
          <p:cNvPr id="35" name="Text 27"/>
          <p:cNvSpPr txBox="1"/>
          <p:nvPr/>
        </p:nvSpPr>
        <p:spPr>
          <a:xfrm>
            <a:off x="5440680" y="2359152"/>
            <a:ext cx="3108960" cy="256032"/>
          </a:xfrm>
          <a:prstGeom prst="rect">
            <a:avLst/>
          </a:prstGeom>
          <a:noFill/>
          <a:ln/>
        </p:spPr>
        <p:txBody>
          <a:bodyPr wrap="square" lIns="0" tIns="0" rIns="0" bIns="0" rtlCol="0" anchor="t"/>
          <a:lstStyle/>
          <a:p>
            <a:pPr indent="0" marL="0">
              <a:buNone/>
            </a:pPr>
            <a:r>
              <a:rPr lang="en-US" sz="1050" b="1" dirty="0">
                <a:solidFill>
                  <a:srgbClr val="00897B"/>
                </a:solidFill>
                <a:latin typeface="Arial" pitchFamily="34" charset="0"/>
                <a:ea typeface="Arial" pitchFamily="34" charset="-122"/>
                <a:cs typeface="Arial" pitchFamily="34" charset="-120"/>
              </a:rPr>
              <a:t>No protótipo ✓ · RF16</a:t>
            </a:r>
            <a:endParaRPr lang="en-US" sz="1050" dirty="0"/>
          </a:p>
        </p:txBody>
      </p:sp>
      <p:sp>
        <p:nvSpPr>
          <p:cNvPr id="36" name="Shape 28"/>
          <p:cNvSpPr/>
          <p:nvPr/>
        </p:nvSpPr>
        <p:spPr>
          <a:xfrm>
            <a:off x="4663440" y="2843784"/>
            <a:ext cx="4023360" cy="749808"/>
          </a:xfrm>
          <a:prstGeom prst="roundRect">
            <a:avLst>
              <a:gd name="adj" fmla="val 9756"/>
            </a:avLst>
          </a:prstGeom>
          <a:solidFill>
            <a:srgbClr val="F4F4F8"/>
          </a:solidFill>
          <a:ln w="12700">
            <a:solidFill>
              <a:srgbClr val="F4F4F8"/>
            </a:solidFill>
            <a:prstDash val="solid"/>
          </a:ln>
        </p:spPr>
      </p:sp>
      <p:sp>
        <p:nvSpPr>
          <p:cNvPr id="37" name="Shape 29"/>
          <p:cNvSpPr/>
          <p:nvPr/>
        </p:nvSpPr>
        <p:spPr>
          <a:xfrm>
            <a:off x="4828032" y="2990088"/>
            <a:ext cx="457200" cy="457200"/>
          </a:xfrm>
          <a:prstGeom prst="ellipse">
            <a:avLst/>
          </a:prstGeom>
          <a:solidFill>
            <a:srgbClr val="1B1B3A"/>
          </a:solidFill>
          <a:ln w="12700">
            <a:solidFill>
              <a:srgbClr val="1B1B3A"/>
            </a:solidFill>
            <a:prstDash val="solid"/>
          </a:ln>
        </p:spPr>
      </p:sp>
      <p:pic>
        <p:nvPicPr>
          <p:cNvPr id="38" name="Image 6" descr="preencoded.png">    </p:cNvPr>
          <p:cNvPicPr>
            <a:picLocks noChangeAspect="1"/>
          </p:cNvPicPr>
          <p:nvPr/>
        </p:nvPicPr>
        <p:blipFill>
          <a:blip r:embed="rId7"/>
          <a:stretch>
            <a:fillRect/>
          </a:stretch>
        </p:blipFill>
        <p:spPr>
          <a:xfrm>
            <a:off x="4937760" y="3099816"/>
            <a:ext cx="237744" cy="237744"/>
          </a:xfrm>
          <a:prstGeom prst="rect">
            <a:avLst/>
          </a:prstGeom>
        </p:spPr>
      </p:pic>
      <p:sp>
        <p:nvSpPr>
          <p:cNvPr id="39" name="Text 30"/>
          <p:cNvSpPr txBox="1"/>
          <p:nvPr/>
        </p:nvSpPr>
        <p:spPr>
          <a:xfrm>
            <a:off x="5440680" y="2935224"/>
            <a:ext cx="3108960" cy="292608"/>
          </a:xfrm>
          <a:prstGeom prst="rect">
            <a:avLst/>
          </a:prstGeom>
          <a:noFill/>
          <a:ln/>
        </p:spPr>
        <p:txBody>
          <a:bodyPr wrap="square" lIns="0" tIns="0" rIns="0" bIns="0" rtlCol="0" anchor="t"/>
          <a:lstStyle/>
          <a:p>
            <a:pPr indent="0" marL="0">
              <a:buNone/>
            </a:pPr>
            <a:r>
              <a:rPr lang="en-US" sz="1250" b="1" dirty="0">
                <a:solidFill>
                  <a:srgbClr val="1B1B3A"/>
                </a:solidFill>
                <a:latin typeface="Arial" pitchFamily="34" charset="0"/>
                <a:ea typeface="Arial" pitchFamily="34" charset="-122"/>
                <a:cs typeface="Arial" pitchFamily="34" charset="-120"/>
              </a:rPr>
              <a:t>Painel: lista de pedidos e status</a:t>
            </a:r>
            <a:endParaRPr lang="en-US" sz="1250" dirty="0"/>
          </a:p>
        </p:txBody>
      </p:sp>
      <p:sp>
        <p:nvSpPr>
          <p:cNvPr id="40" name="Text 31"/>
          <p:cNvSpPr txBox="1"/>
          <p:nvPr/>
        </p:nvSpPr>
        <p:spPr>
          <a:xfrm>
            <a:off x="5440680" y="3255264"/>
            <a:ext cx="3108960" cy="256032"/>
          </a:xfrm>
          <a:prstGeom prst="rect">
            <a:avLst/>
          </a:prstGeom>
          <a:noFill/>
          <a:ln/>
        </p:spPr>
        <p:txBody>
          <a:bodyPr wrap="square" lIns="0" tIns="0" rIns="0" bIns="0" rtlCol="0" anchor="t"/>
          <a:lstStyle/>
          <a:p>
            <a:pPr indent="0" marL="0">
              <a:buNone/>
            </a:pPr>
            <a:r>
              <a:rPr lang="en-US" sz="1050" b="1" dirty="0">
                <a:solidFill>
                  <a:srgbClr val="C2185B"/>
                </a:solidFill>
                <a:latin typeface="Arial" pitchFamily="34" charset="0"/>
                <a:ea typeface="Arial" pitchFamily="34" charset="-122"/>
                <a:cs typeface="Arial" pitchFamily="34" charset="-120"/>
              </a:rPr>
              <a:t>Novo · RF19</a:t>
            </a:r>
            <a:endParaRPr lang="en-US" sz="1050" dirty="0"/>
          </a:p>
        </p:txBody>
      </p:sp>
      <p:sp>
        <p:nvSpPr>
          <p:cNvPr id="41" name="Text 32"/>
          <p:cNvSpPr txBox="1"/>
          <p:nvPr/>
        </p:nvSpPr>
        <p:spPr>
          <a:xfrm>
            <a:off x="4663440" y="3749040"/>
            <a:ext cx="4023360" cy="731520"/>
          </a:xfrm>
          <a:prstGeom prst="rect">
            <a:avLst/>
          </a:prstGeom>
          <a:noFill/>
          <a:ln/>
        </p:spPr>
        <p:txBody>
          <a:bodyPr wrap="square" lIns="0" tIns="0" rIns="0" bIns="0" rtlCol="0" anchor="t"/>
          <a:lstStyle/>
          <a:p>
            <a:pPr indent="0" marL="0">
              <a:buNone/>
            </a:pPr>
            <a:r>
              <a:rPr lang="en-US" sz="1150" i="1" dirty="0">
                <a:solidFill>
                  <a:srgbClr val="5A5A70"/>
                </a:solidFill>
                <a:latin typeface="Arial" pitchFamily="34" charset="0"/>
                <a:ea typeface="Arial" pitchFamily="34" charset="-122"/>
                <a:cs typeface="Arial" pitchFamily="34" charset="-120"/>
              </a:rPr>
              <a:t>Depois do MVP (Entrega 3): login com token, busca e filtro, atacado, Pix, cupom, histórico.</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FFFFFF"/>
          </a:solidFill>
          <a:ln w="15875">
            <a:solidFill>
              <a:srgbClr val="1B1B3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1B1B3A"/>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5A5A70"/>
                </a:solidFill>
                <a:latin typeface="Arial" pitchFamily="34" charset="0"/>
                <a:ea typeface="Arial" pitchFamily="34" charset="-122"/>
                <a:cs typeface="Arial" pitchFamily="34" charset="-120"/>
              </a:rPr>
              <a:t>15</a:t>
            </a:r>
            <a:endParaRPr lang="en-US" sz="900" dirty="0"/>
          </a:p>
        </p:txBody>
      </p:sp>
      <p:sp>
        <p:nvSpPr>
          <p:cNvPr id="5" name="Text 3"/>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1B3A"/>
                </a:solidFill>
                <a:latin typeface="Arial" pitchFamily="34" charset="0"/>
                <a:ea typeface="Arial" pitchFamily="34" charset="-122"/>
                <a:cs typeface="Arial" pitchFamily="34" charset="-120"/>
              </a:rPr>
              <a:t>Cronograma</a:t>
            </a:r>
            <a:endParaRPr lang="en-US" sz="2800" dirty="0"/>
          </a:p>
        </p:txBody>
      </p:sp>
      <p:sp>
        <p:nvSpPr>
          <p:cNvPr id="6" name="Shape 4"/>
          <p:cNvSpPr/>
          <p:nvPr/>
        </p:nvSpPr>
        <p:spPr>
          <a:xfrm>
            <a:off x="457200" y="3017520"/>
            <a:ext cx="8229600" cy="0"/>
          </a:xfrm>
          <a:prstGeom prst="line">
            <a:avLst/>
          </a:prstGeom>
          <a:noFill/>
          <a:ln w="25400">
            <a:solidFill>
              <a:srgbClr val="1B1B3A"/>
            </a:solidFill>
            <a:prstDash val="solid"/>
          </a:ln>
        </p:spPr>
      </p:sp>
      <p:sp>
        <p:nvSpPr>
          <p:cNvPr id="7" name="Shape 5"/>
          <p:cNvSpPr/>
          <p:nvPr/>
        </p:nvSpPr>
        <p:spPr>
          <a:xfrm>
            <a:off x="457200" y="1417320"/>
            <a:ext cx="1307592" cy="1417320"/>
          </a:xfrm>
          <a:prstGeom prst="roundRect">
            <a:avLst>
              <a:gd name="adj" fmla="val 5594"/>
            </a:avLst>
          </a:prstGeom>
          <a:solidFill>
            <a:srgbClr val="E6F5F2"/>
          </a:solidFill>
          <a:ln w="12700">
            <a:solidFill>
              <a:srgbClr val="E6F5F2"/>
            </a:solidFill>
            <a:prstDash val="solid"/>
          </a:ln>
        </p:spPr>
      </p:sp>
      <p:sp>
        <p:nvSpPr>
          <p:cNvPr id="8" name="Text 6"/>
          <p:cNvSpPr txBox="1"/>
          <p:nvPr/>
        </p:nvSpPr>
        <p:spPr>
          <a:xfrm>
            <a:off x="548640" y="1508760"/>
            <a:ext cx="1124712" cy="256032"/>
          </a:xfrm>
          <a:prstGeom prst="rect">
            <a:avLst/>
          </a:prstGeom>
          <a:noFill/>
          <a:ln/>
        </p:spPr>
        <p:txBody>
          <a:bodyPr wrap="square" lIns="0" tIns="0" rIns="0" bIns="0" rtlCol="0" anchor="t"/>
          <a:lstStyle/>
          <a:p>
            <a:pPr indent="0" marL="0">
              <a:buNone/>
            </a:pPr>
            <a:r>
              <a:rPr lang="en-US" sz="1200" b="1" dirty="0">
                <a:solidFill>
                  <a:srgbClr val="C2185B"/>
                </a:solidFill>
                <a:latin typeface="Arial" pitchFamily="34" charset="0"/>
                <a:ea typeface="Arial" pitchFamily="34" charset="-122"/>
                <a:cs typeface="Arial" pitchFamily="34" charset="-120"/>
              </a:rPr>
              <a:t>Sprint 0</a:t>
            </a:r>
            <a:endParaRPr lang="en-US" sz="1200" dirty="0"/>
          </a:p>
        </p:txBody>
      </p:sp>
      <p:sp>
        <p:nvSpPr>
          <p:cNvPr id="9" name="Text 7"/>
          <p:cNvSpPr txBox="1"/>
          <p:nvPr/>
        </p:nvSpPr>
        <p:spPr>
          <a:xfrm>
            <a:off x="548640" y="1783080"/>
            <a:ext cx="1124712" cy="502920"/>
          </a:xfrm>
          <a:prstGeom prst="rect">
            <a:avLst/>
          </a:prstGeom>
          <a:noFill/>
          <a:ln/>
        </p:spPr>
        <p:txBody>
          <a:bodyPr wrap="square" lIns="0" tIns="0" rIns="0" bIns="0" rtlCol="0" anchor="t"/>
          <a:lstStyle/>
          <a:p>
            <a:pPr indent="0" marL="0">
              <a:buNone/>
            </a:pPr>
            <a:r>
              <a:rPr lang="en-US" sz="1100" b="1" dirty="0">
                <a:solidFill>
                  <a:srgbClr val="1B1B3A"/>
                </a:solidFill>
                <a:latin typeface="Arial" pitchFamily="34" charset="0"/>
                <a:ea typeface="Arial" pitchFamily="34" charset="-122"/>
                <a:cs typeface="Arial" pitchFamily="34" charset="-120"/>
              </a:rPr>
              <a:t>Protótipo</a:t>
            </a:r>
            <a:endParaRPr lang="en-US" sz="1100" dirty="0"/>
          </a:p>
        </p:txBody>
      </p:sp>
      <p:sp>
        <p:nvSpPr>
          <p:cNvPr id="10" name="Text 8"/>
          <p:cNvSpPr txBox="1"/>
          <p:nvPr/>
        </p:nvSpPr>
        <p:spPr>
          <a:xfrm>
            <a:off x="548640" y="2313432"/>
            <a:ext cx="1124712" cy="457200"/>
          </a:xfrm>
          <a:prstGeom prst="rect">
            <a:avLst/>
          </a:prstGeom>
          <a:noFill/>
          <a:ln/>
        </p:spPr>
        <p:txBody>
          <a:bodyPr wrap="square" lIns="0" tIns="0" rIns="0" bIns="0" rtlCol="0" anchor="t"/>
          <a:lstStyle/>
          <a:p>
            <a:pPr indent="0" marL="0">
              <a:buNone/>
            </a:pPr>
            <a:r>
              <a:rPr lang="en-US" sz="950" dirty="0">
                <a:solidFill>
                  <a:srgbClr val="5A5A70"/>
                </a:solidFill>
                <a:latin typeface="Arial" pitchFamily="34" charset="0"/>
                <a:ea typeface="Arial" pitchFamily="34" charset="-122"/>
                <a:cs typeface="Arial" pitchFamily="34" charset="-120"/>
              </a:rPr>
              <a:t>02/09 a 25/09/2026</a:t>
            </a:r>
            <a:endParaRPr lang="en-US" sz="950" dirty="0"/>
          </a:p>
        </p:txBody>
      </p:sp>
      <p:sp>
        <p:nvSpPr>
          <p:cNvPr id="11" name="Shape 9"/>
          <p:cNvSpPr/>
          <p:nvPr/>
        </p:nvSpPr>
        <p:spPr>
          <a:xfrm>
            <a:off x="1028700" y="2935224"/>
            <a:ext cx="164592" cy="164592"/>
          </a:xfrm>
          <a:prstGeom prst="ellipse">
            <a:avLst/>
          </a:prstGeom>
          <a:solidFill>
            <a:srgbClr val="1B1B3A"/>
          </a:solidFill>
          <a:ln w="19050">
            <a:solidFill>
              <a:srgbClr val="FFFFFF"/>
            </a:solidFill>
            <a:prstDash val="solid"/>
          </a:ln>
        </p:spPr>
      </p:sp>
      <p:sp>
        <p:nvSpPr>
          <p:cNvPr id="12" name="Text 10"/>
          <p:cNvSpPr txBox="1"/>
          <p:nvPr/>
        </p:nvSpPr>
        <p:spPr>
          <a:xfrm>
            <a:off x="457200" y="3337560"/>
            <a:ext cx="1307592" cy="274320"/>
          </a:xfrm>
          <a:prstGeom prst="rect">
            <a:avLst/>
          </a:prstGeom>
          <a:noFill/>
          <a:ln/>
        </p:spPr>
        <p:txBody>
          <a:bodyPr wrap="square" lIns="0" tIns="0" rIns="0" bIns="0" rtlCol="0" anchor="t"/>
          <a:lstStyle/>
          <a:p>
            <a:pPr algn="ctr" indent="0" marL="0">
              <a:buNone/>
            </a:pPr>
            <a:r>
              <a:rPr lang="en-US" sz="1050" b="1" dirty="0">
                <a:solidFill>
                  <a:srgbClr val="00897B"/>
                </a:solidFill>
                <a:latin typeface="Arial" pitchFamily="34" charset="0"/>
                <a:ea typeface="Arial" pitchFamily="34" charset="-122"/>
                <a:cs typeface="Arial" pitchFamily="34" charset="-120"/>
              </a:rPr>
              <a:t>concluída</a:t>
            </a:r>
            <a:endParaRPr lang="en-US" sz="1050" dirty="0"/>
          </a:p>
        </p:txBody>
      </p:sp>
      <p:sp>
        <p:nvSpPr>
          <p:cNvPr id="13" name="Shape 11"/>
          <p:cNvSpPr/>
          <p:nvPr/>
        </p:nvSpPr>
        <p:spPr>
          <a:xfrm>
            <a:off x="1837944" y="1417320"/>
            <a:ext cx="1307592" cy="1417320"/>
          </a:xfrm>
          <a:prstGeom prst="roundRect">
            <a:avLst>
              <a:gd name="adj" fmla="val 5594"/>
            </a:avLst>
          </a:prstGeom>
          <a:solidFill>
            <a:srgbClr val="F4F4F8"/>
          </a:solidFill>
          <a:ln w="12700">
            <a:solidFill>
              <a:srgbClr val="F4F4F8"/>
            </a:solidFill>
            <a:prstDash val="solid"/>
          </a:ln>
        </p:spPr>
      </p:sp>
      <p:sp>
        <p:nvSpPr>
          <p:cNvPr id="14" name="Text 12"/>
          <p:cNvSpPr txBox="1"/>
          <p:nvPr/>
        </p:nvSpPr>
        <p:spPr>
          <a:xfrm>
            <a:off x="1929384" y="1508760"/>
            <a:ext cx="1124712" cy="256032"/>
          </a:xfrm>
          <a:prstGeom prst="rect">
            <a:avLst/>
          </a:prstGeom>
          <a:noFill/>
          <a:ln/>
        </p:spPr>
        <p:txBody>
          <a:bodyPr wrap="square" lIns="0" tIns="0" rIns="0" bIns="0" rtlCol="0" anchor="t"/>
          <a:lstStyle/>
          <a:p>
            <a:pPr indent="0" marL="0">
              <a:buNone/>
            </a:pPr>
            <a:r>
              <a:rPr lang="en-US" sz="1200" b="1" dirty="0">
                <a:solidFill>
                  <a:srgbClr val="C2185B"/>
                </a:solidFill>
                <a:latin typeface="Arial" pitchFamily="34" charset="0"/>
                <a:ea typeface="Arial" pitchFamily="34" charset="-122"/>
                <a:cs typeface="Arial" pitchFamily="34" charset="-120"/>
              </a:rPr>
              <a:t>Sprint 1</a:t>
            </a:r>
            <a:endParaRPr lang="en-US" sz="1200" dirty="0"/>
          </a:p>
        </p:txBody>
      </p:sp>
      <p:sp>
        <p:nvSpPr>
          <p:cNvPr id="15" name="Text 13"/>
          <p:cNvSpPr txBox="1"/>
          <p:nvPr/>
        </p:nvSpPr>
        <p:spPr>
          <a:xfrm>
            <a:off x="1929384" y="1783080"/>
            <a:ext cx="1124712" cy="502920"/>
          </a:xfrm>
          <a:prstGeom prst="rect">
            <a:avLst/>
          </a:prstGeom>
          <a:noFill/>
          <a:ln/>
        </p:spPr>
        <p:txBody>
          <a:bodyPr wrap="square" lIns="0" tIns="0" rIns="0" bIns="0" rtlCol="0" anchor="t"/>
          <a:lstStyle/>
          <a:p>
            <a:pPr indent="0" marL="0">
              <a:buNone/>
            </a:pPr>
            <a:r>
              <a:rPr lang="en-US" sz="1100" b="1" dirty="0">
                <a:solidFill>
                  <a:srgbClr val="1B1B3A"/>
                </a:solidFill>
                <a:latin typeface="Arial" pitchFamily="34" charset="0"/>
                <a:ea typeface="Arial" pitchFamily="34" charset="-122"/>
                <a:cs typeface="Arial" pitchFamily="34" charset="-120"/>
              </a:rPr>
              <a:t>Planejamento</a:t>
            </a:r>
            <a:endParaRPr lang="en-US" sz="1100" dirty="0"/>
          </a:p>
        </p:txBody>
      </p:sp>
      <p:sp>
        <p:nvSpPr>
          <p:cNvPr id="16" name="Text 14"/>
          <p:cNvSpPr txBox="1"/>
          <p:nvPr/>
        </p:nvSpPr>
        <p:spPr>
          <a:xfrm>
            <a:off x="1929384" y="2313432"/>
            <a:ext cx="1124712" cy="457200"/>
          </a:xfrm>
          <a:prstGeom prst="rect">
            <a:avLst/>
          </a:prstGeom>
          <a:noFill/>
          <a:ln/>
        </p:spPr>
        <p:txBody>
          <a:bodyPr wrap="square" lIns="0" tIns="0" rIns="0" bIns="0" rtlCol="0" anchor="t"/>
          <a:lstStyle/>
          <a:p>
            <a:pPr indent="0" marL="0">
              <a:buNone/>
            </a:pPr>
            <a:r>
              <a:rPr lang="en-US" sz="950" dirty="0">
                <a:solidFill>
                  <a:srgbClr val="5A5A70"/>
                </a:solidFill>
                <a:latin typeface="Arial" pitchFamily="34" charset="0"/>
                <a:ea typeface="Arial" pitchFamily="34" charset="-122"/>
                <a:cs typeface="Arial" pitchFamily="34" charset="-120"/>
              </a:rPr>
              <a:t>26/09 a 29/09/2026</a:t>
            </a:r>
            <a:endParaRPr lang="en-US" sz="950" dirty="0"/>
          </a:p>
        </p:txBody>
      </p:sp>
      <p:sp>
        <p:nvSpPr>
          <p:cNvPr id="17" name="Shape 15"/>
          <p:cNvSpPr/>
          <p:nvPr/>
        </p:nvSpPr>
        <p:spPr>
          <a:xfrm>
            <a:off x="2409444" y="2935224"/>
            <a:ext cx="164592" cy="164592"/>
          </a:xfrm>
          <a:prstGeom prst="ellipse">
            <a:avLst/>
          </a:prstGeom>
          <a:solidFill>
            <a:srgbClr val="C2185B"/>
          </a:solidFill>
          <a:ln w="19050">
            <a:solidFill>
              <a:srgbClr val="FFFFFF"/>
            </a:solidFill>
            <a:prstDash val="solid"/>
          </a:ln>
        </p:spPr>
      </p:sp>
      <p:sp>
        <p:nvSpPr>
          <p:cNvPr id="18" name="Shape 16"/>
          <p:cNvSpPr/>
          <p:nvPr/>
        </p:nvSpPr>
        <p:spPr>
          <a:xfrm>
            <a:off x="1883664" y="3291840"/>
            <a:ext cx="1216152" cy="457200"/>
          </a:xfrm>
          <a:prstGeom prst="roundRect">
            <a:avLst>
              <a:gd name="adj" fmla="val 16000"/>
            </a:avLst>
          </a:prstGeom>
          <a:solidFill>
            <a:srgbClr val="C2185B"/>
          </a:solidFill>
          <a:ln w="12700">
            <a:solidFill>
              <a:srgbClr val="C2185B"/>
            </a:solidFill>
            <a:prstDash val="solid"/>
          </a:ln>
        </p:spPr>
      </p:sp>
      <p:sp>
        <p:nvSpPr>
          <p:cNvPr id="19" name="Text 17"/>
          <p:cNvSpPr txBox="1"/>
          <p:nvPr/>
        </p:nvSpPr>
        <p:spPr>
          <a:xfrm>
            <a:off x="1883664" y="3291840"/>
            <a:ext cx="1216152"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ENTREGA 1</a:t>
            </a:r>
            <a:endParaRPr lang="en-US" sz="1200" dirty="0"/>
          </a:p>
        </p:txBody>
      </p:sp>
      <p:sp>
        <p:nvSpPr>
          <p:cNvPr id="20" name="Text 18"/>
          <p:cNvSpPr txBox="1"/>
          <p:nvPr/>
        </p:nvSpPr>
        <p:spPr>
          <a:xfrm>
            <a:off x="1837944" y="3794760"/>
            <a:ext cx="1307592" cy="274320"/>
          </a:xfrm>
          <a:prstGeom prst="rect">
            <a:avLst/>
          </a:prstGeom>
          <a:noFill/>
          <a:ln/>
        </p:spPr>
        <p:txBody>
          <a:bodyPr wrap="square" lIns="0" tIns="0" rIns="0" bIns="0" rtlCol="0" anchor="t"/>
          <a:lstStyle/>
          <a:p>
            <a:pPr algn="ctr" indent="0" marL="0">
              <a:buNone/>
            </a:pPr>
            <a:r>
              <a:rPr lang="en-US" sz="1050" dirty="0">
                <a:solidFill>
                  <a:srgbClr val="1B1B3A"/>
                </a:solidFill>
                <a:latin typeface="Arial" pitchFamily="34" charset="0"/>
                <a:ea typeface="Arial" pitchFamily="34" charset="-122"/>
                <a:cs typeface="Arial" pitchFamily="34" charset="-120"/>
              </a:rPr>
              <a:t>Plano · 29/09</a:t>
            </a:r>
            <a:endParaRPr lang="en-US" sz="1050" dirty="0"/>
          </a:p>
        </p:txBody>
      </p:sp>
      <p:sp>
        <p:nvSpPr>
          <p:cNvPr id="21" name="Shape 19"/>
          <p:cNvSpPr/>
          <p:nvPr/>
        </p:nvSpPr>
        <p:spPr>
          <a:xfrm>
            <a:off x="3218688" y="1417320"/>
            <a:ext cx="1307592" cy="1417320"/>
          </a:xfrm>
          <a:prstGeom prst="roundRect">
            <a:avLst>
              <a:gd name="adj" fmla="val 5594"/>
            </a:avLst>
          </a:prstGeom>
          <a:solidFill>
            <a:srgbClr val="F4F4F8"/>
          </a:solidFill>
          <a:ln w="12700">
            <a:solidFill>
              <a:srgbClr val="F4F4F8"/>
            </a:solidFill>
            <a:prstDash val="solid"/>
          </a:ln>
        </p:spPr>
      </p:sp>
      <p:sp>
        <p:nvSpPr>
          <p:cNvPr id="22" name="Text 20"/>
          <p:cNvSpPr txBox="1"/>
          <p:nvPr/>
        </p:nvSpPr>
        <p:spPr>
          <a:xfrm>
            <a:off x="3310128" y="1508760"/>
            <a:ext cx="1124712" cy="256032"/>
          </a:xfrm>
          <a:prstGeom prst="rect">
            <a:avLst/>
          </a:prstGeom>
          <a:noFill/>
          <a:ln/>
        </p:spPr>
        <p:txBody>
          <a:bodyPr wrap="square" lIns="0" tIns="0" rIns="0" bIns="0" rtlCol="0" anchor="t"/>
          <a:lstStyle/>
          <a:p>
            <a:pPr indent="0" marL="0">
              <a:buNone/>
            </a:pPr>
            <a:r>
              <a:rPr lang="en-US" sz="1200" b="1" dirty="0">
                <a:solidFill>
                  <a:srgbClr val="C2185B"/>
                </a:solidFill>
                <a:latin typeface="Arial" pitchFamily="34" charset="0"/>
                <a:ea typeface="Arial" pitchFamily="34" charset="-122"/>
                <a:cs typeface="Arial" pitchFamily="34" charset="-120"/>
              </a:rPr>
              <a:t>Sprint 2</a:t>
            </a:r>
            <a:endParaRPr lang="en-US" sz="1200" dirty="0"/>
          </a:p>
        </p:txBody>
      </p:sp>
      <p:sp>
        <p:nvSpPr>
          <p:cNvPr id="23" name="Text 21"/>
          <p:cNvSpPr txBox="1"/>
          <p:nvPr/>
        </p:nvSpPr>
        <p:spPr>
          <a:xfrm>
            <a:off x="3310128" y="1783080"/>
            <a:ext cx="1124712" cy="502920"/>
          </a:xfrm>
          <a:prstGeom prst="rect">
            <a:avLst/>
          </a:prstGeom>
          <a:noFill/>
          <a:ln/>
        </p:spPr>
        <p:txBody>
          <a:bodyPr wrap="square" lIns="0" tIns="0" rIns="0" bIns="0" rtlCol="0" anchor="t"/>
          <a:lstStyle/>
          <a:p>
            <a:pPr indent="0" marL="0">
              <a:buNone/>
            </a:pPr>
            <a:r>
              <a:rPr lang="en-US" sz="1100" b="1" dirty="0">
                <a:solidFill>
                  <a:srgbClr val="1B1B3A"/>
                </a:solidFill>
                <a:latin typeface="Arial" pitchFamily="34" charset="0"/>
                <a:ea typeface="Arial" pitchFamily="34" charset="-122"/>
                <a:cs typeface="Arial" pitchFamily="34" charset="-120"/>
              </a:rPr>
              <a:t>Base do back-end</a:t>
            </a:r>
            <a:endParaRPr lang="en-US" sz="1100" dirty="0"/>
          </a:p>
        </p:txBody>
      </p:sp>
      <p:sp>
        <p:nvSpPr>
          <p:cNvPr id="24" name="Text 22"/>
          <p:cNvSpPr txBox="1"/>
          <p:nvPr/>
        </p:nvSpPr>
        <p:spPr>
          <a:xfrm>
            <a:off x="3310128" y="2313432"/>
            <a:ext cx="1124712" cy="457200"/>
          </a:xfrm>
          <a:prstGeom prst="rect">
            <a:avLst/>
          </a:prstGeom>
          <a:noFill/>
          <a:ln/>
        </p:spPr>
        <p:txBody>
          <a:bodyPr wrap="square" lIns="0" tIns="0" rIns="0" bIns="0" rtlCol="0" anchor="t"/>
          <a:lstStyle/>
          <a:p>
            <a:pPr indent="0" marL="0">
              <a:buNone/>
            </a:pPr>
            <a:r>
              <a:rPr lang="en-US" sz="950" dirty="0">
                <a:solidFill>
                  <a:srgbClr val="5A5A70"/>
                </a:solidFill>
                <a:latin typeface="Arial" pitchFamily="34" charset="0"/>
                <a:ea typeface="Arial" pitchFamily="34" charset="-122"/>
                <a:cs typeface="Arial" pitchFamily="34" charset="-120"/>
              </a:rPr>
              <a:t>30/09 a 15/10/2026</a:t>
            </a:r>
            <a:endParaRPr lang="en-US" sz="950" dirty="0"/>
          </a:p>
        </p:txBody>
      </p:sp>
      <p:sp>
        <p:nvSpPr>
          <p:cNvPr id="25" name="Shape 23"/>
          <p:cNvSpPr/>
          <p:nvPr/>
        </p:nvSpPr>
        <p:spPr>
          <a:xfrm>
            <a:off x="3790188" y="2935224"/>
            <a:ext cx="164592" cy="164592"/>
          </a:xfrm>
          <a:prstGeom prst="ellipse">
            <a:avLst/>
          </a:prstGeom>
          <a:solidFill>
            <a:srgbClr val="1B1B3A"/>
          </a:solidFill>
          <a:ln w="19050">
            <a:solidFill>
              <a:srgbClr val="FFFFFF"/>
            </a:solidFill>
            <a:prstDash val="solid"/>
          </a:ln>
        </p:spPr>
      </p:sp>
      <p:sp>
        <p:nvSpPr>
          <p:cNvPr id="26" name="Shape 24"/>
          <p:cNvSpPr/>
          <p:nvPr/>
        </p:nvSpPr>
        <p:spPr>
          <a:xfrm>
            <a:off x="4599432" y="1417320"/>
            <a:ext cx="1307592" cy="1417320"/>
          </a:xfrm>
          <a:prstGeom prst="roundRect">
            <a:avLst>
              <a:gd name="adj" fmla="val 5594"/>
            </a:avLst>
          </a:prstGeom>
          <a:solidFill>
            <a:srgbClr val="F4F4F8"/>
          </a:solidFill>
          <a:ln w="12700">
            <a:solidFill>
              <a:srgbClr val="F4F4F8"/>
            </a:solidFill>
            <a:prstDash val="solid"/>
          </a:ln>
        </p:spPr>
      </p:sp>
      <p:sp>
        <p:nvSpPr>
          <p:cNvPr id="27" name="Text 25"/>
          <p:cNvSpPr txBox="1"/>
          <p:nvPr/>
        </p:nvSpPr>
        <p:spPr>
          <a:xfrm>
            <a:off x="4690872" y="1508760"/>
            <a:ext cx="1124712" cy="256032"/>
          </a:xfrm>
          <a:prstGeom prst="rect">
            <a:avLst/>
          </a:prstGeom>
          <a:noFill/>
          <a:ln/>
        </p:spPr>
        <p:txBody>
          <a:bodyPr wrap="square" lIns="0" tIns="0" rIns="0" bIns="0" rtlCol="0" anchor="t"/>
          <a:lstStyle/>
          <a:p>
            <a:pPr indent="0" marL="0">
              <a:buNone/>
            </a:pPr>
            <a:r>
              <a:rPr lang="en-US" sz="1200" b="1" dirty="0">
                <a:solidFill>
                  <a:srgbClr val="C2185B"/>
                </a:solidFill>
                <a:latin typeface="Arial" pitchFamily="34" charset="0"/>
                <a:ea typeface="Arial" pitchFamily="34" charset="-122"/>
                <a:cs typeface="Arial" pitchFamily="34" charset="-120"/>
              </a:rPr>
              <a:t>Sprint 3</a:t>
            </a:r>
            <a:endParaRPr lang="en-US" sz="1200" dirty="0"/>
          </a:p>
        </p:txBody>
      </p:sp>
      <p:sp>
        <p:nvSpPr>
          <p:cNvPr id="28" name="Text 26"/>
          <p:cNvSpPr txBox="1"/>
          <p:nvPr/>
        </p:nvSpPr>
        <p:spPr>
          <a:xfrm>
            <a:off x="4690872" y="1783080"/>
            <a:ext cx="1124712" cy="502920"/>
          </a:xfrm>
          <a:prstGeom prst="rect">
            <a:avLst/>
          </a:prstGeom>
          <a:noFill/>
          <a:ln/>
        </p:spPr>
        <p:txBody>
          <a:bodyPr wrap="square" lIns="0" tIns="0" rIns="0" bIns="0" rtlCol="0" anchor="t"/>
          <a:lstStyle/>
          <a:p>
            <a:pPr indent="0" marL="0">
              <a:buNone/>
            </a:pPr>
            <a:r>
              <a:rPr lang="en-US" sz="1100" b="1" dirty="0">
                <a:solidFill>
                  <a:srgbClr val="1B1B3A"/>
                </a:solidFill>
                <a:latin typeface="Arial" pitchFamily="34" charset="0"/>
                <a:ea typeface="Arial" pitchFamily="34" charset="-122"/>
                <a:cs typeface="Arial" pitchFamily="34" charset="-120"/>
              </a:rPr>
              <a:t>Interface e MVP</a:t>
            </a:r>
            <a:endParaRPr lang="en-US" sz="1100" dirty="0"/>
          </a:p>
        </p:txBody>
      </p:sp>
      <p:sp>
        <p:nvSpPr>
          <p:cNvPr id="29" name="Text 27"/>
          <p:cNvSpPr txBox="1"/>
          <p:nvPr/>
        </p:nvSpPr>
        <p:spPr>
          <a:xfrm>
            <a:off x="4690872" y="2313432"/>
            <a:ext cx="1124712" cy="457200"/>
          </a:xfrm>
          <a:prstGeom prst="rect">
            <a:avLst/>
          </a:prstGeom>
          <a:noFill/>
          <a:ln/>
        </p:spPr>
        <p:txBody>
          <a:bodyPr wrap="square" lIns="0" tIns="0" rIns="0" bIns="0" rtlCol="0" anchor="t"/>
          <a:lstStyle/>
          <a:p>
            <a:pPr indent="0" marL="0">
              <a:buNone/>
            </a:pPr>
            <a:r>
              <a:rPr lang="en-US" sz="950" dirty="0">
                <a:solidFill>
                  <a:srgbClr val="5A5A70"/>
                </a:solidFill>
                <a:latin typeface="Arial" pitchFamily="34" charset="0"/>
                <a:ea typeface="Arial" pitchFamily="34" charset="-122"/>
                <a:cs typeface="Arial" pitchFamily="34" charset="-120"/>
              </a:rPr>
              <a:t>16/10 a 03/11/2026</a:t>
            </a:r>
            <a:endParaRPr lang="en-US" sz="950" dirty="0"/>
          </a:p>
        </p:txBody>
      </p:sp>
      <p:sp>
        <p:nvSpPr>
          <p:cNvPr id="30" name="Shape 28"/>
          <p:cNvSpPr/>
          <p:nvPr/>
        </p:nvSpPr>
        <p:spPr>
          <a:xfrm>
            <a:off x="5170932" y="2935224"/>
            <a:ext cx="164592" cy="164592"/>
          </a:xfrm>
          <a:prstGeom prst="ellipse">
            <a:avLst/>
          </a:prstGeom>
          <a:solidFill>
            <a:srgbClr val="C2185B"/>
          </a:solidFill>
          <a:ln w="19050">
            <a:solidFill>
              <a:srgbClr val="FFFFFF"/>
            </a:solidFill>
            <a:prstDash val="solid"/>
          </a:ln>
        </p:spPr>
      </p:sp>
      <p:sp>
        <p:nvSpPr>
          <p:cNvPr id="31" name="Shape 29"/>
          <p:cNvSpPr/>
          <p:nvPr/>
        </p:nvSpPr>
        <p:spPr>
          <a:xfrm>
            <a:off x="4645152" y="3291840"/>
            <a:ext cx="1216152" cy="457200"/>
          </a:xfrm>
          <a:prstGeom prst="roundRect">
            <a:avLst>
              <a:gd name="adj" fmla="val 16000"/>
            </a:avLst>
          </a:prstGeom>
          <a:solidFill>
            <a:srgbClr val="C2185B"/>
          </a:solidFill>
          <a:ln w="12700">
            <a:solidFill>
              <a:srgbClr val="C2185B"/>
            </a:solidFill>
            <a:prstDash val="solid"/>
          </a:ln>
        </p:spPr>
      </p:sp>
      <p:sp>
        <p:nvSpPr>
          <p:cNvPr id="32" name="Text 30"/>
          <p:cNvSpPr txBox="1"/>
          <p:nvPr/>
        </p:nvSpPr>
        <p:spPr>
          <a:xfrm>
            <a:off x="4645152" y="3291840"/>
            <a:ext cx="1216152"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ENTREGA 2</a:t>
            </a:r>
            <a:endParaRPr lang="en-US" sz="1200" dirty="0"/>
          </a:p>
        </p:txBody>
      </p:sp>
      <p:sp>
        <p:nvSpPr>
          <p:cNvPr id="33" name="Text 31"/>
          <p:cNvSpPr txBox="1"/>
          <p:nvPr/>
        </p:nvSpPr>
        <p:spPr>
          <a:xfrm>
            <a:off x="4599432" y="3794760"/>
            <a:ext cx="1307592" cy="274320"/>
          </a:xfrm>
          <a:prstGeom prst="rect">
            <a:avLst/>
          </a:prstGeom>
          <a:noFill/>
          <a:ln/>
        </p:spPr>
        <p:txBody>
          <a:bodyPr wrap="square" lIns="0" tIns="0" rIns="0" bIns="0" rtlCol="0" anchor="t"/>
          <a:lstStyle/>
          <a:p>
            <a:pPr algn="ctr" indent="0" marL="0">
              <a:buNone/>
            </a:pPr>
            <a:r>
              <a:rPr lang="en-US" sz="1050" dirty="0">
                <a:solidFill>
                  <a:srgbClr val="1B1B3A"/>
                </a:solidFill>
                <a:latin typeface="Arial" pitchFamily="34" charset="0"/>
                <a:ea typeface="Arial" pitchFamily="34" charset="-122"/>
                <a:cs typeface="Arial" pitchFamily="34" charset="-120"/>
              </a:rPr>
              <a:t>MVP · 03/11</a:t>
            </a:r>
            <a:endParaRPr lang="en-US" sz="1050" dirty="0"/>
          </a:p>
        </p:txBody>
      </p:sp>
      <p:sp>
        <p:nvSpPr>
          <p:cNvPr id="34" name="Shape 32"/>
          <p:cNvSpPr/>
          <p:nvPr/>
        </p:nvSpPr>
        <p:spPr>
          <a:xfrm>
            <a:off x="5980176" y="1417320"/>
            <a:ext cx="1307592" cy="1417320"/>
          </a:xfrm>
          <a:prstGeom prst="roundRect">
            <a:avLst>
              <a:gd name="adj" fmla="val 5594"/>
            </a:avLst>
          </a:prstGeom>
          <a:solidFill>
            <a:srgbClr val="F4F4F8"/>
          </a:solidFill>
          <a:ln w="12700">
            <a:solidFill>
              <a:srgbClr val="F4F4F8"/>
            </a:solidFill>
            <a:prstDash val="solid"/>
          </a:ln>
        </p:spPr>
      </p:sp>
      <p:sp>
        <p:nvSpPr>
          <p:cNvPr id="35" name="Text 33"/>
          <p:cNvSpPr txBox="1"/>
          <p:nvPr/>
        </p:nvSpPr>
        <p:spPr>
          <a:xfrm>
            <a:off x="6071616" y="1508760"/>
            <a:ext cx="1124712" cy="256032"/>
          </a:xfrm>
          <a:prstGeom prst="rect">
            <a:avLst/>
          </a:prstGeom>
          <a:noFill/>
          <a:ln/>
        </p:spPr>
        <p:txBody>
          <a:bodyPr wrap="square" lIns="0" tIns="0" rIns="0" bIns="0" rtlCol="0" anchor="t"/>
          <a:lstStyle/>
          <a:p>
            <a:pPr indent="0" marL="0">
              <a:buNone/>
            </a:pPr>
            <a:r>
              <a:rPr lang="en-US" sz="1200" b="1" dirty="0">
                <a:solidFill>
                  <a:srgbClr val="C2185B"/>
                </a:solidFill>
                <a:latin typeface="Arial" pitchFamily="34" charset="0"/>
                <a:ea typeface="Arial" pitchFamily="34" charset="-122"/>
                <a:cs typeface="Arial" pitchFamily="34" charset="-120"/>
              </a:rPr>
              <a:t>Sprint 4</a:t>
            </a:r>
            <a:endParaRPr lang="en-US" sz="1200" dirty="0"/>
          </a:p>
        </p:txBody>
      </p:sp>
      <p:sp>
        <p:nvSpPr>
          <p:cNvPr id="36" name="Text 34"/>
          <p:cNvSpPr txBox="1"/>
          <p:nvPr/>
        </p:nvSpPr>
        <p:spPr>
          <a:xfrm>
            <a:off x="6071616" y="1783080"/>
            <a:ext cx="1124712" cy="502920"/>
          </a:xfrm>
          <a:prstGeom prst="rect">
            <a:avLst/>
          </a:prstGeom>
          <a:noFill/>
          <a:ln/>
        </p:spPr>
        <p:txBody>
          <a:bodyPr wrap="square" lIns="0" tIns="0" rIns="0" bIns="0" rtlCol="0" anchor="t"/>
          <a:lstStyle/>
          <a:p>
            <a:pPr indent="0" marL="0">
              <a:buNone/>
            </a:pPr>
            <a:r>
              <a:rPr lang="en-US" sz="1100" b="1" dirty="0">
                <a:solidFill>
                  <a:srgbClr val="1B1B3A"/>
                </a:solidFill>
                <a:latin typeface="Arial" pitchFamily="34" charset="0"/>
                <a:ea typeface="Arial" pitchFamily="34" charset="-122"/>
                <a:cs typeface="Arial" pitchFamily="34" charset="-120"/>
              </a:rPr>
              <a:t>Funcionalidades avançadas</a:t>
            </a:r>
            <a:endParaRPr lang="en-US" sz="1100" dirty="0"/>
          </a:p>
        </p:txBody>
      </p:sp>
      <p:sp>
        <p:nvSpPr>
          <p:cNvPr id="37" name="Text 35"/>
          <p:cNvSpPr txBox="1"/>
          <p:nvPr/>
        </p:nvSpPr>
        <p:spPr>
          <a:xfrm>
            <a:off x="6071616" y="2313432"/>
            <a:ext cx="1124712" cy="457200"/>
          </a:xfrm>
          <a:prstGeom prst="rect">
            <a:avLst/>
          </a:prstGeom>
          <a:noFill/>
          <a:ln/>
        </p:spPr>
        <p:txBody>
          <a:bodyPr wrap="square" lIns="0" tIns="0" rIns="0" bIns="0" rtlCol="0" anchor="t"/>
          <a:lstStyle/>
          <a:p>
            <a:pPr indent="0" marL="0">
              <a:buNone/>
            </a:pPr>
            <a:r>
              <a:rPr lang="en-US" sz="950" dirty="0">
                <a:solidFill>
                  <a:srgbClr val="5A5A70"/>
                </a:solidFill>
                <a:latin typeface="Arial" pitchFamily="34" charset="0"/>
                <a:ea typeface="Arial" pitchFamily="34" charset="-122"/>
                <a:cs typeface="Arial" pitchFamily="34" charset="-120"/>
              </a:rPr>
              <a:t>04/11 a 17/11/2026</a:t>
            </a:r>
            <a:endParaRPr lang="en-US" sz="950" dirty="0"/>
          </a:p>
        </p:txBody>
      </p:sp>
      <p:sp>
        <p:nvSpPr>
          <p:cNvPr id="38" name="Shape 36"/>
          <p:cNvSpPr/>
          <p:nvPr/>
        </p:nvSpPr>
        <p:spPr>
          <a:xfrm>
            <a:off x="6551676" y="2935224"/>
            <a:ext cx="164592" cy="164592"/>
          </a:xfrm>
          <a:prstGeom prst="ellipse">
            <a:avLst/>
          </a:prstGeom>
          <a:solidFill>
            <a:srgbClr val="1B1B3A"/>
          </a:solidFill>
          <a:ln w="19050">
            <a:solidFill>
              <a:srgbClr val="FFFFFF"/>
            </a:solidFill>
            <a:prstDash val="solid"/>
          </a:ln>
        </p:spPr>
      </p:sp>
      <p:sp>
        <p:nvSpPr>
          <p:cNvPr id="39" name="Shape 37"/>
          <p:cNvSpPr/>
          <p:nvPr/>
        </p:nvSpPr>
        <p:spPr>
          <a:xfrm>
            <a:off x="7360920" y="1417320"/>
            <a:ext cx="1307592" cy="1417320"/>
          </a:xfrm>
          <a:prstGeom prst="roundRect">
            <a:avLst>
              <a:gd name="adj" fmla="val 5594"/>
            </a:avLst>
          </a:prstGeom>
          <a:solidFill>
            <a:srgbClr val="F4F4F8"/>
          </a:solidFill>
          <a:ln w="12700">
            <a:solidFill>
              <a:srgbClr val="F4F4F8"/>
            </a:solidFill>
            <a:prstDash val="solid"/>
          </a:ln>
        </p:spPr>
      </p:sp>
      <p:sp>
        <p:nvSpPr>
          <p:cNvPr id="40" name="Text 38"/>
          <p:cNvSpPr txBox="1"/>
          <p:nvPr/>
        </p:nvSpPr>
        <p:spPr>
          <a:xfrm>
            <a:off x="7452360" y="1508760"/>
            <a:ext cx="1124712" cy="256032"/>
          </a:xfrm>
          <a:prstGeom prst="rect">
            <a:avLst/>
          </a:prstGeom>
          <a:noFill/>
          <a:ln/>
        </p:spPr>
        <p:txBody>
          <a:bodyPr wrap="square" lIns="0" tIns="0" rIns="0" bIns="0" rtlCol="0" anchor="t"/>
          <a:lstStyle/>
          <a:p>
            <a:pPr indent="0" marL="0">
              <a:buNone/>
            </a:pPr>
            <a:r>
              <a:rPr lang="en-US" sz="1200" b="1" dirty="0">
                <a:solidFill>
                  <a:srgbClr val="C2185B"/>
                </a:solidFill>
                <a:latin typeface="Arial" pitchFamily="34" charset="0"/>
                <a:ea typeface="Arial" pitchFamily="34" charset="-122"/>
                <a:cs typeface="Arial" pitchFamily="34" charset="-120"/>
              </a:rPr>
              <a:t>Sprint 5</a:t>
            </a:r>
            <a:endParaRPr lang="en-US" sz="1200" dirty="0"/>
          </a:p>
        </p:txBody>
      </p:sp>
      <p:sp>
        <p:nvSpPr>
          <p:cNvPr id="41" name="Text 39"/>
          <p:cNvSpPr txBox="1"/>
          <p:nvPr/>
        </p:nvSpPr>
        <p:spPr>
          <a:xfrm>
            <a:off x="7452360" y="1783080"/>
            <a:ext cx="1124712" cy="502920"/>
          </a:xfrm>
          <a:prstGeom prst="rect">
            <a:avLst/>
          </a:prstGeom>
          <a:noFill/>
          <a:ln/>
        </p:spPr>
        <p:txBody>
          <a:bodyPr wrap="square" lIns="0" tIns="0" rIns="0" bIns="0" rtlCol="0" anchor="t"/>
          <a:lstStyle/>
          <a:p>
            <a:pPr indent="0" marL="0">
              <a:buNone/>
            </a:pPr>
            <a:r>
              <a:rPr lang="en-US" sz="1100" b="1" dirty="0">
                <a:solidFill>
                  <a:srgbClr val="1B1B3A"/>
                </a:solidFill>
                <a:latin typeface="Arial" pitchFamily="34" charset="0"/>
                <a:ea typeface="Arial" pitchFamily="34" charset="-122"/>
                <a:cs typeface="Arial" pitchFamily="34" charset="-120"/>
              </a:rPr>
              <a:t>Integração e entrega final</a:t>
            </a:r>
            <a:endParaRPr lang="en-US" sz="1100" dirty="0"/>
          </a:p>
        </p:txBody>
      </p:sp>
      <p:sp>
        <p:nvSpPr>
          <p:cNvPr id="42" name="Text 40"/>
          <p:cNvSpPr txBox="1"/>
          <p:nvPr/>
        </p:nvSpPr>
        <p:spPr>
          <a:xfrm>
            <a:off x="7452360" y="2313432"/>
            <a:ext cx="1124712" cy="457200"/>
          </a:xfrm>
          <a:prstGeom prst="rect">
            <a:avLst/>
          </a:prstGeom>
          <a:noFill/>
          <a:ln/>
        </p:spPr>
        <p:txBody>
          <a:bodyPr wrap="square" lIns="0" tIns="0" rIns="0" bIns="0" rtlCol="0" anchor="t"/>
          <a:lstStyle/>
          <a:p>
            <a:pPr indent="0" marL="0">
              <a:buNone/>
            </a:pPr>
            <a:r>
              <a:rPr lang="en-US" sz="950" dirty="0">
                <a:solidFill>
                  <a:srgbClr val="5A5A70"/>
                </a:solidFill>
                <a:latin typeface="Arial" pitchFamily="34" charset="0"/>
                <a:ea typeface="Arial" pitchFamily="34" charset="-122"/>
                <a:cs typeface="Arial" pitchFamily="34" charset="-120"/>
              </a:rPr>
              <a:t>18/11 a 26/11/2026</a:t>
            </a:r>
            <a:endParaRPr lang="en-US" sz="950" dirty="0"/>
          </a:p>
        </p:txBody>
      </p:sp>
      <p:sp>
        <p:nvSpPr>
          <p:cNvPr id="43" name="Shape 41"/>
          <p:cNvSpPr/>
          <p:nvPr/>
        </p:nvSpPr>
        <p:spPr>
          <a:xfrm>
            <a:off x="7932420" y="2935224"/>
            <a:ext cx="164592" cy="164592"/>
          </a:xfrm>
          <a:prstGeom prst="ellipse">
            <a:avLst/>
          </a:prstGeom>
          <a:solidFill>
            <a:srgbClr val="C2185B"/>
          </a:solidFill>
          <a:ln w="19050">
            <a:solidFill>
              <a:srgbClr val="FFFFFF"/>
            </a:solidFill>
            <a:prstDash val="solid"/>
          </a:ln>
        </p:spPr>
      </p:sp>
      <p:sp>
        <p:nvSpPr>
          <p:cNvPr id="44" name="Shape 42"/>
          <p:cNvSpPr/>
          <p:nvPr/>
        </p:nvSpPr>
        <p:spPr>
          <a:xfrm>
            <a:off x="7406640" y="3291840"/>
            <a:ext cx="1216152" cy="457200"/>
          </a:xfrm>
          <a:prstGeom prst="roundRect">
            <a:avLst>
              <a:gd name="adj" fmla="val 16000"/>
            </a:avLst>
          </a:prstGeom>
          <a:solidFill>
            <a:srgbClr val="C2185B"/>
          </a:solidFill>
          <a:ln w="12700">
            <a:solidFill>
              <a:srgbClr val="C2185B"/>
            </a:solidFill>
            <a:prstDash val="solid"/>
          </a:ln>
        </p:spPr>
      </p:sp>
      <p:sp>
        <p:nvSpPr>
          <p:cNvPr id="45" name="Text 43"/>
          <p:cNvSpPr txBox="1"/>
          <p:nvPr/>
        </p:nvSpPr>
        <p:spPr>
          <a:xfrm>
            <a:off x="7406640" y="3291840"/>
            <a:ext cx="1216152"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ENTREGA 3</a:t>
            </a:r>
            <a:endParaRPr lang="en-US" sz="1200" dirty="0"/>
          </a:p>
        </p:txBody>
      </p:sp>
      <p:sp>
        <p:nvSpPr>
          <p:cNvPr id="46" name="Text 44"/>
          <p:cNvSpPr txBox="1"/>
          <p:nvPr/>
        </p:nvSpPr>
        <p:spPr>
          <a:xfrm>
            <a:off x="7360920" y="3794760"/>
            <a:ext cx="1307592" cy="274320"/>
          </a:xfrm>
          <a:prstGeom prst="rect">
            <a:avLst/>
          </a:prstGeom>
          <a:noFill/>
          <a:ln/>
        </p:spPr>
        <p:txBody>
          <a:bodyPr wrap="square" lIns="0" tIns="0" rIns="0" bIns="0" rtlCol="0" anchor="t"/>
          <a:lstStyle/>
          <a:p>
            <a:pPr algn="ctr" indent="0" marL="0">
              <a:buNone/>
            </a:pPr>
            <a:r>
              <a:rPr lang="en-US" sz="1050" dirty="0">
                <a:solidFill>
                  <a:srgbClr val="1B1B3A"/>
                </a:solidFill>
                <a:latin typeface="Arial" pitchFamily="34" charset="0"/>
                <a:ea typeface="Arial" pitchFamily="34" charset="-122"/>
                <a:cs typeface="Arial" pitchFamily="34" charset="-120"/>
              </a:rPr>
              <a:t>Final · 26/11</a:t>
            </a:r>
            <a:endParaRPr lang="en-US" sz="1050" dirty="0"/>
          </a:p>
        </p:txBody>
      </p:sp>
      <p:sp>
        <p:nvSpPr>
          <p:cNvPr id="47" name="Text 45"/>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100" dirty="0">
                <a:solidFill>
                  <a:srgbClr val="5A5A70"/>
                </a:solidFill>
                <a:latin typeface="Arial" pitchFamily="34" charset="0"/>
                <a:ea typeface="Arial" pitchFamily="34" charset="-122"/>
                <a:cs typeface="Arial" pitchFamily="34" charset="-120"/>
              </a:rPr>
              <a:t>Entregas: 29/09 · 03/11 · 26/11 · uma issue no GitHub por requisito · depois: 2ª chamada 03/12, fim das aulas 08/12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21"/>
        </a:solidFill>
      </p:bgPr>
    </p:bg>
    <p:spTree>
      <p:nvGrpSpPr>
        <p:cNvPr id="1" name=""/>
        <p:cNvGrpSpPr/>
        <p:nvPr/>
      </p:nvGrpSpPr>
      <p:grpSpPr>
        <a:xfrm>
          <a:off x="0" y="0"/>
          <a:ext cx="0" cy="0"/>
          <a:chOff x="0" y="0"/>
          <a:chExt cx="0" cy="0"/>
        </a:xfrm>
      </p:grpSpPr>
      <p:sp>
        <p:nvSpPr>
          <p:cNvPr id="2" name="Shape 0"/>
          <p:cNvSpPr/>
          <p:nvPr/>
        </p:nvSpPr>
        <p:spPr>
          <a:xfrm>
            <a:off x="8275320" y="292608"/>
            <a:ext cx="411480" cy="411480"/>
          </a:xfrm>
          <a:prstGeom prst="roundRect">
            <a:avLst>
              <a:gd name="adj" fmla="val 13333"/>
            </a:avLst>
          </a:prstGeom>
          <a:solidFill>
            <a:srgbClr val="0D0D21"/>
          </a:solidFill>
          <a:ln w="15875">
            <a:solidFill>
              <a:srgbClr val="FF307A"/>
            </a:solidFill>
            <a:prstDash val="solid"/>
          </a:ln>
        </p:spPr>
      </p:sp>
      <p:sp>
        <p:nvSpPr>
          <p:cNvPr id="3" name="Text 1"/>
          <p:cNvSpPr txBox="1"/>
          <p:nvPr/>
        </p:nvSpPr>
        <p:spPr>
          <a:xfrm>
            <a:off x="8275320" y="29260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a:t>
            </a:r>
            <a:endParaRPr lang="en-US" sz="1300" dirty="0"/>
          </a:p>
        </p:txBody>
      </p:sp>
      <p:sp>
        <p:nvSpPr>
          <p:cNvPr id="4" name="Text 2"/>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900" dirty="0">
                <a:solidFill>
                  <a:srgbClr val="8A8AA0"/>
                </a:solidFill>
                <a:latin typeface="Arial" pitchFamily="34" charset="0"/>
                <a:ea typeface="Arial" pitchFamily="34" charset="-122"/>
                <a:cs typeface="Arial" pitchFamily="34" charset="-120"/>
              </a:rPr>
              <a:t>16</a:t>
            </a:r>
            <a:endParaRPr lang="en-US" sz="900" dirty="0"/>
          </a:p>
        </p:txBody>
      </p:sp>
      <p:sp>
        <p:nvSpPr>
          <p:cNvPr id="5" name="Text 3"/>
          <p:cNvSpPr txBox="1"/>
          <p:nvPr/>
        </p:nvSpPr>
        <p:spPr>
          <a:xfrm>
            <a:off x="457200" y="1188720"/>
            <a:ext cx="8229600" cy="82296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Obrigado!</a:t>
            </a:r>
            <a:endParaRPr lang="en-US" sz="4400" dirty="0"/>
          </a:p>
        </p:txBody>
      </p:sp>
      <p:sp>
        <p:nvSpPr>
          <p:cNvPr id="6" name="Text 4"/>
          <p:cNvSpPr txBox="1"/>
          <p:nvPr/>
        </p:nvSpPr>
        <p:spPr>
          <a:xfrm>
            <a:off x="457200" y="2011680"/>
            <a:ext cx="8229600" cy="457200"/>
          </a:xfrm>
          <a:prstGeom prst="rect">
            <a:avLst/>
          </a:prstGeom>
          <a:noFill/>
          <a:ln/>
        </p:spPr>
        <p:txBody>
          <a:bodyPr wrap="square" lIns="0" tIns="0" rIns="0" bIns="0" rtlCol="0" anchor="t"/>
          <a:lstStyle/>
          <a:p>
            <a:pPr indent="0" marL="0">
              <a:buNone/>
            </a:pPr>
            <a:r>
              <a:rPr lang="en-US" sz="2000" dirty="0">
                <a:solidFill>
                  <a:srgbClr val="00E5D0"/>
                </a:solidFill>
                <a:latin typeface="Arial" pitchFamily="34" charset="0"/>
                <a:ea typeface="Arial" pitchFamily="34" charset="-122"/>
                <a:cs typeface="Arial" pitchFamily="34" charset="-120"/>
              </a:rPr>
              <a:t>Perguntas?</a:t>
            </a:r>
            <a:endParaRPr lang="en-US" sz="2000" dirty="0"/>
          </a:p>
        </p:txBody>
      </p:sp>
      <p:sp>
        <p:nvSpPr>
          <p:cNvPr id="7" name="Text 5"/>
          <p:cNvSpPr txBox="1"/>
          <p:nvPr/>
        </p:nvSpPr>
        <p:spPr>
          <a:xfrm>
            <a:off x="457200" y="3017520"/>
            <a:ext cx="8229600" cy="731520"/>
          </a:xfrm>
          <a:prstGeom prst="rect">
            <a:avLst/>
          </a:prstGeom>
          <a:noFill/>
          <a:ln/>
        </p:spPr>
        <p:txBody>
          <a:bodyPr wrap="square" lIns="0" tIns="0" rIns="0" bIns="0" rtlCol="0" anchor="t"/>
          <a:lstStyle/>
          <a:p>
            <a:pPr indent="0" marL="0">
              <a:spcAft>
                <a:spcPts val="600"/>
              </a:spcAft>
              <a:buNone/>
            </a:pPr>
            <a:r>
              <a:rPr lang="en-US" sz="1300" b="1" dirty="0">
                <a:solidFill>
                  <a:srgbClr val="FF307A"/>
                </a:solidFill>
                <a:latin typeface="Arial" pitchFamily="34" charset="0"/>
                <a:ea typeface="Arial" pitchFamily="34" charset="-122"/>
                <a:cs typeface="Arial" pitchFamily="34" charset="-120"/>
              </a:rPr>
              <a:t>Protótipo  </a:t>
            </a:r>
            <a:pPr indent="0" marL="0">
              <a:spcAft>
                <a:spcPts val="600"/>
              </a:spcAft>
              <a:buNone/>
            </a:pPr>
            <a:r>
              <a:rPr lang="en-US" sz="1300" dirty="0">
                <a:solidFill>
                  <a:srgbClr val="FFFFFF"/>
                </a:solidFill>
                <a:latin typeface="Arial" pitchFamily="34" charset="0"/>
                <a:ea typeface="Arial" pitchFamily="34" charset="-122"/>
                <a:cs typeface="Arial" pitchFamily="34" charset="-120"/>
              </a:rPr>
              <a:t>https://costamaiavitor.github.io/Site-Zero-Grau/</a:t>
            </a:r>
            <a:endParaRPr lang="en-US" sz="1300" dirty="0"/>
          </a:p>
          <a:p>
            <a:pPr indent="0" marL="0">
              <a:spcAft>
                <a:spcPts val="600"/>
              </a:spcAft>
              <a:buNone/>
            </a:pPr>
            <a:r>
              <a:rPr lang="en-US" sz="1300" b="1" dirty="0">
                <a:solidFill>
                  <a:srgbClr val="FF307A"/>
                </a:solidFill>
                <a:latin typeface="Arial" pitchFamily="34" charset="0"/>
                <a:ea typeface="Arial" pitchFamily="34" charset="-122"/>
                <a:cs typeface="Arial" pitchFamily="34" charset="-120"/>
              </a:rPr>
              <a:t>Repositório  </a:t>
            </a:r>
            <a:pPr indent="0" marL="0">
              <a:spcAft>
                <a:spcPts val="600"/>
              </a:spcAft>
              <a:buNone/>
            </a:pPr>
            <a:r>
              <a:rPr lang="en-US" sz="1300" dirty="0">
                <a:solidFill>
                  <a:srgbClr val="FFFFFF"/>
                </a:solidFill>
                <a:latin typeface="Arial" pitchFamily="34" charset="0"/>
                <a:ea typeface="Arial" pitchFamily="34" charset="-122"/>
                <a:cs typeface="Arial" pitchFamily="34" charset="-120"/>
              </a:rPr>
              <a:t>https://github.com/costamaiavitor/Site-Zero-Grau</a:t>
            </a:r>
            <a:endParaRPr lang="en-US" sz="1300" dirty="0"/>
          </a:p>
        </p:txBody>
      </p:sp>
      <p:sp>
        <p:nvSpPr>
          <p:cNvPr id="8" name="Text 6"/>
          <p:cNvSpPr txBox="1"/>
          <p:nvPr/>
        </p:nvSpPr>
        <p:spPr>
          <a:xfrm>
            <a:off x="457200" y="4206240"/>
            <a:ext cx="8229600" cy="274320"/>
          </a:xfrm>
          <a:prstGeom prst="rect">
            <a:avLst/>
          </a:prstGeom>
          <a:noFill/>
          <a:ln/>
        </p:spPr>
        <p:txBody>
          <a:bodyPr wrap="square" lIns="0" tIns="0" rIns="0" bIns="0" rtlCol="0" anchor="t"/>
          <a:lstStyle/>
          <a:p>
            <a:pPr indent="0" marL="0">
              <a:buNone/>
            </a:pPr>
            <a:r>
              <a:rPr lang="en-US" sz="1100" dirty="0">
                <a:solidFill>
                  <a:srgbClr val="B8B9CC"/>
                </a:solidFill>
                <a:latin typeface="Arial" pitchFamily="34" charset="0"/>
                <a:ea typeface="Arial" pitchFamily="34" charset="-122"/>
                <a:cs typeface="Arial" pitchFamily="34" charset="-120"/>
              </a:rPr>
              <a:t>Equipe: Vitor Custodio, João Vitor, Caio, Vitor e Christian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Grau — Entrega 1: Plano de Trabalho</dc:title>
  <dc:subject>PptxGenJS Presentation</dc:subject>
  <dc:creator>PptxGenJS</dc:creator>
  <cp:lastModifiedBy>PptxGenJS</cp:lastModifiedBy>
  <cp:revision>1</cp:revision>
  <dcterms:created xsi:type="dcterms:W3CDTF">2026-09-29T11:29:45Z</dcterms:created>
  <dcterms:modified xsi:type="dcterms:W3CDTF">2026-09-29T11:29:45Z</dcterms:modified>
</cp:coreProperties>
</file>